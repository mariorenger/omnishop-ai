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Hội đồng. Đề tài nghiên cứu cách dùng biểu diễn ngữ nghĩa từ mô hình ngôn ngữ lớn cho gợi ý tin tức, đánh giá có kiểm soát các hướng LLM-rec 2024–2026 trên bộ dữ liệu MIND của Microsoft.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con số tóm tắt toàn bộ nghiên cứu. Thông điệp chính: embedding LLM đóng băng chỉ NGANG baseline huấn luyện đúng; lợi ích bền vững đến từ cách tổng hợp lịch sử và trường dữ liệu; phần lớn hướng LLM-rec 2024–2026 không giữ được lợi ích khi đánh giá nghiêm ngặt; khoảng trống còn lại nằm ở tinh chỉnh encoder.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là xếp hạng các ứng viên trong một impression. Ba thách thức đều được đo trực tiếp từ dữ liệu: bài lạnh chiếm 82–86% lượt nhấp kiểm thử, validation ấm hơn test, và văn bản ngắn không có thân bài.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câu hỏi nghiên cứu, mỗi câu được trả lời bằng số đo ở các phần sau. RQ5 đang chờ kết quả thí nghiệm v17.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ánh xạ bảy hướng LLM-rec 2024–2026 (các hội nghị hàng đầu, đã xác minh venue) sang thí nghiệm tương ứng và kết quả đo trên MIND.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1: LLM làm bộ mã hoá — xu hướng 2025 là phải có bước thích nghi với hành vi (LLMEmb, LLM2Rec, PAD). Hướng 2: LLM sinh tri thức — KAR, ONCE, mô tả chuyên mục. Ghi chú màu xám là phần đã kiểm chứng trong nghiên cứu.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3 (mô hình hoá người dùng, đa sở thích), hướng 4 (gợi ý sinh với Semantic ID — dòng nóng nhất 2025–2026) và hướng 5 (suy luận). Hướng suy luận chưa thử do chi phí suy luận trên mỗi impression.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6–7 và dòng PLM cho tin tức. Bài học về độ tin cậy đánh giá (baseline yếu, không tái lập) là lý do giao thức của nghiên cứu nghiêm ngặt như vậy.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dữ liệu đo từ log các lần chạy. Điểm mấu chốt là dòng tô đỏ: tập kiểm thử rất lạnh, còn ngày validation của MIND-large thì ấm.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Khám phá dữ liệu thứ nhất: tập kiểm thử lạnh, validation ấm. Đây là gốc rễ của nhiều sai lệch khi chọn mô hình.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Khám phá thứ hai: lợi ích trên validation không chuyển sang test; RAG và GraphRAG còn đổi dấu. Vì vậy từ v16 chọn trọng số theo thước đo có trọng số bài lạnh.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Trường dữ liệu tạo khác biệt cỡ 0,02–0,03 — lớn hơn hầu hết kỹ thuật LLM phức tạp. Popularity mạnh nhưng là phản hồi streaming. Ở MIND-large, RAM là ràng buộc chính; lần chạy v16 chết vì phép gather 34 GB, đã sửa bằng tính theo khối.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chia theo thời gian, test chạm một lần, CI ghép cặp theo impression (công thức giải tích có cụm, không phải bootstrap), đo nhiễu seed, đối chiếu tái lập với V10 và kiểm thử chống rò nhãn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thí nghiệm: encoder đóng băng sinh vector bài; bốn họ thành phần; điểm được xuất và ghép tuyến tính hoặc bằng stacker GBDT; tất cả đánh giá dưới một giao thức.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cách ghép: tuyến tính trên z-score và stacker XGBoost. Lưu ý mục tiêu huấn luyện thực tế là binary:logistic (chọn trên fold 0), không phải LambdaMART.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mục mọi kỹ thuật đã thử cùng kết luận. Hai dòng tô đỏ là hai kết quả dương bền vững: late interaction và đưa chuyên mục vào văn bản.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RQ1. Baseline huấn luyện đúng công thức mạnh hơn bộ đo V10 tới 0,039. Cấu hình zero-shot tốt nhất chỉ ngang NRMS huấn luyện lại, khoảng tin cậy chứa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RQ2: hai đòn bẩy rõ là late interaction (log-sum-exp, không tham số) và trường dữ liệu đưa vào encoder; encoder lớn hơn không giúp mean-pool zero-shot.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Thang ablation cho thấy khoảng cách 0,04 giữa bộ đo V10 và bài báo đến từ việc thiếu vector GloVe. Nhiễu seed 0,007–0,014 lớn hơn nhiều so với CI ghép cặp.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RQ3: biểu đồ cho thấy phần lớn các hướng LLM-rec nằm trong dải nhiễu hoặc âm. Semantic ID sinh tối giản ngang ngẫu nhiên; giám khảo LLM nhỏ có hại.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Đa sở thích và tower LLM: không có lợi ích bền vững. Khác biệt giữa các kiểu mặt nạ chú ý đổi dấu giữa hai lần chạy cùng mã — nhỏ hơn nhiễu seed.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MIND-large v15. Stacker chỉ dùng nội dung hơn ghép tuyến tính 0,0064 nhưng không ở bài lạnh; bước nhảy lớn nhất đến từ đặc trưng phơi nhiễm không nhãn.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Encoder LLM 0,6B kém encoder 335M khi làm đầu vào cho cùng bộ đọc; ghép hai encoder tốt nhất. Độ đa dạng biểu diễn có giá trị hơn kích thước.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Thang kết quả: trần của phần chỉ dùng nội dung và lịch sử khoảng 0,437; phơi nhiễm không nhãn thêm 0,014; popularity streaming thêm 0,022 nhưng không so được với số offline.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Stacker đã bão hoà. Giả thuyết 'v15 tự đánh lừa mình' đúng về ước lượng (lệch 0,038), nhưng sửa nó không làm test tốt hơn: cái hỏng là ước lượng, không phải mô hình.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gain: điểm LLM chiếm 47–66%. Không nên cộng nhóm ngữ cảnh vào 'phần của LLM' vì nhóm này có cả cỡ slate — một đặc trưng không liên quan LLM.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Định vị trung thực: phần chỉ dùng nội dung thấp hơn PLM-NR khoảng 0,02 AUC. stack_meta dùng thêm thông tin phơi nhiễm nên không cùng bài toán; số công bố đo trên tập test khác.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phiên bản đều ghi dự đoán trước khi chạy, rồi đối chiếu với số đo. Việc công khai cả các dự đoán sai là một phần của tính nghiêm ngặt.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lần chạy là một notebook Kaggle (một GPU T4, RAM khoảng 32 GB); Colab miễn phí không đủ RAM cho MIND-large. Độ trễ phục vụ chưa được đo, nên không đưa ra con số độ trễ.</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câu trả lời năm câu hỏi nghiên cứu và các mối đe doạ tính hợp lệ.</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tiếp theo là thí nghiệm có cổng dừng v17: tinh chỉnh hai lớp cuối của BGE-large với nhánh đối chứng đóng băng khớp cặp; quy tắc quyết định và xác suất dự đoán (PASS 35%, INCONCLUSIVE 25%, FAIL 40%) đã ghi trước khi chạy.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mục tài liệu chọn lọc; danh mục đầy đủ đã xác minh (62 mục) nằm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luận điểm khoa học cốt lõi. Xin cảm ơn Hội đồng và mong nhận được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02920"/>
            <a:ext cx="10545775" cy="1691640"/>
          </a:xfrm>
          <a:prstGeom prst="rect">
            <a:avLst/>
          </a:prstGeom>
          <a:noFill/>
        </p:spPr>
        <p:txBody>
          <a:bodyPr wrap="square" lIns="0" tIns="0" rIns="0" bIns="0">
            <a:spAutoFit/>
          </a:bodyPr>
          <a:lstStyle/>
          <a:p>
            <a:pPr algn="ctr">
              <a:spcBef>
                <a:spcPts val="0"/>
              </a:spcBef>
              <a:buNone/>
            </a:pPr>
            <a:r>
              <a:rPr lang="vi-VN" sz="1350" b="1" i="0" dirty="0">
                <a:solidFill>
                  <a:srgbClr val="FECACA"/>
                </a:solidFill>
                <a:latin typeface="Times New Roman"/>
                <a:cs typeface="Times New Roman"/>
              </a:rPr>
              <a:t>TRƯỜNG CÔNG NGHỆ THÔNG TIN VÀ TRUYỀN THÔNG · ĐẠI HỌC BÁCH KHOA HÀ NỘI</a:t>
            </a:r>
          </a:p>
          <a:p>
            <a:pPr algn="ctr">
              <a:spcBef>
                <a:spcPts val="600"/>
              </a:spcBef>
              <a:buNone/>
            </a:pPr>
            <a:r>
              <a:rPr lang="vi-VN" sz="2500" b="1" i="0" dirty="0">
                <a:solidFill>
                  <a:srgbClr val="FFFFFF"/>
                </a:solidFill>
                <a:latin typeface="Times New Roman"/>
                <a:cs typeface="Times New Roman"/>
              </a:rPr>
              <a:t>BIỂU DIỄN NGỮ NGHĨA TỪ MÔ HÌNH NGÔN NGỮ LỚN</a:t>
            </a:r>
          </a:p>
          <a:p>
            <a:pPr algn="ctr">
              <a:spcBef>
                <a:spcPts val="0"/>
              </a:spcBef>
              <a:buNone/>
            </a:pPr>
            <a:r>
              <a:rPr lang="vi-VN" sz="2500" b="1" i="0" dirty="0">
                <a:solidFill>
                  <a:srgbClr val="FFFFFF"/>
                </a:solidFill>
                <a:latin typeface="Times New Roman"/>
                <a:cs typeface="Times New Roman"/>
              </a:rPr>
              <a:t>TRONG HỆ GỢI Ý TIN TỨC</a:t>
            </a:r>
          </a:p>
          <a:p>
            <a:pPr algn="ctr">
              <a:spcBef>
                <a:spcPts val="600"/>
              </a:spcBef>
              <a:buNone/>
            </a:pPr>
            <a:r>
              <a:rPr lang="vi-VN" sz="1400" b="0" i="1" dirty="0">
                <a:solidFill>
                  <a:srgbClr val="CBD5E1"/>
                </a:solidFill>
                <a:latin typeface="Times New Roman"/>
                <a:cs typeface="Times New Roman"/>
              </a:rPr>
              <a:t>Semantic Representations from LLMs for News Recommendation: A Controlled Study of 2024–2026 Directions on MIND</a:t>
            </a:r>
          </a:p>
        </p:txBody>
      </p:sp>
      <p:sp>
        <p:nvSpPr>
          <p:cNvPr id="4" name="TextBox 3"/>
          <p:cNvSpPr txBox="1"/>
          <p:nvPr/>
        </p:nvSpPr>
        <p:spPr>
          <a:xfrm>
            <a:off x="822960" y="4983480"/>
            <a:ext cx="10545775" cy="1188720"/>
          </a:xfrm>
          <a:prstGeom prst="rect">
            <a:avLst/>
          </a:prstGeom>
          <a:noFill/>
        </p:spPr>
        <p:txBody>
          <a:bodyPr wrap="square" lIns="0" tIns="0" rIns="0" bIns="0">
            <a:spAutoFit/>
          </a:bodyPr>
          <a:lstStyle/>
          <a:p>
            <a:pPr algn="ctr">
              <a:defRPr sz="1400" b="1" i="0">
                <a:solidFill>
                  <a:srgbClr val="FFFFFF"/>
                </a:solidFill>
                <a:latin typeface="Times New Roman"/>
              </a:defRPr>
            </a:pPr>
            <a:r>
              <a:t>Học viên thực hiện: NGUYỄN NAM HÁN   ·   MSHV: 20252095M   ·   Khoa học Máy tính</a:t>
            </a:r>
          </a:p>
          <a:p>
            <a:pPr algn="ctr">
              <a:spcBef>
                <a:spcPts val="400"/>
              </a:spcBef>
              <a:defRPr sz="1300" b="0" i="0">
                <a:solidFill>
                  <a:srgbClr val="CBD5E1"/>
                </a:solidFill>
                <a:latin typeface="Times New Roman"/>
              </a:defRPr>
            </a:pPr>
            <a:r>
              <a:t>Cán bộ hướng dẫn: [Họ và tên CBHD]   ·   Đơn vị: SoICT – ĐHBK Hà Nội</a:t>
            </a:r>
          </a:p>
          <a:p>
            <a:pPr algn="ctr">
              <a:spcBef>
                <a:spcPts val="400"/>
              </a:spcBef>
              <a:defRPr sz="1200" b="0" i="0">
                <a:solidFill>
                  <a:srgbClr val="94A3B8"/>
                </a:solidFill>
                <a:latin typeface="Times New Roman"/>
              </a:defRPr>
            </a:pPr>
            <a:r>
              <a:t>Hà Nội,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27.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754880" y="1097280"/>
            <a:ext cx="6858000" cy="4937760"/>
          </a:xfrm>
          <a:prstGeom prst="rect">
            <a:avLst/>
          </a:prstGeom>
          <a:noFill/>
        </p:spPr>
        <p:txBody>
          <a:bodyPr wrap="square" lIns="0" tIns="0" rIns="0" bIns="0">
            <a:spAutoFit/>
          </a:bodyPr>
          <a:lstStyle/>
          <a:p>
            <a:pPr algn="l">
              <a:spcBef>
                <a:spcPts val="0"/>
              </a:spcBef>
              <a:buNone/>
            </a:pPr>
            <a:r>
              <a:rPr lang="vi-VN" sz="3200" b="1" i="0" dirty="0">
                <a:solidFill>
                  <a:srgbClr val="0F1E42"/>
                </a:solidFill>
                <a:latin typeface="Times New Roman"/>
                <a:cs typeface="Times New Roman"/>
              </a:rPr>
              <a:t>XIN TRÂN TRỌNG CẢM ƠN!</a:t>
            </a:r>
          </a:p>
          <a:p>
            <a:pPr algn="l">
              <a:spcBef>
                <a:spcPts val="600"/>
              </a:spcBef>
              <a:buNone/>
            </a:pPr>
            <a:r>
              <a:rPr lang="vi-VN" sz="1550" b="0" i="1" dirty="0">
                <a:solidFill>
                  <a:srgbClr val="B91C1C"/>
                </a:solidFill>
                <a:latin typeface="Times New Roman"/>
                <a:cs typeface="Times New Roman"/>
              </a:rPr>
              <a:t>Kính mong nhận được ý kiến trao đổi học thuật của Quý Thầy Cô và các bạn!</a:t>
            </a:r>
          </a:p>
          <a:p>
            <a:pPr algn="l">
              <a:spcBef>
                <a:spcPts val="1400"/>
              </a:spcBef>
              <a:buNone/>
            </a:pPr>
            <a:r>
              <a:rPr lang="vi-VN" sz="1500" b="1" i="0" dirty="0">
                <a:solidFill>
                  <a:srgbClr val="0F1E42"/>
                </a:solidFill>
                <a:latin typeface="Times New Roman"/>
                <a:cs typeface="Times New Roman"/>
              </a:rPr>
              <a:t>TÓM LƯỢC BA LUẬN ĐIỂM KHOA HỌC CỐT LÕI:</a:t>
            </a:r>
          </a:p>
          <a:p>
            <a:pPr algn="l" marL="219456" indent="-182880">
              <a:spcBef>
                <a:spcPts val="600"/>
              </a:spcBef>
              <a:buFont typeface="Arial"/>
              <a:buChar char="•"/>
            </a:pPr>
            <a:r>
              <a:rPr lang="vi-VN" sz="1350" b="0" i="0" dirty="0">
                <a:solidFill>
                  <a:srgbClr val="1E293B"/>
                </a:solidFill>
                <a:latin typeface="Times New Roman"/>
                <a:cs typeface="Times New Roman"/>
              </a:rPr>
              <a:t>Data decide the evaluation: 82–86% of test clicks are cold and the validation day is warm — ignoring this selects the wrong models.</a:t>
            </a:r>
          </a:p>
          <a:p>
            <a:pPr algn="l" marL="219456" indent="-182880">
              <a:spcBef>
                <a:spcPts val="600"/>
              </a:spcBef>
              <a:buFont typeface="Arial"/>
              <a:buChar char="•"/>
            </a:pPr>
            <a:r>
              <a:rPr lang="vi-VN" sz="1350" b="0" i="0" dirty="0">
                <a:solidFill>
                  <a:srgbClr val="1E293B"/>
                </a:solidFill>
                <a:latin typeface="Times New Roman"/>
                <a:cs typeface="Times New Roman"/>
              </a:rPr>
              <a:t>Frozen LLM embeddings match, not beat, properly trained baselines; robust gains come from history aggregation and input fields, not encoder size.</a:t>
            </a:r>
          </a:p>
          <a:p>
            <a:pPr algn="l" marL="219456" indent="-182880">
              <a:spcBef>
                <a:spcPts val="600"/>
              </a:spcBef>
              <a:buFont typeface="Arial"/>
              <a:buChar char="•"/>
            </a:pPr>
            <a:r>
              <a:rPr lang="vi-VN" sz="1350" b="0" i="0" dirty="0">
                <a:solidFill>
                  <a:srgbClr val="1E293B"/>
                </a:solidFill>
                <a:latin typeface="Times New Roman"/>
                <a:cs typeface="Times New Roman"/>
              </a:rPr>
              <a:t>GBDT stacking adds value only through label-free exposure features and saturates (≈ 0.45 nDCG@10); the remaining gap is end-to-end fine-tuning (v17).</a:t>
            </a:r>
          </a:p>
          <a:p>
            <a:pPr algn="l">
              <a:spcBef>
                <a:spcPts val="1600"/>
              </a:spcBef>
              <a:buNone/>
            </a:pPr>
            <a:r>
              <a:rPr lang="vi-VN" sz="1350" b="1" i="0" dirty="0">
                <a:solidFill>
                  <a:srgbClr val="0F1E42"/>
                </a:solidFill>
                <a:latin typeface="Times New Roman"/>
                <a:cs typeface="Times New Roman"/>
              </a:rPr>
              <a:t>Người thực hiện: NGUYỄN NAM HÁN   ·   MSHV: 20252095M</a:t>
            </a:r>
          </a:p>
          <a:p>
            <a:pPr algn="l">
              <a:spcBef>
                <a:spcPts val="200"/>
              </a:spcBef>
              <a:buNone/>
            </a:pPr>
            <a:r>
              <a:rPr lang="vi-VN" sz="1350" b="0" i="0" dirty="0">
                <a:solidFill>
                  <a:srgbClr val="1E293B"/>
                </a:solidFill>
                <a:latin typeface="Times New Roman"/>
                <a:cs typeface="Times New Roman"/>
              </a:rPr>
              <a:t>Trường Công nghệ Thông tin và Truyền thông – ĐHBK Hà Nội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Executive Summary</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00400"/>
            <a:ext cx="10543032" cy="2651760"/>
          </a:xfrm>
          <a:prstGeom prst="rect">
            <a:avLst/>
          </a:prstGeom>
          <a:noFill/>
        </p:spPr>
        <p:txBody>
          <a:bodyPr wrap="square">
            <a:spAutoFit/>
          </a:bodyPr>
          <a:lstStyle/>
          <a:p>
            <a:pPr algn="l" marL="219456" indent="-182880">
              <a:spcBef>
                <a:spcPts val="0"/>
              </a:spcBef>
              <a:buFont typeface="Arial"/>
              <a:buChar char="•"/>
            </a:pPr>
            <a:r>
              <a:rPr lang="en-US" sz="1500" b="1" i="0" dirty="0">
                <a:solidFill>
                  <a:srgbClr val="1E293B"/>
                </a:solidFill>
                <a:latin typeface="Times New Roman"/>
                <a:cs typeface="Times New Roman"/>
              </a:rPr>
              <a:t>Frozen LLM embeddings match — but do not beat — properly retrained NRMS / NAML / Fastformer;</a:t>
            </a:r>
            <a:r>
              <a:rPr lang="en-US" sz="1500" b="0" i="0" dirty="0">
                <a:solidFill>
                  <a:srgbClr val="1E293B"/>
                </a:solidFill>
                <a:latin typeface="Times New Roman"/>
                <a:cs typeface="Times New Roman"/>
              </a:rPr>
              <a:t> robust gains come from history aggregation (late interaction, +0.0128) and input fields (+0.0182), not from encoder size.</a:t>
            </a:r>
          </a:p>
          <a:p>
            <a:pPr algn="l" marL="219456" indent="-182880">
              <a:spcBef>
                <a:spcPts val="300"/>
              </a:spcBef>
              <a:buFont typeface="Arial"/>
              <a:buChar char="•"/>
            </a:pPr>
            <a:r>
              <a:rPr lang="en-US" sz="1500" b="1" i="0" dirty="0">
                <a:solidFill>
                  <a:srgbClr val="1E293B"/>
                </a:solidFill>
                <a:latin typeface="Times New Roman"/>
                <a:cs typeface="Times New Roman"/>
              </a:rPr>
              <a:t>Most 2024–2026 LLM-rec directions we tested give ≤ 0.005 or negative effects</a:t>
            </a:r>
            <a:r>
              <a:rPr lang="en-US" sz="1500" b="0" i="0" dirty="0">
                <a:solidFill>
                  <a:srgbClr val="1E293B"/>
                </a:solidFill>
                <a:latin typeface="Times New Roman"/>
                <a:cs typeface="Times New Roman"/>
              </a:rPr>
              <a:t> under strict evaluation: representation-level RAG / GraphRAG, generative semantic IDs, a 1.7B LLM judge, multi-interest models, LoRA, an LLM user tower.</a:t>
            </a:r>
          </a:p>
          <a:p>
            <a:pPr algn="l" marL="219456" indent="-182880">
              <a:spcBef>
                <a:spcPts val="300"/>
              </a:spcBef>
              <a:buFont typeface="Arial"/>
              <a:buChar char="•"/>
            </a:pPr>
            <a:r>
              <a:rPr lang="en-US" sz="1500" b="1" i="0" dirty="0">
                <a:solidFill>
                  <a:srgbClr val="1E293B"/>
                </a:solidFill>
                <a:latin typeface="Times New Roman"/>
                <a:cs typeface="Times New Roman"/>
              </a:rPr>
              <a:t>A warm validation day misleads selection:</a:t>
            </a:r>
            <a:r>
              <a:rPr lang="en-US" sz="1500" b="0" i="0" dirty="0">
                <a:solidFill>
                  <a:srgbClr val="1E293B"/>
                </a:solidFill>
                <a:latin typeface="Times New Roman"/>
                <a:cs typeface="Times New Roman"/>
              </a:rPr>
              <a:t> 18.1% cold clicks vs 82.2% at test; RAG / GraphRAG flip sign and learned readers are inflated.</a:t>
            </a:r>
          </a:p>
          <a:p>
            <a:pPr algn="l" marL="219456" indent="-182880">
              <a:spcBef>
                <a:spcPts val="300"/>
              </a:spcBef>
              <a:buFont typeface="Arial"/>
              <a:buChar char="•"/>
            </a:pPr>
            <a:r>
              <a:rPr lang="en-US" sz="1500" b="1" i="0" dirty="0">
                <a:solidFill>
                  <a:srgbClr val="1E293B"/>
                </a:solidFill>
                <a:latin typeface="Times New Roman"/>
                <a:cs typeface="Times New Roman"/>
              </a:rPr>
              <a:t>MIND-large:</a:t>
            </a:r>
            <a:r>
              <a:rPr lang="en-US" sz="1500" b="0" i="0" dirty="0">
                <a:solidFill>
                  <a:srgbClr val="1E293B"/>
                </a:solidFill>
                <a:latin typeface="Times New Roman"/>
                <a:cs typeface="Times New Roman"/>
              </a:rPr>
              <a:t> linear fusion 0.6863 AUC / 0.4373 nDCG@10; GBDT helps only with label-free exposure (0.7013 / 0.4516) and saturates; the ≈ 0.02 AUC gap to PLM-NR points to end-to-end fine-tuning → gated v17 run (pending).</a:t>
            </a:r>
          </a:p>
        </p:txBody>
      </p:sp>
      <p:sp>
        <p:nvSpPr>
          <p:cNvPr id="6" name="Rounded Rectangle 5"/>
          <p:cNvSpPr/>
          <p:nvPr/>
        </p:nvSpPr>
        <p:spPr>
          <a:xfrm>
            <a:off x="822960" y="1664208"/>
            <a:ext cx="2478024" cy="13716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400" b="1" i="0" dirty="0">
                <a:solidFill>
                  <a:srgbClr val="B91C1C"/>
                </a:solidFill>
                <a:latin typeface="Times New Roman"/>
                <a:cs typeface="Times New Roman"/>
              </a:rPr>
              <a:t>82–86%</a:t>
            </a:r>
          </a:p>
          <a:p>
            <a:pPr algn="ctr">
              <a:spcBef>
                <a:spcPts val="300"/>
              </a:spcBef>
              <a:buNone/>
            </a:pPr>
            <a:r>
              <a:rPr lang="en-US" sz="1200" b="0" i="0" dirty="0">
                <a:solidFill>
                  <a:srgbClr val="1E293B"/>
                </a:solidFill>
                <a:latin typeface="Times New Roman"/>
                <a:cs typeface="Times New Roman"/>
              </a:rPr>
              <a:t>of test clicks hit articles never seen in training (MIND-small / large)</a:t>
            </a:r>
          </a:p>
        </p:txBody>
      </p:sp>
      <p:sp>
        <p:nvSpPr>
          <p:cNvPr id="7" name="Rounded Rectangle 6"/>
          <p:cNvSpPr/>
          <p:nvPr/>
        </p:nvSpPr>
        <p:spPr>
          <a:xfrm>
            <a:off x="3511296" y="1664208"/>
            <a:ext cx="2478024" cy="13716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400" b="1" i="0" dirty="0">
                <a:solidFill>
                  <a:srgbClr val="B91C1C"/>
                </a:solidFill>
                <a:latin typeface="Times New Roman"/>
                <a:cs typeface="Times New Roman"/>
              </a:rPr>
              <a:t>0.4094 vs 0.4078</a:t>
            </a:r>
          </a:p>
          <a:p>
            <a:pPr algn="ctr">
              <a:spcBef>
                <a:spcPts val="300"/>
              </a:spcBef>
              <a:buNone/>
            </a:pPr>
            <a:r>
              <a:rPr lang="en-US" sz="1200" b="0" i="0" dirty="0">
                <a:solidFill>
                  <a:srgbClr val="1E293B"/>
                </a:solidFill>
                <a:latin typeface="Times New Roman"/>
                <a:cs typeface="Times New Roman"/>
              </a:rPr>
              <a:t>best zero-shot LLM config vs retrained NRMS (MIND-small nDCG@10; CI includes 0)</a:t>
            </a:r>
          </a:p>
        </p:txBody>
      </p:sp>
      <p:sp>
        <p:nvSpPr>
          <p:cNvPr id="8" name="Rounded Rectangle 7"/>
          <p:cNvSpPr/>
          <p:nvPr/>
        </p:nvSpPr>
        <p:spPr>
          <a:xfrm>
            <a:off x="6199632" y="1664208"/>
            <a:ext cx="2478024" cy="13716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400" b="1" i="0" dirty="0">
                <a:solidFill>
                  <a:srgbClr val="B91C1C"/>
                </a:solidFill>
                <a:latin typeface="Times New Roman"/>
                <a:cs typeface="Times New Roman"/>
              </a:rPr>
              <a:t>+0.0182</a:t>
            </a:r>
          </a:p>
          <a:p>
            <a:pPr algn="ctr">
              <a:spcBef>
                <a:spcPts val="300"/>
              </a:spcBef>
              <a:buNone/>
            </a:pPr>
            <a:r>
              <a:rPr lang="en-US" sz="1200" b="0" i="0" dirty="0">
                <a:solidFill>
                  <a:srgbClr val="1E293B"/>
                </a:solidFill>
                <a:latin typeface="Times New Roman"/>
                <a:cs typeface="Times New Roman"/>
              </a:rPr>
              <a:t>category text in Qwen3-Embedding: the largest robust LLM-side gain</a:t>
            </a:r>
          </a:p>
        </p:txBody>
      </p:sp>
      <p:sp>
        <p:nvSpPr>
          <p:cNvPr id="9" name="Rounded Rectangle 8"/>
          <p:cNvSpPr/>
          <p:nvPr/>
        </p:nvSpPr>
        <p:spPr>
          <a:xfrm>
            <a:off x="8887968" y="1664208"/>
            <a:ext cx="2478024" cy="13716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400" b="1" i="0" dirty="0">
                <a:solidFill>
                  <a:srgbClr val="B91C1C"/>
                </a:solidFill>
                <a:latin typeface="Times New Roman"/>
                <a:cs typeface="Times New Roman"/>
              </a:rPr>
              <a:t>0.038 → 0.007</a:t>
            </a:r>
          </a:p>
          <a:p>
            <a:pPr algn="ctr">
              <a:spcBef>
                <a:spcPts val="300"/>
              </a:spcBef>
              <a:buNone/>
            </a:pPr>
            <a:r>
              <a:rPr lang="en-US" sz="1200" b="0" i="0" dirty="0">
                <a:solidFill>
                  <a:srgbClr val="1E293B"/>
                </a:solidFill>
                <a:latin typeface="Times New Roman"/>
                <a:cs typeface="Times New Roman"/>
              </a:rPr>
              <a:t>stacker validation optimism: user folds → time-block folds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1. Problem Formulation &amp; Measured Challenges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10543032" cy="4224528"/>
          </a:xfrm>
          <a:prstGeom prst="rect">
            <a:avLst/>
          </a:prstGeom>
          <a:noFill/>
        </p:spPr>
        <p:txBody>
          <a:bodyPr wrap="square">
            <a:spAutoFit/>
          </a:bodyPr>
          <a:lstStyle/>
          <a:p>
            <a:pPr algn="l">
              <a:spcBef>
                <a:spcPts val="0"/>
              </a:spcBef>
              <a:buNone/>
            </a:pPr>
            <a:r>
              <a:rPr lang="en-US" sz="1700" b="1" i="0" dirty="0">
                <a:solidFill>
                  <a:srgbClr val="0F1E42"/>
                </a:solidFill>
                <a:latin typeface="Times New Roman"/>
                <a:cs typeface="Times New Roman"/>
              </a:rPr>
              <a:t>Task: impression (slate) ranking [Wu et al., ACL'20]</a:t>
            </a:r>
          </a:p>
          <a:p>
            <a:pPr algn="l" marL="219456" indent="-182880">
              <a:spcBef>
                <a:spcPts val="300"/>
              </a:spcBef>
              <a:buFont typeface="Arial"/>
              <a:buChar char="•"/>
            </a:pPr>
            <a:r>
              <a:rPr lang="en-US" sz="1500" b="0" i="0" dirty="0">
                <a:solidFill>
                  <a:srgbClr val="1E293B"/>
                </a:solidFill>
                <a:latin typeface="Times New Roman"/>
                <a:cs typeface="Times New Roman"/>
              </a:rPr>
              <a:t>User u with click history H = (h1 … hL); an impression shows candidates C = (c1 … cJ) with click labels y ∈ {0, 1}.</a:t>
            </a:r>
          </a:p>
          <a:p>
            <a:pPr algn="l" marL="219456" indent="-182880">
              <a:spcBef>
                <a:spcPts val="300"/>
              </a:spcBef>
              <a:buFont typeface="Arial"/>
              <a:buChar char="•"/>
            </a:pPr>
            <a:r>
              <a:rPr lang="en-US" sz="1500" b="0" i="0" dirty="0">
                <a:solidFill>
                  <a:srgbClr val="1E293B"/>
                </a:solidFill>
                <a:latin typeface="Times New Roman"/>
                <a:cs typeface="Times New Roman"/>
              </a:rPr>
              <a:t>Learn a score s(u, c); report AUC, MRR, nDCG@5 and nDCG@10 per impression, averaged (official MIND protocol).</a:t>
            </a:r>
          </a:p>
          <a:p>
            <a:pPr algn="l">
              <a:spcBef>
                <a:spcPts val="700"/>
              </a:spcBef>
              <a:buNone/>
            </a:pPr>
            <a:r>
              <a:rPr lang="en-US" sz="1700" b="1" i="0" dirty="0">
                <a:solidFill>
                  <a:srgbClr val="0F1E42"/>
                </a:solidFill>
                <a:latin typeface="Times New Roman"/>
                <a:cs typeface="Times New Roman"/>
              </a:rPr>
              <a:t>Challenge 1 — item cold start dominates (measured)</a:t>
            </a:r>
          </a:p>
          <a:p>
            <a:pPr algn="l" marL="219456" indent="-182880">
              <a:spcBef>
                <a:spcPts val="300"/>
              </a:spcBef>
              <a:buFont typeface="Arial"/>
              <a:buChar char="•"/>
            </a:pPr>
            <a:r>
              <a:rPr lang="en-US" sz="1500" b="0" i="0" dirty="0">
                <a:solidFill>
                  <a:srgbClr val="1E293B"/>
                </a:solidFill>
                <a:latin typeface="Times New Roman"/>
                <a:cs typeface="Times New Roman"/>
              </a:rPr>
              <a:t>85.9% (MIND-small) and 82.2% (MIND-large) of test clicks are on articles absent from every training row → ID-only collaborative filtering has no signal for most clicks; content representations are mandatory.</a:t>
            </a:r>
          </a:p>
          <a:p>
            <a:pPr algn="l">
              <a:spcBef>
                <a:spcPts val="700"/>
              </a:spcBef>
              <a:buNone/>
            </a:pPr>
            <a:r>
              <a:rPr lang="en-US" sz="1700" b="1" i="0" dirty="0">
                <a:solidFill>
                  <a:srgbClr val="0F1E42"/>
                </a:solidFill>
                <a:latin typeface="Times New Roman"/>
                <a:cs typeface="Times New Roman"/>
              </a:rPr>
              <a:t>Challenge 2 — chronological shift between validation and test (measured)</a:t>
            </a:r>
          </a:p>
          <a:p>
            <a:pPr algn="l" marL="219456" indent="-182880">
              <a:spcBef>
                <a:spcPts val="300"/>
              </a:spcBef>
              <a:buFont typeface="Arial"/>
              <a:buChar char="•"/>
            </a:pPr>
            <a:r>
              <a:rPr lang="en-US" sz="1500" b="0" i="0" dirty="0">
                <a:solidFill>
                  <a:srgbClr val="1E293B"/>
                </a:solidFill>
                <a:latin typeface="Times New Roman"/>
                <a:cs typeface="Times New Roman"/>
              </a:rPr>
              <a:t>Validation = last training day: only 18.1% of its clicks are cold (MIND-large) → components that excel on seen articles look better than they are.</a:t>
            </a:r>
          </a:p>
          <a:p>
            <a:pPr algn="l">
              <a:spcBef>
                <a:spcPts val="700"/>
              </a:spcBef>
              <a:buNone/>
            </a:pPr>
            <a:r>
              <a:rPr lang="en-US" sz="1700" b="1" i="0" dirty="0">
                <a:solidFill>
                  <a:srgbClr val="0F1E42"/>
                </a:solidFill>
                <a:latin typeface="Times New Roman"/>
                <a:cs typeface="Times New Roman"/>
              </a:rPr>
              <a:t>Challenge 3 — short text, no article body</a:t>
            </a:r>
          </a:p>
          <a:p>
            <a:pPr algn="l" marL="219456" indent="-182880">
              <a:spcBef>
                <a:spcPts val="300"/>
              </a:spcBef>
              <a:buFont typeface="Arial"/>
              <a:buChar char="•"/>
            </a:pPr>
            <a:r>
              <a:rPr lang="en-US" sz="1500" b="0" i="0" dirty="0">
                <a:solidFill>
                  <a:srgbClr val="1E293B"/>
                </a:solidFill>
                <a:latin typeface="Times New Roman"/>
                <a:cs typeface="Times New Roman"/>
              </a:rPr>
              <a:t>Titles 10.7 words, abstracts 34.9 words (5.2% empty); MIND ships URLs, not bodies → which fields reach the encoder matters (Section 4.3).</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MINDsmall_dev: 73,152 and MINDlarge_dev: 376,471 test impressions; every number in this deck is measured on these sets.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2. Research Questions &amp; Contributions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Research questions</a:t>
            </a:r>
          </a:p>
          <a:p>
            <a:pPr algn="l" marL="219456" indent="-182880">
              <a:spcBef>
                <a:spcPts val="300"/>
              </a:spcBef>
              <a:buFont typeface="Arial"/>
              <a:buChar char="•"/>
            </a:pPr>
            <a:r>
              <a:rPr lang="en-US" sz="1450" b="1" i="0" dirty="0">
                <a:solidFill>
                  <a:srgbClr val="1E293B"/>
                </a:solidFill>
                <a:latin typeface="Times New Roman"/>
                <a:cs typeface="Times New Roman"/>
              </a:rPr>
              <a:t>RQ1</a:t>
            </a:r>
            <a:r>
              <a:rPr lang="en-US" sz="1450" b="0" i="0" dirty="0">
                <a:solidFill>
                  <a:srgbClr val="1E293B"/>
                </a:solidFill>
                <a:latin typeface="Times New Roman"/>
                <a:cs typeface="Times New Roman"/>
              </a:rPr>
              <a:t> Where do zero-shot embeddings from modern encoders / LLMs stand against properly trained NRMS, NAML, Fastformer under one chronological protocol?</a:t>
            </a:r>
          </a:p>
          <a:p>
            <a:pPr algn="l" marL="219456" indent="-182880">
              <a:spcBef>
                <a:spcPts val="300"/>
              </a:spcBef>
              <a:buFont typeface="Arial"/>
              <a:buChar char="•"/>
            </a:pPr>
            <a:r>
              <a:rPr lang="en-US" sz="1450" b="1" i="0" dirty="0">
                <a:solidFill>
                  <a:srgbClr val="1E293B"/>
                </a:solidFill>
                <a:latin typeface="Times New Roman"/>
                <a:cs typeface="Times New Roman"/>
              </a:rPr>
              <a:t>RQ2</a:t>
            </a:r>
            <a:r>
              <a:rPr lang="en-US" sz="1450" b="0" i="0" dirty="0">
                <a:solidFill>
                  <a:srgbClr val="1E293B"/>
                </a:solidFill>
                <a:latin typeface="Times New Roman"/>
                <a:cs typeface="Times New Roman"/>
              </a:rPr>
              <a:t> Is the bottleneck the encoder (size, family), the input fields, or history aggregation?</a:t>
            </a:r>
          </a:p>
          <a:p>
            <a:pPr algn="l" marL="219456" indent="-182880">
              <a:spcBef>
                <a:spcPts val="300"/>
              </a:spcBef>
              <a:buFont typeface="Arial"/>
              <a:buChar char="•"/>
            </a:pPr>
            <a:r>
              <a:rPr lang="en-US" sz="1450" b="1" i="0" dirty="0">
                <a:solidFill>
                  <a:srgbClr val="1E293B"/>
                </a:solidFill>
                <a:latin typeface="Times New Roman"/>
                <a:cs typeface="Times New Roman"/>
              </a:rPr>
              <a:t>RQ3</a:t>
            </a:r>
            <a:r>
              <a:rPr lang="en-US" sz="1450" b="0" i="0" dirty="0">
                <a:solidFill>
                  <a:srgbClr val="1E293B"/>
                </a:solidFill>
                <a:latin typeface="Times New Roman"/>
                <a:cs typeface="Times New Roman"/>
              </a:rPr>
              <a:t> Do 2024–2026 LLM-rec directions (RAG / GraphRAG, semantic IDs, LLM user towers, LLM-generated knowledge, LLM judges, multi-interest, PEFT) survive strict evaluation on news?</a:t>
            </a:r>
          </a:p>
          <a:p>
            <a:pPr algn="l" marL="219456" indent="-182880">
              <a:spcBef>
                <a:spcPts val="300"/>
              </a:spcBef>
              <a:buFont typeface="Arial"/>
              <a:buChar char="•"/>
            </a:pPr>
            <a:r>
              <a:rPr lang="en-US" sz="1450" b="1" i="0" dirty="0">
                <a:solidFill>
                  <a:srgbClr val="1E293B"/>
                </a:solidFill>
                <a:latin typeface="Times New Roman"/>
                <a:cs typeface="Times New Roman"/>
              </a:rPr>
              <a:t>RQ4</a:t>
            </a:r>
            <a:r>
              <a:rPr lang="en-US" sz="1450" b="0" i="0" dirty="0">
                <a:solidFill>
                  <a:srgbClr val="1E293B"/>
                </a:solidFill>
                <a:latin typeface="Times New Roman"/>
                <a:cs typeface="Times New Roman"/>
              </a:rPr>
              <a:t> At MIND-large scale: linear fusion or GBDT — and how trustworthy are validation estimates?</a:t>
            </a:r>
          </a:p>
          <a:p>
            <a:pPr algn="l" marL="219456" indent="-182880">
              <a:spcBef>
                <a:spcPts val="300"/>
              </a:spcBef>
              <a:buFont typeface="Arial"/>
              <a:buChar char="•"/>
            </a:pPr>
            <a:r>
              <a:rPr lang="en-US" sz="1450" b="1" i="0" dirty="0">
                <a:solidFill>
                  <a:srgbClr val="1E293B"/>
                </a:solidFill>
                <a:latin typeface="Times New Roman"/>
                <a:cs typeface="Times New Roman"/>
              </a:rPr>
              <a:t>RQ5</a:t>
            </a:r>
            <a:r>
              <a:rPr lang="en-US" sz="1450" b="0" i="0" dirty="0">
                <a:solidFill>
                  <a:srgbClr val="1E293B"/>
                </a:solidFill>
                <a:latin typeface="Times New Roman"/>
                <a:cs typeface="Times New Roman"/>
              </a:rPr>
              <a:t> Where is the remaining gap to fine-tuned PLMs, and does partial fine-tuning close it? (v17, pending)</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Contributions</a:t>
            </a:r>
          </a:p>
          <a:p>
            <a:pPr algn="l" marL="219456" indent="-182880">
              <a:spcBef>
                <a:spcPts val="300"/>
              </a:spcBef>
              <a:buFont typeface="Arial"/>
              <a:buChar char="•"/>
            </a:pPr>
            <a:r>
              <a:rPr lang="en-US" sz="1450" b="0" i="0" dirty="0">
                <a:solidFill>
                  <a:srgbClr val="1E293B"/>
                </a:solidFill>
                <a:latin typeface="Times New Roman"/>
                <a:cs typeface="Times New Roman"/>
              </a:rPr>
              <a:t>A controlled harness: chronological split, test touched once, paired 95% CIs per impression, cold / warm slices, measured seed noise, pre-registered predictions, 73 automated tests.</a:t>
            </a:r>
          </a:p>
          <a:p>
            <a:pPr algn="l" marL="219456" indent="-182880">
              <a:spcBef>
                <a:spcPts val="300"/>
              </a:spcBef>
              <a:buFont typeface="Arial"/>
              <a:buChar char="•"/>
            </a:pPr>
            <a:r>
              <a:rPr lang="en-US" sz="1450" b="0" i="0" dirty="0">
                <a:solidFill>
                  <a:srgbClr val="1E293B"/>
                </a:solidFill>
                <a:latin typeface="Times New Roman"/>
                <a:cs typeface="Times New Roman"/>
              </a:rPr>
              <a:t>≈ 16 technique families (≈ 150 variants) on MIND-small against retrained baselines; the V10 ↔ paper gap traced to pre-trained word vectors.</a:t>
            </a:r>
          </a:p>
          <a:p>
            <a:pPr algn="l" marL="219456" indent="-182880">
              <a:spcBef>
                <a:spcPts val="300"/>
              </a:spcBef>
              <a:buFont typeface="Arial"/>
              <a:buChar char="•"/>
            </a:pPr>
            <a:r>
              <a:rPr lang="en-US" sz="1450" b="0" i="0" dirty="0">
                <a:solidFill>
                  <a:srgbClr val="1E293B"/>
                </a:solidFill>
                <a:latin typeface="Times New Roman"/>
                <a:cs typeface="Times New Roman"/>
              </a:rPr>
              <a:t>Data findings: cold dominance, a warm validation day, the role of text fields, popularity as streaming feedback.</a:t>
            </a:r>
          </a:p>
          <a:p>
            <a:pPr algn="l" marL="219456" indent="-182880">
              <a:spcBef>
                <a:spcPts val="300"/>
              </a:spcBef>
              <a:buFont typeface="Arial"/>
              <a:buChar char="•"/>
            </a:pPr>
            <a:r>
              <a:rPr lang="en-US" sz="1450" b="0" i="0" dirty="0">
                <a:solidFill>
                  <a:srgbClr val="1E293B"/>
                </a:solidFill>
                <a:latin typeface="Times New Roman"/>
                <a:cs typeface="Times New Roman"/>
              </a:rPr>
              <a:t>Model findings: late interaction ≥ learned readers on small data; encoder size is not the bottleneck; GBDT saturates; user-fold CV is optimistic.</a:t>
            </a:r>
          </a:p>
          <a:p>
            <a:pPr algn="l" marL="219456" indent="-182880">
              <a:spcBef>
                <a:spcPts val="300"/>
              </a:spcBef>
              <a:buFont typeface="Arial"/>
              <a:buChar char="•"/>
            </a:pPr>
            <a:r>
              <a:rPr lang="en-US" sz="1450" b="0" i="0" dirty="0">
                <a:solidFill>
                  <a:srgbClr val="1E293B"/>
                </a:solidFill>
                <a:latin typeface="Times New Roman"/>
                <a:cs typeface="Times New Roman"/>
              </a:rPr>
              <a:t>A MIND-large pipeline on 1 × T4 / 32 GB with true peak-RAM accounting; honest positioning against published results.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3. LLM-RecSys 2024–2026: Seven Directions We Examined</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Venues verified by web search (Oct 2026); the complete reference list is in the report and on the References slide.</a:t>
            </a:r>
          </a:p>
        </p:txBody>
      </p:sp>
      <p:graphicFrame>
        <p:nvGraphicFramePr>
          <p:cNvPr id="7" name="Table 5"/>
          <p:cNvGraphicFramePr>
            <a:graphicFrameLocks noGrp="1"/>
          </p:cNvGraphicFramePr>
          <p:nvPr/>
        </p:nvGraphicFramePr>
        <p:xfrm>
          <a:off x="822960" y="1645920"/>
          <a:ext cx="10543032" cy="3803904"/>
        </p:xfrm>
        <a:graphic>
          <a:graphicData uri="http://schemas.openxmlformats.org/drawingml/2006/table">
            <a:tbl>
              <a:tblPr firstRow="1">
                <a:tableStyleId>{5C22544A-7EE6-4342-B048-85BDC9FD1C3A}</a:tableStyleId>
              </a:tblPr>
              <a:tblGrid>
                <a:gridCol w="1783080"/>
                <a:gridCol w="4069080"/>
                <a:gridCol w="2651760"/>
                <a:gridCol w="2039112"/>
              </a:tblGrid>
              <a:tr h="475488">
                <a:tc>
                  <a:txBody>
                    <a:bodyPr/>
                    <a:lstStyle/>
                    <a:p>
                      <a:pPr algn="ctr">
                        <a:spcBef>
                          <a:spcPts val="0"/>
                        </a:spcBef>
                        <a:buNone/>
                      </a:pPr>
                      <a:r>
                        <a:rPr lang="en-US" sz="1150" b="1" i="0" dirty="0">
                          <a:solidFill>
                            <a:srgbClr val="FFFFFF"/>
                          </a:solidFill>
                          <a:latin typeface="Times New Roman"/>
                          <a:cs typeface="Times New Roman"/>
                        </a:rPr>
                        <a:t>Direction</a:t>
                      </a:r>
                    </a:p>
                  </a:txBody>
                  <a:tcPr marL="54864" marR="54864" marT="22860" marB="22860" anchor="ctr">
                    <a:solidFill>
                      <a:srgbClr val="0F1E42"/>
                    </a:solidFill>
                  </a:tcPr>
                </a:tc>
                <a:tc>
                  <a:txBody>
                    <a:bodyPr/>
                    <a:lstStyle/>
                    <a:p>
                      <a:pPr algn="ctr">
                        <a:spcBef>
                          <a:spcPts val="0"/>
                        </a:spcBef>
                        <a:buNone/>
                      </a:pPr>
                      <a:r>
                        <a:rPr lang="en-US" sz="1150" b="1" i="0" dirty="0">
                          <a:solidFill>
                            <a:srgbClr val="FFFFFF"/>
                          </a:solidFill>
                          <a:latin typeface="Times New Roman"/>
                          <a:cs typeface="Times New Roman"/>
                        </a:rPr>
                        <a:t>Representative top-tier work</a:t>
                      </a:r>
                    </a:p>
                  </a:txBody>
                  <a:tcPr marL="54864" marR="54864" marT="22860" marB="22860" anchor="ctr">
                    <a:solidFill>
                      <a:srgbClr val="0F1E42"/>
                    </a:solidFill>
                  </a:tcPr>
                </a:tc>
                <a:tc>
                  <a:txBody>
                    <a:bodyPr/>
                    <a:lstStyle/>
                    <a:p>
                      <a:pPr algn="ctr">
                        <a:spcBef>
                          <a:spcPts val="0"/>
                        </a:spcBef>
                        <a:buNone/>
                      </a:pPr>
                      <a:r>
                        <a:rPr lang="en-US" sz="1150" b="1" i="0" dirty="0">
                          <a:solidFill>
                            <a:srgbClr val="FFFFFF"/>
                          </a:solidFill>
                          <a:latin typeface="Times New Roman"/>
                          <a:cs typeface="Times New Roman"/>
                        </a:rPr>
                        <a:t>Tested here</a:t>
                      </a:r>
                    </a:p>
                  </a:txBody>
                  <a:tcPr marL="54864" marR="54864" marT="22860" marB="22860" anchor="ctr">
                    <a:solidFill>
                      <a:srgbClr val="0F1E42"/>
                    </a:solidFill>
                  </a:tcPr>
                </a:tc>
                <a:tc>
                  <a:txBody>
                    <a:bodyPr/>
                    <a:lstStyle/>
                    <a:p>
                      <a:pPr algn="ctr">
                        <a:spcBef>
                          <a:spcPts val="0"/>
                        </a:spcBef>
                        <a:buNone/>
                      </a:pPr>
                      <a:r>
                        <a:rPr lang="en-US" sz="1150" b="1" i="0" dirty="0">
                          <a:solidFill>
                            <a:srgbClr val="FFFFFF"/>
                          </a:solidFill>
                          <a:latin typeface="Times New Roman"/>
                          <a:cs typeface="Times New Roman"/>
                        </a:rPr>
                        <a:t>Outcome on MIND</a:t>
                      </a:r>
                    </a:p>
                  </a:txBody>
                  <a:tcPr marL="54864" marR="54864" marT="22860" marB="22860" anchor="ctr">
                    <a:solidFill>
                      <a:srgbClr val="0F1E42"/>
                    </a:solidFill>
                  </a:tcPr>
                </a:tc>
              </a:tr>
              <a:tr h="475488">
                <a:tc>
                  <a:txBody>
                    <a:bodyPr/>
                    <a:lstStyle/>
                    <a:p>
                      <a:pPr algn="l">
                        <a:spcBef>
                          <a:spcPts val="0"/>
                        </a:spcBef>
                        <a:buNone/>
                      </a:pPr>
                      <a:r>
                        <a:rPr lang="en-US" sz="1150" b="1" i="0" dirty="0">
                          <a:solidFill>
                            <a:srgbClr val="0F1E42"/>
                          </a:solidFill>
                          <a:latin typeface="Times New Roman"/>
                          <a:cs typeface="Times New Roman"/>
                        </a:rPr>
                        <a:t>1. LLM as content encoder</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LLM2Vec (COLM'24); Qwen3-Embedding (2025); LLMEmb (AAAI'25); LLM2Rec (KDD'25); LEARN (AAAI'25); PAD (SIGIR'25)</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encoder sweep, concat encoder, learned readers (H8, H10)</a:t>
                      </a:r>
                    </a:p>
                  </a:txBody>
                  <a:tcPr marL="54864" marR="54864" marT="22860" marB="22860" anchor="ctr">
                    <a:solidFill>
                      <a:srgbClr val="FFFFFF"/>
                    </a:solidFill>
                  </a:tcPr>
                </a:tc>
                <a:tc>
                  <a:txBody>
                    <a:bodyPr/>
                    <a:lstStyle/>
                    <a:p>
                      <a:pPr algn="ctr">
                        <a:spcBef>
                          <a:spcPts val="0"/>
                        </a:spcBef>
                        <a:buNone/>
                      </a:pPr>
                      <a:r>
                        <a:rPr lang="en-US" sz="1150" b="0" i="0" dirty="0">
                          <a:solidFill>
                            <a:srgbClr val="0F1E42"/>
                          </a:solidFill>
                          <a:latin typeface="Times New Roman"/>
                          <a:cs typeface="Times New Roman"/>
                        </a:rPr>
                        <a:t>aggregation &amp; fields &gt; encoder size</a:t>
                      </a:r>
                    </a:p>
                  </a:txBody>
                  <a:tcPr marL="54864" marR="54864" marT="22860" marB="22860" anchor="ctr">
                    <a:solidFill>
                      <a:srgbClr val="FFFFFF"/>
                    </a:solidFill>
                  </a:tcPr>
                </a:tc>
              </a:tr>
              <a:tr h="475488">
                <a:tc>
                  <a:txBody>
                    <a:bodyPr/>
                    <a:lstStyle/>
                    <a:p>
                      <a:pPr algn="l">
                        <a:spcBef>
                          <a:spcPts val="0"/>
                        </a:spcBef>
                        <a:buNone/>
                      </a:pPr>
                      <a:r>
                        <a:rPr lang="en-US" sz="1150" b="1" i="0" dirty="0">
                          <a:solidFill>
                            <a:srgbClr val="0F1E42"/>
                          </a:solidFill>
                          <a:latin typeface="Times New Roman"/>
                          <a:cs typeface="Times New Roman"/>
                        </a:rPr>
                        <a:t>2. LLM-generated knowledge</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KAR (RecSys'24); ONCE (WSDM'24); EmbSum (RecSys'24); IRLLRec (SIGIR'25); PNR-LLM (WWW'25 Comp.)</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category / entity text (F); KAR zero-shot (H6); history-as-text (H1)</a:t>
                      </a:r>
                    </a:p>
                  </a:txBody>
                  <a:tcPr marL="54864" marR="54864" marT="22860" marB="22860" anchor="ctr">
                    <a:solidFill>
                      <a:srgbClr val="F8FAFC"/>
                    </a:solidFill>
                  </a:tcPr>
                </a:tc>
                <a:tc>
                  <a:txBody>
                    <a:bodyPr/>
                    <a:lstStyle/>
                    <a:p>
                      <a:pPr algn="ctr">
                        <a:spcBef>
                          <a:spcPts val="0"/>
                        </a:spcBef>
                        <a:buNone/>
                      </a:pPr>
                      <a:r>
                        <a:rPr lang="en-US" sz="1150" b="0" i="0" dirty="0">
                          <a:solidFill>
                            <a:srgbClr val="0F1E42"/>
                          </a:solidFill>
                          <a:latin typeface="Times New Roman"/>
                          <a:cs typeface="Times New Roman"/>
                        </a:rPr>
                        <a:t>+0.0182 (Qwen3); KAR mixed</a:t>
                      </a:r>
                    </a:p>
                  </a:txBody>
                  <a:tcPr marL="54864" marR="54864" marT="22860" marB="22860" anchor="ctr">
                    <a:solidFill>
                      <a:srgbClr val="F8FAFC"/>
                    </a:solidFill>
                  </a:tcPr>
                </a:tc>
              </a:tr>
              <a:tr h="475488">
                <a:tc>
                  <a:txBody>
                    <a:bodyPr/>
                    <a:lstStyle/>
                    <a:p>
                      <a:pPr algn="l">
                        <a:spcBef>
                          <a:spcPts val="0"/>
                        </a:spcBef>
                        <a:buNone/>
                      </a:pPr>
                      <a:r>
                        <a:rPr lang="en-US" sz="1150" b="1" i="0" dirty="0">
                          <a:solidFill>
                            <a:srgbClr val="0F1E42"/>
                          </a:solidFill>
                          <a:latin typeface="Times New Roman"/>
                          <a:cs typeface="Times New Roman"/>
                        </a:rPr>
                        <a:t>3. User modeling &amp; multi-interest</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MINER (ACL-F'22); CAUM (SIGIR'22); Iana et al. (SIGIR'23); attention masks for LLM users (2026)</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LoRA user tower, 3 masks (H5); k-means &amp; K-interest readers (H11)</a:t>
                      </a:r>
                    </a:p>
                  </a:txBody>
                  <a:tcPr marL="54864" marR="54864" marT="22860" marB="22860" anchor="ctr">
                    <a:solidFill>
                      <a:srgbClr val="FFFFFF"/>
                    </a:solidFill>
                  </a:tcPr>
                </a:tc>
                <a:tc>
                  <a:txBody>
                    <a:bodyPr/>
                    <a:lstStyle/>
                    <a:p>
                      <a:pPr algn="ctr">
                        <a:spcBef>
                          <a:spcPts val="0"/>
                        </a:spcBef>
                        <a:buNone/>
                      </a:pPr>
                      <a:r>
                        <a:rPr lang="en-US" sz="1150" b="0" i="0" dirty="0">
                          <a:solidFill>
                            <a:srgbClr val="0F1E42"/>
                          </a:solidFill>
                          <a:latin typeface="Times New Roman"/>
                          <a:cs typeface="Times New Roman"/>
                        </a:rPr>
                        <a:t>not reproducible / negative</a:t>
                      </a:r>
                    </a:p>
                  </a:txBody>
                  <a:tcPr marL="54864" marR="54864" marT="22860" marB="22860" anchor="ctr">
                    <a:solidFill>
                      <a:srgbClr val="FFFFFF"/>
                    </a:solidFill>
                  </a:tcPr>
                </a:tc>
              </a:tr>
              <a:tr h="475488">
                <a:tc>
                  <a:txBody>
                    <a:bodyPr/>
                    <a:lstStyle/>
                    <a:p>
                      <a:pPr algn="l">
                        <a:spcBef>
                          <a:spcPts val="0"/>
                        </a:spcBef>
                        <a:buNone/>
                      </a:pPr>
                      <a:r>
                        <a:rPr lang="en-US" sz="1150" b="1" i="0" dirty="0">
                          <a:solidFill>
                            <a:srgbClr val="0F1E42"/>
                          </a:solidFill>
                          <a:latin typeface="Times New Roman"/>
                          <a:cs typeface="Times New Roman"/>
                        </a:rPr>
                        <a:t>4. Generative rec &amp; semantic IDs</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TIGER (NeurIPS'23); LETTER (CIKM'24); HSTU (ICML'24); ActionPiece (ICML'25); RPG (KDD'25); OneRec (2025); GRID (CIKM'25)</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RQ-KMeans 3×256 + SID-GPT slate ranker (H7)</a:t>
                      </a:r>
                    </a:p>
                  </a:txBody>
                  <a:tcPr marL="54864" marR="54864" marT="22860" marB="22860" anchor="ctr">
                    <a:solidFill>
                      <a:srgbClr val="F8FAFC"/>
                    </a:solidFill>
                  </a:tcPr>
                </a:tc>
                <a:tc>
                  <a:txBody>
                    <a:bodyPr/>
                    <a:lstStyle/>
                    <a:p>
                      <a:pPr algn="ctr">
                        <a:spcBef>
                          <a:spcPts val="0"/>
                        </a:spcBef>
                        <a:buNone/>
                      </a:pPr>
                      <a:r>
                        <a:rPr lang="en-US" sz="1150" b="0" i="0" dirty="0">
                          <a:solidFill>
                            <a:srgbClr val="0F1E42"/>
                          </a:solidFill>
                          <a:latin typeface="Times New Roman"/>
                          <a:cs typeface="Times New Roman"/>
                        </a:rPr>
                        <a:t>≈ random (0.2898 vs 0.2897)</a:t>
                      </a:r>
                    </a:p>
                  </a:txBody>
                  <a:tcPr marL="54864" marR="54864" marT="22860" marB="22860" anchor="ctr">
                    <a:solidFill>
                      <a:srgbClr val="F8FAFC"/>
                    </a:solidFill>
                  </a:tcPr>
                </a:tc>
              </a:tr>
              <a:tr h="475488">
                <a:tc>
                  <a:txBody>
                    <a:bodyPr/>
                    <a:lstStyle/>
                    <a:p>
                      <a:pPr algn="l">
                        <a:spcBef>
                          <a:spcPts val="0"/>
                        </a:spcBef>
                        <a:buNone/>
                      </a:pPr>
                      <a:r>
                        <a:rPr lang="en-US" sz="1150" b="1" i="0" dirty="0">
                          <a:solidFill>
                            <a:srgbClr val="0F1E42"/>
                          </a:solidFill>
                          <a:latin typeface="Times New Roman"/>
                          <a:cs typeface="Times New Roman"/>
                        </a:rPr>
                        <a:t>5. Reasoning</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ReaRec (2025); OneRec-Think (ACL'26); SIDReasoner (KDD'26); FLR, VRec, list-wise alignment (SIGIR'26)</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not tested (inference cost)</a:t>
                      </a:r>
                    </a:p>
                  </a:txBody>
                  <a:tcPr marL="54864" marR="54864" marT="22860" marB="22860" anchor="ctr">
                    <a:solidFill>
                      <a:srgbClr val="FFFFFF"/>
                    </a:solidFill>
                  </a:tcPr>
                </a:tc>
                <a:tc>
                  <a:txBody>
                    <a:bodyPr/>
                    <a:lstStyle/>
                    <a:p>
                      <a:pPr algn="ctr">
                        <a:spcBef>
                          <a:spcPts val="0"/>
                        </a:spcBef>
                        <a:buNone/>
                      </a:pPr>
                      <a:r>
                        <a:rPr lang="en-US" sz="1150" b="0" i="0" dirty="0">
                          <a:solidFill>
                            <a:srgbClr val="0F1E42"/>
                          </a:solidFill>
                          <a:latin typeface="Times New Roman"/>
                          <a:cs typeface="Times New Roman"/>
                        </a:rPr>
                        <a:t>—</a:t>
                      </a:r>
                    </a:p>
                  </a:txBody>
                  <a:tcPr marL="54864" marR="54864" marT="22860" marB="22860" anchor="ctr">
                    <a:solidFill>
                      <a:srgbClr val="FFFFFF"/>
                    </a:solidFill>
                  </a:tcPr>
                </a:tc>
              </a:tr>
              <a:tr h="475488">
                <a:tc>
                  <a:txBody>
                    <a:bodyPr/>
                    <a:lstStyle/>
                    <a:p>
                      <a:pPr algn="l">
                        <a:spcBef>
                          <a:spcPts val="0"/>
                        </a:spcBef>
                        <a:buNone/>
                      </a:pPr>
                      <a:r>
                        <a:rPr lang="en-US" sz="1150" b="1" i="0" dirty="0">
                          <a:solidFill>
                            <a:srgbClr val="0F1E42"/>
                          </a:solidFill>
                          <a:latin typeface="Times New Roman"/>
                          <a:cs typeface="Times New Roman"/>
                        </a:rPr>
                        <a:t>6. RAG / GraphRAG / agents</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GraphRAG (2024); K-RagRec (ACL'25); LLM-agent survey (EMNLP-F'25)</a:t>
                      </a:r>
                    </a:p>
                  </a:txBody>
                  <a:tcPr marL="54864" marR="54864" marT="22860" marB="22860" anchor="ctr">
                    <a:solidFill>
                      <a:srgbClr val="F8FAFC"/>
                    </a:solidFill>
                  </a:tcPr>
                </a:tc>
                <a:tc>
                  <a:txBody>
                    <a:bodyPr/>
                    <a:lstStyle/>
                    <a:p>
                      <a:pPr algn="l">
                        <a:spcBef>
                          <a:spcPts val="0"/>
                        </a:spcBef>
                        <a:buNone/>
                      </a:pPr>
                      <a:r>
                        <a:rPr lang="en-US" sz="1150" b="0" i="0" dirty="0">
                          <a:solidFill>
                            <a:srgbClr val="0F1E42"/>
                          </a:solidFill>
                          <a:latin typeface="Times New Roman"/>
                          <a:cs typeface="Times New Roman"/>
                        </a:rPr>
                        <a:t>representation RAG (H3); GraphRAG-lite + LLM summaries (H4)</a:t>
                      </a:r>
                    </a:p>
                  </a:txBody>
                  <a:tcPr marL="54864" marR="54864" marT="22860" marB="22860" anchor="ctr">
                    <a:solidFill>
                      <a:srgbClr val="F8FAFC"/>
                    </a:solidFill>
                  </a:tcPr>
                </a:tc>
                <a:tc>
                  <a:txBody>
                    <a:bodyPr/>
                    <a:lstStyle/>
                    <a:p>
                      <a:pPr algn="ctr">
                        <a:spcBef>
                          <a:spcPts val="0"/>
                        </a:spcBef>
                        <a:buNone/>
                      </a:pPr>
                      <a:r>
                        <a:rPr lang="en-US" sz="1150" b="0" i="0" dirty="0">
                          <a:solidFill>
                            <a:srgbClr val="0F1E42"/>
                          </a:solidFill>
                          <a:latin typeface="Times New Roman"/>
                          <a:cs typeface="Times New Roman"/>
                        </a:rPr>
                        <a:t>≤ +0.004; sign flips val → test</a:t>
                      </a:r>
                    </a:p>
                  </a:txBody>
                  <a:tcPr marL="54864" marR="54864" marT="22860" marB="22860" anchor="ctr">
                    <a:solidFill>
                      <a:srgbClr val="F8FAFC"/>
                    </a:solidFill>
                  </a:tcPr>
                </a:tc>
              </a:tr>
              <a:tr h="475488">
                <a:tc>
                  <a:txBody>
                    <a:bodyPr/>
                    <a:lstStyle/>
                    <a:p>
                      <a:pPr algn="l">
                        <a:spcBef>
                          <a:spcPts val="0"/>
                        </a:spcBef>
                        <a:buNone/>
                      </a:pPr>
                      <a:r>
                        <a:rPr lang="en-US" sz="1150" b="1" i="0" dirty="0">
                          <a:solidFill>
                            <a:srgbClr val="0F1E42"/>
                          </a:solidFill>
                          <a:latin typeface="Times New Roman"/>
                          <a:cs typeface="Times New Roman"/>
                        </a:rPr>
                        <a:t>7. LLM as ranker / judge</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LLMRank (ECIR'24); LLM4Rerank (WWW'25)</a:t>
                      </a:r>
                    </a:p>
                  </a:txBody>
                  <a:tcPr marL="54864" marR="54864" marT="22860" marB="22860" anchor="ctr">
                    <a:solidFill>
                      <a:srgbClr val="FFFFFF"/>
                    </a:solidFill>
                  </a:tcPr>
                </a:tc>
                <a:tc>
                  <a:txBody>
                    <a:bodyPr/>
                    <a:lstStyle/>
                    <a:p>
                      <a:pPr algn="l">
                        <a:spcBef>
                          <a:spcPts val="0"/>
                        </a:spcBef>
                        <a:buNone/>
                      </a:pPr>
                      <a:r>
                        <a:rPr lang="en-US" sz="1150" b="0" i="0" dirty="0">
                          <a:solidFill>
                            <a:srgbClr val="0F1E42"/>
                          </a:solidFill>
                          <a:latin typeface="Times New Roman"/>
                          <a:cs typeface="Times New Roman"/>
                        </a:rPr>
                        <a:t>Qwen3-1.7B Yes/No judge on top-10 (H9)</a:t>
                      </a:r>
                    </a:p>
                  </a:txBody>
                  <a:tcPr marL="54864" marR="54864" marT="22860" marB="22860" anchor="ctr">
                    <a:solidFill>
                      <a:srgbClr val="FFFFFF"/>
                    </a:solidFill>
                  </a:tcPr>
                </a:tc>
                <a:tc>
                  <a:txBody>
                    <a:bodyPr/>
                    <a:lstStyle/>
                    <a:p>
                      <a:pPr algn="ctr">
                        <a:spcBef>
                          <a:spcPts val="0"/>
                        </a:spcBef>
                        <a:buNone/>
                      </a:pPr>
                      <a:r>
                        <a:rPr lang="en-US" sz="1150" b="0" i="0" dirty="0">
                          <a:solidFill>
                            <a:srgbClr val="0F1E42"/>
                          </a:solidFill>
                          <a:latin typeface="Times New Roman"/>
                          <a:cs typeface="Times New Roman"/>
                        </a:rPr>
                        <a:t>−0.0112 (n = 2,000)</a:t>
                      </a:r>
                    </a:p>
                  </a:txBody>
                  <a:tcPr marL="54864" marR="54864" marT="22860" marB="22860"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3.1 Directions 1–2: LLM Encoders &amp; LLM-Generated Knowledge</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Direction 1 — LLMs as content encoders</a:t>
            </a:r>
          </a:p>
          <a:p>
            <a:pPr algn="l" marL="219456" indent="-182880">
              <a:spcBef>
                <a:spcPts val="300"/>
              </a:spcBef>
              <a:buFont typeface="Arial"/>
              <a:buChar char="•"/>
            </a:pPr>
            <a:r>
              <a:rPr lang="en-US" sz="1400" b="1" i="0" dirty="0">
                <a:solidFill>
                  <a:srgbClr val="1E293B"/>
                </a:solidFill>
                <a:latin typeface="Times New Roman"/>
                <a:cs typeface="Times New Roman"/>
              </a:rPr>
              <a:t>LLM2Vec</a:t>
            </a:r>
            <a:r>
              <a:rPr lang="en-US" sz="1400" b="0" i="0" dirty="0">
                <a:solidFill>
                  <a:srgbClr val="1E293B"/>
                </a:solidFill>
                <a:latin typeface="Times New Roman"/>
                <a:cs typeface="Times New Roman"/>
              </a:rPr>
              <a:t> (COLM'24): decoder-only LLM → encoder (bidirectional attention + contrastive training).</a:t>
            </a:r>
          </a:p>
          <a:p>
            <a:pPr algn="l" marL="219456" indent="-182880">
              <a:spcBef>
                <a:spcPts val="300"/>
              </a:spcBef>
              <a:buFont typeface="Arial"/>
              <a:buChar char="•"/>
            </a:pPr>
            <a:r>
              <a:rPr lang="en-US" sz="1400" b="1" i="0" dirty="0">
                <a:solidFill>
                  <a:srgbClr val="1E293B"/>
                </a:solidFill>
                <a:latin typeface="Times New Roman"/>
                <a:cs typeface="Times New Roman"/>
              </a:rPr>
              <a:t>Qwen3-Embedding</a:t>
            </a:r>
            <a:r>
              <a:rPr lang="en-US" sz="1400" b="0" i="0" dirty="0">
                <a:solidFill>
                  <a:srgbClr val="1E293B"/>
                </a:solidFill>
                <a:latin typeface="Times New Roman"/>
                <a:cs typeface="Times New Roman"/>
              </a:rPr>
              <a:t> (2025): instruction-aware, last-token pooling, 0.6B–8B.</a:t>
            </a:r>
          </a:p>
          <a:p>
            <a:pPr algn="l" marL="219456" indent="-182880">
              <a:spcBef>
                <a:spcPts val="300"/>
              </a:spcBef>
              <a:buFont typeface="Arial"/>
              <a:buChar char="•"/>
            </a:pPr>
            <a:r>
              <a:rPr lang="en-US" sz="1400" b="1" i="0" dirty="0">
                <a:solidFill>
                  <a:srgbClr val="1E293B"/>
                </a:solidFill>
                <a:latin typeface="Times New Roman"/>
                <a:cs typeface="Times New Roman"/>
              </a:rPr>
              <a:t>LLMEmb</a:t>
            </a:r>
            <a:r>
              <a:rPr lang="en-US" sz="1400" b="0" i="0" dirty="0">
                <a:solidFill>
                  <a:srgbClr val="1E293B"/>
                </a:solidFill>
                <a:latin typeface="Times New Roman"/>
                <a:cs typeface="Times New Roman"/>
              </a:rPr>
              <a:t> (AAAI'25), </a:t>
            </a:r>
            <a:r>
              <a:rPr lang="en-US" sz="1400" b="1" i="0" dirty="0">
                <a:solidFill>
                  <a:srgbClr val="1E293B"/>
                </a:solidFill>
                <a:latin typeface="Times New Roman"/>
                <a:cs typeface="Times New Roman"/>
              </a:rPr>
              <a:t>LLM2Rec</a:t>
            </a:r>
            <a:r>
              <a:rPr lang="en-US" sz="1400" b="0" i="0" dirty="0">
                <a:solidFill>
                  <a:srgbClr val="1E293B"/>
                </a:solidFill>
                <a:latin typeface="Times New Roman"/>
                <a:cs typeface="Times New Roman"/>
              </a:rPr>
              <a:t> (KDD'25): adapt the LLM with supervised / collaborative fine-tuning, then use it as an item-embedding model.</a:t>
            </a:r>
          </a:p>
          <a:p>
            <a:pPr algn="l" marL="219456" indent="-182880">
              <a:spcBef>
                <a:spcPts val="300"/>
              </a:spcBef>
              <a:buFont typeface="Arial"/>
              <a:buChar char="•"/>
            </a:pPr>
            <a:r>
              <a:rPr lang="en-US" sz="1400" b="1" i="0" dirty="0">
                <a:solidFill>
                  <a:srgbClr val="1E293B"/>
                </a:solidFill>
                <a:latin typeface="Times New Roman"/>
                <a:cs typeface="Times New Roman"/>
              </a:rPr>
              <a:t>LEARN</a:t>
            </a:r>
            <a:r>
              <a:rPr lang="en-US" sz="1400" b="0" i="0" dirty="0">
                <a:solidFill>
                  <a:srgbClr val="1E293B"/>
                </a:solidFill>
                <a:latin typeface="Times New Roman"/>
                <a:cs typeface="Times New Roman"/>
              </a:rPr>
              <a:t> (AAAI'25): frozen LLM item encoder + twin-tower bridge to the collaborative space (industrial).</a:t>
            </a:r>
          </a:p>
          <a:p>
            <a:pPr algn="l" marL="219456" indent="-182880">
              <a:spcBef>
                <a:spcPts val="300"/>
              </a:spcBef>
              <a:buFont typeface="Arial"/>
              <a:buChar char="•"/>
            </a:pPr>
            <a:r>
              <a:rPr lang="en-US" sz="1400" b="1" i="0" dirty="0">
                <a:solidFill>
                  <a:srgbClr val="1E293B"/>
                </a:solidFill>
                <a:latin typeface="Times New Roman"/>
                <a:cs typeface="Times New Roman"/>
              </a:rPr>
              <a:t>PAD</a:t>
            </a:r>
            <a:r>
              <a:rPr lang="en-US" sz="1400" b="0" i="0" dirty="0">
                <a:solidFill>
                  <a:srgbClr val="1E293B"/>
                </a:solidFill>
                <a:latin typeface="Times New Roman"/>
                <a:cs typeface="Times New Roman"/>
              </a:rPr>
              <a:t> (SIGIR'25): pre-train, align, disentangle text and collaborative views — largest gains on cold items.</a:t>
            </a:r>
          </a:p>
          <a:p>
            <a:pPr algn="l" marL="219456" indent="-182880">
              <a:spcBef>
                <a:spcPts val="300"/>
              </a:spcBef>
              <a:buFont typeface="Arial"/>
              <a:buChar char="•"/>
            </a:pPr>
            <a:r>
              <a:rPr lang="en-US" sz="1400" b="0" i="0" dirty="0">
                <a:solidFill>
                  <a:srgbClr val="1E293B"/>
                </a:solidFill>
                <a:latin typeface="Times New Roman"/>
                <a:cs typeface="Times New Roman"/>
              </a:rPr>
              <a:t>News: </a:t>
            </a:r>
            <a:r>
              <a:rPr lang="en-US" sz="1400" b="1" i="0" dirty="0">
                <a:solidFill>
                  <a:srgbClr val="1E293B"/>
                </a:solidFill>
                <a:latin typeface="Times New Roman"/>
                <a:cs typeface="Times New Roman"/>
              </a:rPr>
              <a:t>Zhao et al.</a:t>
            </a:r>
            <a:r>
              <a:rPr lang="en-US" sz="1400" b="0" i="0" dirty="0">
                <a:solidFill>
                  <a:srgbClr val="1E293B"/>
                </a:solidFill>
                <a:latin typeface="Times New Roman"/>
                <a:cs typeface="Times New Roman"/>
              </a:rPr>
              <a:t> (ECIR'25) — larger LMs are not reliably better on MIND.</a:t>
            </a:r>
          </a:p>
          <a:p>
            <a:pPr algn="l">
              <a:spcBef>
                <a:spcPts val="300"/>
              </a:spcBef>
              <a:buNone/>
            </a:pPr>
            <a:r>
              <a:rPr lang="en-US" sz="1200" b="0" i="1" dirty="0">
                <a:solidFill>
                  <a:srgbClr val="64748B"/>
                </a:solidFill>
                <a:latin typeface="Times New Roman"/>
                <a:cs typeface="Times New Roman"/>
              </a:rPr>
              <a:t>Tested here: frozen BGE-small/base/large, Qwen3-Emb-0.6B and their concatenation, zero-shot and as reader input.</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Direction 2 — LLM-generated knowledge</a:t>
            </a:r>
          </a:p>
          <a:p>
            <a:pPr algn="l" marL="219456" indent="-182880">
              <a:spcBef>
                <a:spcPts val="300"/>
              </a:spcBef>
              <a:buFont typeface="Arial"/>
              <a:buChar char="•"/>
            </a:pPr>
            <a:r>
              <a:rPr lang="en-US" sz="1400" b="1" i="0" dirty="0">
                <a:solidFill>
                  <a:srgbClr val="1E293B"/>
                </a:solidFill>
                <a:latin typeface="Times New Roman"/>
                <a:cs typeface="Times New Roman"/>
              </a:rPr>
              <a:t>KAR</a:t>
            </a:r>
            <a:r>
              <a:rPr lang="en-US" sz="1400" b="0" i="0" dirty="0">
                <a:solidFill>
                  <a:srgbClr val="1E293B"/>
                </a:solidFill>
                <a:latin typeface="Times New Roman"/>
                <a:cs typeface="Times New Roman"/>
              </a:rPr>
              <a:t> (RecSys'24): LLM reasoning + factual knowledge → hybrid-expert adaptor; deployed on Huawei news &amp; music.</a:t>
            </a:r>
          </a:p>
          <a:p>
            <a:pPr algn="l" marL="219456" indent="-182880">
              <a:spcBef>
                <a:spcPts val="300"/>
              </a:spcBef>
              <a:buFont typeface="Arial"/>
              <a:buChar char="•"/>
            </a:pPr>
            <a:r>
              <a:rPr lang="en-US" sz="1400" b="1" i="0" dirty="0">
                <a:solidFill>
                  <a:srgbClr val="1E293B"/>
                </a:solidFill>
                <a:latin typeface="Times New Roman"/>
                <a:cs typeface="Times New Roman"/>
              </a:rPr>
              <a:t>ONCE</a:t>
            </a:r>
            <a:r>
              <a:rPr lang="en-US" sz="1400" b="0" i="0" dirty="0">
                <a:solidFill>
                  <a:srgbClr val="1E293B"/>
                </a:solidFill>
                <a:latin typeface="Times New Roman"/>
                <a:cs typeface="Times New Roman"/>
              </a:rPr>
              <a:t> (WSDM'24): open-source LLM as encoder + closed-source LLM for prompt augmentation (up to +19.32% rel.).</a:t>
            </a:r>
          </a:p>
          <a:p>
            <a:pPr algn="l" marL="219456" indent="-182880">
              <a:spcBef>
                <a:spcPts val="300"/>
              </a:spcBef>
              <a:buFont typeface="Arial"/>
              <a:buChar char="•"/>
            </a:pPr>
            <a:r>
              <a:rPr lang="en-US" sz="1400" b="1" i="0" dirty="0">
                <a:solidFill>
                  <a:srgbClr val="1E293B"/>
                </a:solidFill>
                <a:latin typeface="Times New Roman"/>
                <a:cs typeface="Times New Roman"/>
              </a:rPr>
              <a:t>EmbSum</a:t>
            </a:r>
            <a:r>
              <a:rPr lang="en-US" sz="1400" b="0" i="0" dirty="0">
                <a:solidFill>
                  <a:srgbClr val="1E293B"/>
                </a:solidFill>
                <a:latin typeface="Times New Roman"/>
                <a:cs typeface="Times New Roman"/>
              </a:rPr>
              <a:t> (RecSys'24): LLM-supervised user-interest summaries → poly-embeddings.</a:t>
            </a:r>
          </a:p>
          <a:p>
            <a:pPr algn="l" marL="219456" indent="-182880">
              <a:spcBef>
                <a:spcPts val="300"/>
              </a:spcBef>
              <a:buFont typeface="Arial"/>
              <a:buChar char="•"/>
            </a:pPr>
            <a:r>
              <a:rPr lang="en-US" sz="1400" b="1" i="0" dirty="0">
                <a:solidFill>
                  <a:srgbClr val="1E293B"/>
                </a:solidFill>
                <a:latin typeface="Times New Roman"/>
                <a:cs typeface="Times New Roman"/>
              </a:rPr>
              <a:t>Yada &amp; Yamana</a:t>
            </a:r>
            <a:r>
              <a:rPr lang="en-US" sz="1400" b="0" i="0" dirty="0">
                <a:solidFill>
                  <a:srgbClr val="1E293B"/>
                </a:solidFill>
                <a:latin typeface="Times New Roman"/>
                <a:cs typeface="Times New Roman"/>
              </a:rPr>
              <a:t> (2024): GPT-4 category descriptions on MIND (up to +5.8% AUC).</a:t>
            </a:r>
          </a:p>
          <a:p>
            <a:pPr algn="l" marL="219456" indent="-182880">
              <a:spcBef>
                <a:spcPts val="300"/>
              </a:spcBef>
              <a:buFont typeface="Arial"/>
              <a:buChar char="•"/>
            </a:pPr>
            <a:r>
              <a:rPr lang="en-US" sz="1400" b="1" i="0" dirty="0">
                <a:solidFill>
                  <a:srgbClr val="1E293B"/>
                </a:solidFill>
                <a:latin typeface="Times New Roman"/>
                <a:cs typeface="Times New Roman"/>
              </a:rPr>
              <a:t>PNR-LLM</a:t>
            </a:r>
            <a:r>
              <a:rPr lang="en-US" sz="1400" b="0" i="0" dirty="0">
                <a:solidFill>
                  <a:srgbClr val="1E293B"/>
                </a:solidFill>
                <a:latin typeface="Times New Roman"/>
                <a:cs typeface="Times New Roman"/>
              </a:rPr>
              <a:t> (WWW'25 Comp.): hierarchical prompting to enrich news; </a:t>
            </a:r>
            <a:r>
              <a:rPr lang="en-US" sz="1400" b="1" i="0" dirty="0">
                <a:solidFill>
                  <a:srgbClr val="1E293B"/>
                </a:solidFill>
                <a:latin typeface="Times New Roman"/>
                <a:cs typeface="Times New Roman"/>
              </a:rPr>
              <a:t>IRLLRec</a:t>
            </a:r>
            <a:r>
              <a:rPr lang="en-US" sz="1400" b="0" i="0" dirty="0">
                <a:solidFill>
                  <a:srgbClr val="1E293B"/>
                </a:solidFill>
                <a:latin typeface="Times New Roman"/>
                <a:cs typeface="Times New Roman"/>
              </a:rPr>
              <a:t> (SIGIR'25): align LLM intents with interaction intents.</a:t>
            </a:r>
          </a:p>
          <a:p>
            <a:pPr algn="l">
              <a:spcBef>
                <a:spcPts val="300"/>
              </a:spcBef>
              <a:buNone/>
            </a:pPr>
            <a:r>
              <a:rPr lang="en-US" sz="1200" b="0" i="1" dirty="0">
                <a:solidFill>
                  <a:srgbClr val="64748B"/>
                </a:solidFill>
                <a:latin typeface="Times New Roman"/>
                <a:cs typeface="Times New Roman"/>
              </a:rPr>
              <a:t>Tested here: category / entity names in the embedded text (F); KAR-style item expansion and reader profiles with Qwen3-1.7B (H6).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3.2 Directions 3–5: User Modeling, Generative Semantic IDs, Reasoning</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Direction 3 — user modeling &amp; multi-interest</a:t>
            </a:r>
          </a:p>
          <a:p>
            <a:pPr algn="l" marL="219456" indent="-182880">
              <a:spcBef>
                <a:spcPts val="300"/>
              </a:spcBef>
              <a:buFont typeface="Arial"/>
              <a:buChar char="•"/>
            </a:pPr>
            <a:r>
              <a:rPr lang="en-US" sz="1400" b="0" i="0" dirty="0">
                <a:solidFill>
                  <a:srgbClr val="1E293B"/>
                </a:solidFill>
                <a:latin typeface="Times New Roman"/>
                <a:cs typeface="Times New Roman"/>
              </a:rPr>
              <a:t>Multi-interest networks: Li et al. (CIKM'19), ComiRec (KDD'20); news: </a:t>
            </a:r>
            <a:r>
              <a:rPr lang="en-US" sz="1400" b="1" i="0" dirty="0">
                <a:solidFill>
                  <a:srgbClr val="1E293B"/>
                </a:solidFill>
                <a:latin typeface="Times New Roman"/>
                <a:cs typeface="Times New Roman"/>
              </a:rPr>
              <a:t>MINER</a:t>
            </a:r>
            <a:r>
              <a:rPr lang="en-US" sz="1400" b="0" i="0" dirty="0">
                <a:solidFill>
                  <a:srgbClr val="1E293B"/>
                </a:solidFill>
                <a:latin typeface="Times New Roman"/>
                <a:cs typeface="Times New Roman"/>
              </a:rPr>
              <a:t> (ACL-F'22), </a:t>
            </a:r>
            <a:r>
              <a:rPr lang="en-US" sz="1400" b="1" i="0" dirty="0">
                <a:solidFill>
                  <a:srgbClr val="1E293B"/>
                </a:solidFill>
                <a:latin typeface="Times New Roman"/>
                <a:cs typeface="Times New Roman"/>
              </a:rPr>
              <a:t>CAUM</a:t>
            </a:r>
            <a:r>
              <a:rPr lang="en-US" sz="1400" b="0" i="0" dirty="0">
                <a:solidFill>
                  <a:srgbClr val="1E293B"/>
                </a:solidFill>
                <a:latin typeface="Times New Roman"/>
                <a:cs typeface="Times New Roman"/>
              </a:rPr>
              <a:t> (SIGIR'22).</a:t>
            </a:r>
          </a:p>
          <a:p>
            <a:pPr algn="l" marL="219456" indent="-182880">
              <a:spcBef>
                <a:spcPts val="300"/>
              </a:spcBef>
              <a:buFont typeface="Arial"/>
              <a:buChar char="•"/>
            </a:pPr>
            <a:r>
              <a:rPr lang="en-US" sz="1400" b="1" i="0" dirty="0">
                <a:solidFill>
                  <a:srgbClr val="1E293B"/>
                </a:solidFill>
                <a:latin typeface="Times New Roman"/>
                <a:cs typeface="Times New Roman"/>
              </a:rPr>
              <a:t>Iana et al.</a:t>
            </a:r>
            <a:r>
              <a:rPr lang="en-US" sz="1400" b="0" i="0" dirty="0">
                <a:solidFill>
                  <a:srgbClr val="1E293B"/>
                </a:solidFill>
                <a:latin typeface="Times New Roman"/>
                <a:cs typeface="Times New Roman"/>
              </a:rPr>
              <a:t> (SIGIR'23): late fusion (dot products with clicked news) often beats complex user encoders.</a:t>
            </a:r>
          </a:p>
          <a:p>
            <a:pPr algn="l" marL="219456" indent="-182880">
              <a:spcBef>
                <a:spcPts val="300"/>
              </a:spcBef>
              <a:buFont typeface="Arial"/>
              <a:buChar char="•"/>
            </a:pPr>
            <a:r>
              <a:rPr lang="en-US" sz="1400" b="1" i="0" dirty="0">
                <a:solidFill>
                  <a:srgbClr val="1E293B"/>
                </a:solidFill>
                <a:latin typeface="Times New Roman"/>
                <a:cs typeface="Times New Roman"/>
              </a:rPr>
              <a:t>Yuan et al.</a:t>
            </a:r>
            <a:r>
              <a:rPr lang="en-US" sz="1400" b="0" i="0" dirty="0">
                <a:solidFill>
                  <a:srgbClr val="1E293B"/>
                </a:solidFill>
                <a:latin typeface="Times New Roman"/>
                <a:cs typeface="Times New Roman"/>
              </a:rPr>
              <a:t> (2026): attention masks for decoder-only user embeddings (causal / hybrid / bidirectional).</a:t>
            </a:r>
          </a:p>
          <a:p>
            <a:pPr algn="l">
              <a:spcBef>
                <a:spcPts val="300"/>
              </a:spcBef>
              <a:buNone/>
            </a:pPr>
            <a:r>
              <a:rPr lang="en-US" sz="1200" b="0" i="1" dirty="0">
                <a:solidFill>
                  <a:srgbClr val="64748B"/>
                </a:solidFill>
                <a:latin typeface="Times New Roman"/>
                <a:cs typeface="Times New Roman"/>
              </a:rPr>
              <a:t>Tested here: LSE late interaction; k-means and K-interest readers; Qwen3 LoRA user tower with 3 masks.</a:t>
            </a:r>
          </a:p>
          <a:p>
            <a:pPr algn="l">
              <a:spcBef>
                <a:spcPts val="700"/>
              </a:spcBef>
              <a:buNone/>
            </a:pPr>
            <a:r>
              <a:rPr lang="en-US" sz="1600" b="1" i="0" dirty="0">
                <a:solidFill>
                  <a:srgbClr val="0F1E42"/>
                </a:solidFill>
                <a:latin typeface="Times New Roman"/>
                <a:cs typeface="Times New Roman"/>
              </a:rPr>
              <a:t>Direction 5 — reasoning (2025–2026)</a:t>
            </a:r>
          </a:p>
          <a:p>
            <a:pPr algn="l" marL="219456" indent="-182880">
              <a:spcBef>
                <a:spcPts val="300"/>
              </a:spcBef>
              <a:buFont typeface="Arial"/>
              <a:buChar char="•"/>
            </a:pPr>
            <a:r>
              <a:rPr lang="en-US" sz="1400" b="1" i="0" dirty="0">
                <a:solidFill>
                  <a:srgbClr val="1E293B"/>
                </a:solidFill>
                <a:latin typeface="Times New Roman"/>
                <a:cs typeface="Times New Roman"/>
              </a:rPr>
              <a:t>ReaRec</a:t>
            </a:r>
            <a:r>
              <a:rPr lang="en-US" sz="1400" b="0" i="0" dirty="0">
                <a:solidFill>
                  <a:srgbClr val="1E293B"/>
                </a:solidFill>
                <a:latin typeface="Times New Roman"/>
                <a:cs typeface="Times New Roman"/>
              </a:rPr>
              <a:t> (2025) latent multi-step reasoning; </a:t>
            </a:r>
            <a:r>
              <a:rPr lang="en-US" sz="1400" b="1" i="0" dirty="0">
                <a:solidFill>
                  <a:srgbClr val="1E293B"/>
                </a:solidFill>
                <a:latin typeface="Times New Roman"/>
                <a:cs typeface="Times New Roman"/>
              </a:rPr>
              <a:t>OneRec-Think</a:t>
            </a:r>
            <a:r>
              <a:rPr lang="en-US" sz="1400" b="0" i="0" dirty="0">
                <a:solidFill>
                  <a:srgbClr val="1E293B"/>
                </a:solidFill>
                <a:latin typeface="Times New Roman"/>
                <a:cs typeface="Times New Roman"/>
              </a:rPr>
              <a:t> (ACL'26) interleaved text reasoning, deployed.</a:t>
            </a:r>
          </a:p>
          <a:p>
            <a:pPr algn="l" marL="219456" indent="-182880">
              <a:spcBef>
                <a:spcPts val="300"/>
              </a:spcBef>
              <a:buFont typeface="Arial"/>
              <a:buChar char="•"/>
            </a:pPr>
            <a:r>
              <a:rPr lang="en-US" sz="1400" b="1" i="0" dirty="0">
                <a:solidFill>
                  <a:srgbClr val="1E293B"/>
                </a:solidFill>
                <a:latin typeface="Times New Roman"/>
                <a:cs typeface="Times New Roman"/>
              </a:rPr>
              <a:t>SIDReasoner</a:t>
            </a:r>
            <a:r>
              <a:rPr lang="en-US" sz="1400" b="0" i="0" dirty="0">
                <a:solidFill>
                  <a:srgbClr val="1E293B"/>
                </a:solidFill>
                <a:latin typeface="Times New Roman"/>
                <a:cs typeface="Times New Roman"/>
              </a:rPr>
              <a:t> (KDD'26); SIGIR'26: </a:t>
            </a:r>
            <a:r>
              <a:rPr lang="en-US" sz="1400" b="1" i="0" dirty="0">
                <a:solidFill>
                  <a:srgbClr val="1E293B"/>
                </a:solidFill>
                <a:latin typeface="Times New Roman"/>
                <a:cs typeface="Times New Roman"/>
              </a:rPr>
              <a:t>FLR</a:t>
            </a:r>
            <a:r>
              <a:rPr lang="en-US" sz="1400" b="0" i="0" dirty="0">
                <a:solidFill>
                  <a:srgbClr val="1E293B"/>
                </a:solidFill>
                <a:latin typeface="Times New Roman"/>
                <a:cs typeface="Times New Roman"/>
              </a:rPr>
              <a:t>, </a:t>
            </a:r>
            <a:r>
              <a:rPr lang="en-US" sz="1400" b="1" i="0" dirty="0">
                <a:solidFill>
                  <a:srgbClr val="1E293B"/>
                </a:solidFill>
                <a:latin typeface="Times New Roman"/>
                <a:cs typeface="Times New Roman"/>
              </a:rPr>
              <a:t>VRec</a:t>
            </a:r>
            <a:r>
              <a:rPr lang="en-US" sz="1400" b="0" i="0" dirty="0">
                <a:solidFill>
                  <a:srgbClr val="1E293B"/>
                </a:solidFill>
                <a:latin typeface="Times New Roman"/>
                <a:cs typeface="Times New Roman"/>
              </a:rPr>
              <a:t> (reason–verify–recommend), Bayesian list-wise alignment.</a:t>
            </a:r>
          </a:p>
          <a:p>
            <a:pPr algn="l">
              <a:spcBef>
                <a:spcPts val="300"/>
              </a:spcBef>
              <a:buNone/>
            </a:pPr>
            <a:r>
              <a:rPr lang="en-US" sz="1200" b="0" i="1" dirty="0">
                <a:solidFill>
                  <a:srgbClr val="64748B"/>
                </a:solidFill>
                <a:latin typeface="Times New Roman"/>
                <a:cs typeface="Times New Roman"/>
              </a:rPr>
              <a:t>Not tested here: per-impression inference cost (conditional future work).</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Direction 4 — generative recommendation &amp; semantic IDs</a:t>
            </a:r>
          </a:p>
          <a:p>
            <a:pPr algn="l" marL="219456" indent="-182880">
              <a:spcBef>
                <a:spcPts val="300"/>
              </a:spcBef>
              <a:buFont typeface="Arial"/>
              <a:buChar char="•"/>
            </a:pPr>
            <a:r>
              <a:rPr lang="en-US" sz="1400" b="1" i="0" dirty="0">
                <a:solidFill>
                  <a:srgbClr val="1E293B"/>
                </a:solidFill>
                <a:latin typeface="Times New Roman"/>
                <a:cs typeface="Times New Roman"/>
              </a:rPr>
              <a:t>TIGER</a:t>
            </a:r>
            <a:r>
              <a:rPr lang="en-US" sz="1400" b="0" i="0" dirty="0">
                <a:solidFill>
                  <a:srgbClr val="1E293B"/>
                </a:solidFill>
                <a:latin typeface="Times New Roman"/>
                <a:cs typeface="Times New Roman"/>
              </a:rPr>
              <a:t> (NeurIPS'23): RQ-VAE semantic IDs + autoregressive retrieval; </a:t>
            </a:r>
            <a:r>
              <a:rPr lang="en-US" sz="1400" b="1" i="0" dirty="0">
                <a:solidFill>
                  <a:srgbClr val="1E293B"/>
                </a:solidFill>
                <a:latin typeface="Times New Roman"/>
                <a:cs typeface="Times New Roman"/>
              </a:rPr>
              <a:t>LETTER</a:t>
            </a:r>
            <a:r>
              <a:rPr lang="en-US" sz="1400" b="0" i="0" dirty="0">
                <a:solidFill>
                  <a:srgbClr val="1E293B"/>
                </a:solidFill>
                <a:latin typeface="Times New Roman"/>
                <a:cs typeface="Times New Roman"/>
              </a:rPr>
              <a:t> (CIKM'24): learnable tokenizer.</a:t>
            </a:r>
          </a:p>
          <a:p>
            <a:pPr algn="l" marL="219456" indent="-182880">
              <a:spcBef>
                <a:spcPts val="300"/>
              </a:spcBef>
              <a:buFont typeface="Arial"/>
              <a:buChar char="•"/>
            </a:pPr>
            <a:r>
              <a:rPr lang="en-US" sz="1400" b="1" i="0" dirty="0">
                <a:solidFill>
                  <a:srgbClr val="1E293B"/>
                </a:solidFill>
                <a:latin typeface="Times New Roman"/>
                <a:cs typeface="Times New Roman"/>
              </a:rPr>
              <a:t>HSTU</a:t>
            </a:r>
            <a:r>
              <a:rPr lang="en-US" sz="1400" b="0" i="0" dirty="0">
                <a:solidFill>
                  <a:srgbClr val="1E293B"/>
                </a:solidFill>
                <a:latin typeface="Times New Roman"/>
                <a:cs typeface="Times New Roman"/>
              </a:rPr>
              <a:t> (ICML'24): generative recommenders with compute scaling laws.</a:t>
            </a:r>
          </a:p>
          <a:p>
            <a:pPr algn="l" marL="219456" indent="-182880">
              <a:spcBef>
                <a:spcPts val="300"/>
              </a:spcBef>
              <a:buFont typeface="Arial"/>
              <a:buChar char="•"/>
            </a:pPr>
            <a:r>
              <a:rPr lang="en-US" sz="1400" b="0" i="0" dirty="0">
                <a:solidFill>
                  <a:srgbClr val="1E293B"/>
                </a:solidFill>
                <a:latin typeface="Times New Roman"/>
                <a:cs typeface="Times New Roman"/>
              </a:rPr>
              <a:t>2025: </a:t>
            </a:r>
            <a:r>
              <a:rPr lang="en-US" sz="1400" b="1" i="0" dirty="0">
                <a:solidFill>
                  <a:srgbClr val="1E293B"/>
                </a:solidFill>
                <a:latin typeface="Times New Roman"/>
                <a:cs typeface="Times New Roman"/>
              </a:rPr>
              <a:t>ActionPiece</a:t>
            </a:r>
            <a:r>
              <a:rPr lang="en-US" sz="1400" b="0" i="0" dirty="0">
                <a:solidFill>
                  <a:srgbClr val="1E293B"/>
                </a:solidFill>
                <a:latin typeface="Times New Roman"/>
                <a:cs typeface="Times New Roman"/>
              </a:rPr>
              <a:t> (ICML'25) context-aware tokenization; </a:t>
            </a:r>
            <a:r>
              <a:rPr lang="en-US" sz="1400" b="1" i="0" dirty="0">
                <a:solidFill>
                  <a:srgbClr val="1E293B"/>
                </a:solidFill>
                <a:latin typeface="Times New Roman"/>
                <a:cs typeface="Times New Roman"/>
              </a:rPr>
              <a:t>RPG</a:t>
            </a:r>
            <a:r>
              <a:rPr lang="en-US" sz="1400" b="0" i="0" dirty="0">
                <a:solidFill>
                  <a:srgbClr val="1E293B"/>
                </a:solidFill>
                <a:latin typeface="Times New Roman"/>
                <a:cs typeface="Times New Roman"/>
              </a:rPr>
              <a:t> (KDD'25) long semantic IDs in parallel; </a:t>
            </a:r>
            <a:r>
              <a:rPr lang="en-US" sz="1400" b="1" i="0" dirty="0">
                <a:solidFill>
                  <a:srgbClr val="1E293B"/>
                </a:solidFill>
                <a:latin typeface="Times New Roman"/>
                <a:cs typeface="Times New Roman"/>
              </a:rPr>
              <a:t>OneRec</a:t>
            </a:r>
            <a:r>
              <a:rPr lang="en-US" sz="1400" b="0" i="0" dirty="0">
                <a:solidFill>
                  <a:srgbClr val="1E293B"/>
                </a:solidFill>
                <a:latin typeface="Times New Roman"/>
                <a:cs typeface="Times New Roman"/>
              </a:rPr>
              <a:t> (Kuaishou) one generative model for retrieve + rank; </a:t>
            </a:r>
            <a:r>
              <a:rPr lang="en-US" sz="1400" b="1" i="0" dirty="0">
                <a:solidFill>
                  <a:srgbClr val="1E293B"/>
                </a:solidFill>
                <a:latin typeface="Times New Roman"/>
                <a:cs typeface="Times New Roman"/>
              </a:rPr>
              <a:t>GRID</a:t>
            </a:r>
            <a:r>
              <a:rPr lang="en-US" sz="1400" b="0" i="0" dirty="0">
                <a:solidFill>
                  <a:srgbClr val="1E293B"/>
                </a:solidFill>
                <a:latin typeface="Times New Roman"/>
                <a:cs typeface="Times New Roman"/>
              </a:rPr>
              <a:t> (CIKM'25) open framework.</a:t>
            </a:r>
          </a:p>
          <a:p>
            <a:pPr algn="l" marL="219456" indent="-182880">
              <a:spcBef>
                <a:spcPts val="300"/>
              </a:spcBef>
              <a:buFont typeface="Arial"/>
              <a:buChar char="•"/>
            </a:pPr>
            <a:r>
              <a:rPr lang="en-US" sz="1400" b="0" i="0" dirty="0">
                <a:solidFill>
                  <a:srgbClr val="1E293B"/>
                </a:solidFill>
                <a:latin typeface="Times New Roman"/>
                <a:cs typeface="Times New Roman"/>
              </a:rPr>
              <a:t>2026: SID-level evaluation can overstate item-level accuracy through code collisions (Zhang et al.).</a:t>
            </a:r>
          </a:p>
          <a:p>
            <a:pPr algn="l">
              <a:spcBef>
                <a:spcPts val="300"/>
              </a:spcBef>
              <a:buNone/>
            </a:pPr>
            <a:r>
              <a:rPr lang="en-US" sz="1200" b="0" i="1" dirty="0">
                <a:solidFill>
                  <a:srgbClr val="64748B"/>
                </a:solidFill>
                <a:latin typeface="Times New Roman"/>
                <a:cs typeface="Times New Roman"/>
              </a:rPr>
              <a:t>Tested here: RQ-KMeans 3 × 256 codes + a 4-layer SID-GPT used as a slate ranker (H7).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3.3 Directions 6–7, the News-PLM Line &amp; Evaluation Rigor</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Direction 6 — RAG, GraphRAG, agents</a:t>
            </a:r>
          </a:p>
          <a:p>
            <a:pPr algn="l" marL="219456" indent="-182880">
              <a:spcBef>
                <a:spcPts val="300"/>
              </a:spcBef>
              <a:buFont typeface="Arial"/>
              <a:buChar char="•"/>
            </a:pPr>
            <a:r>
              <a:rPr lang="en-US" sz="1450" b="1" i="0" dirty="0">
                <a:solidFill>
                  <a:srgbClr val="1E293B"/>
                </a:solidFill>
                <a:latin typeface="Times New Roman"/>
                <a:cs typeface="Times New Roman"/>
              </a:rPr>
              <a:t>GraphRAG</a:t>
            </a:r>
            <a:r>
              <a:rPr lang="en-US" sz="1450" b="0" i="0" dirty="0">
                <a:solidFill>
                  <a:srgbClr val="1E293B"/>
                </a:solidFill>
                <a:latin typeface="Times New Roman"/>
                <a:cs typeface="Times New Roman"/>
              </a:rPr>
              <a:t> (2024): community summaries over a knowledge graph; </a:t>
            </a:r>
            <a:r>
              <a:rPr lang="en-US" sz="1450" b="1" i="0" dirty="0">
                <a:solidFill>
                  <a:srgbClr val="1E293B"/>
                </a:solidFill>
                <a:latin typeface="Times New Roman"/>
                <a:cs typeface="Times New Roman"/>
              </a:rPr>
              <a:t>K-RagRec</a:t>
            </a:r>
            <a:r>
              <a:rPr lang="en-US" sz="1450" b="0" i="0" dirty="0">
                <a:solidFill>
                  <a:srgbClr val="1E293B"/>
                </a:solidFill>
                <a:latin typeface="Times New Roman"/>
                <a:cs typeface="Times New Roman"/>
              </a:rPr>
              <a:t> (ACL'25): KG retrieval for LLM recommenders.</a:t>
            </a:r>
          </a:p>
          <a:p>
            <a:pPr algn="l" marL="219456" indent="-182880">
              <a:spcBef>
                <a:spcPts val="300"/>
              </a:spcBef>
              <a:buFont typeface="Arial"/>
              <a:buChar char="•"/>
            </a:pPr>
            <a:r>
              <a:rPr lang="en-US" sz="1450" b="0" i="0" dirty="0">
                <a:solidFill>
                  <a:srgbClr val="1E293B"/>
                </a:solidFill>
                <a:latin typeface="Times New Roman"/>
                <a:cs typeface="Times New Roman"/>
              </a:rPr>
              <a:t>LLM-agent recommenders survey (EMNLP-F'25): recommender-, interaction- and simulation-oriented agents.</a:t>
            </a:r>
          </a:p>
          <a:p>
            <a:pPr algn="l">
              <a:spcBef>
                <a:spcPts val="300"/>
              </a:spcBef>
              <a:buNone/>
            </a:pPr>
            <a:r>
              <a:rPr lang="en-US" sz="1250" b="0" i="1" dirty="0">
                <a:solidFill>
                  <a:srgbClr val="64748B"/>
                </a:solidFill>
                <a:latin typeface="Times New Roman"/>
                <a:cs typeface="Times New Roman"/>
              </a:rPr>
              <a:t>Tested here: entity / kNN RAG on article vectors; Louvain communities + Qwen3-1.7B summaries.</a:t>
            </a:r>
          </a:p>
          <a:p>
            <a:pPr algn="l">
              <a:spcBef>
                <a:spcPts val="700"/>
              </a:spcBef>
              <a:buNone/>
            </a:pPr>
            <a:r>
              <a:rPr lang="en-US" sz="1650" b="1" i="0" dirty="0">
                <a:solidFill>
                  <a:srgbClr val="0F1E42"/>
                </a:solidFill>
                <a:latin typeface="Times New Roman"/>
                <a:cs typeface="Times New Roman"/>
              </a:rPr>
              <a:t>Direction 7 — LLM as ranker / judge</a:t>
            </a:r>
          </a:p>
          <a:p>
            <a:pPr algn="l" marL="219456" indent="-182880">
              <a:spcBef>
                <a:spcPts val="300"/>
              </a:spcBef>
              <a:buFont typeface="Arial"/>
              <a:buChar char="•"/>
            </a:pPr>
            <a:r>
              <a:rPr lang="en-US" sz="1450" b="1" i="0" dirty="0">
                <a:solidFill>
                  <a:srgbClr val="1E293B"/>
                </a:solidFill>
                <a:latin typeface="Times New Roman"/>
                <a:cs typeface="Times New Roman"/>
              </a:rPr>
              <a:t>LLMRank</a:t>
            </a:r>
            <a:r>
              <a:rPr lang="en-US" sz="1450" b="0" i="0" dirty="0">
                <a:solidFill>
                  <a:srgbClr val="1E293B"/>
                </a:solidFill>
                <a:latin typeface="Times New Roman"/>
                <a:cs typeface="Times New Roman"/>
              </a:rPr>
              <a:t> (ECIR'24): zero-shot ranking with order and popularity biases; </a:t>
            </a:r>
            <a:r>
              <a:rPr lang="en-US" sz="1450" b="1" i="0" dirty="0">
                <a:solidFill>
                  <a:srgbClr val="1E293B"/>
                </a:solidFill>
                <a:latin typeface="Times New Roman"/>
                <a:cs typeface="Times New Roman"/>
              </a:rPr>
              <a:t>LLM4Rerank</a:t>
            </a:r>
            <a:r>
              <a:rPr lang="en-US" sz="1450" b="0" i="0" dirty="0">
                <a:solidFill>
                  <a:srgbClr val="1E293B"/>
                </a:solidFill>
                <a:latin typeface="Times New Roman"/>
                <a:cs typeface="Times New Roman"/>
              </a:rPr>
              <a:t> (WWW'25).</a:t>
            </a:r>
          </a:p>
          <a:p>
            <a:pPr algn="l">
              <a:spcBef>
                <a:spcPts val="300"/>
              </a:spcBef>
              <a:buNone/>
            </a:pPr>
            <a:r>
              <a:rPr lang="en-US" sz="1250" b="0" i="1" dirty="0">
                <a:solidFill>
                  <a:srgbClr val="64748B"/>
                </a:solidFill>
                <a:latin typeface="Times New Roman"/>
                <a:cs typeface="Times New Roman"/>
              </a:rPr>
              <a:t>Tested here: Qwen3-1.7B Yes/No log-odds judge re-ranking the top-10.</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News recommendation with PLMs</a:t>
            </a:r>
          </a:p>
          <a:p>
            <a:pPr algn="l" marL="219456" indent="-182880">
              <a:spcBef>
                <a:spcPts val="300"/>
              </a:spcBef>
              <a:buFont typeface="Arial"/>
              <a:buChar char="•"/>
            </a:pPr>
            <a:r>
              <a:rPr lang="en-US" sz="1450" b="1" i="0" dirty="0">
                <a:solidFill>
                  <a:srgbClr val="1E293B"/>
                </a:solidFill>
                <a:latin typeface="Times New Roman"/>
                <a:cs typeface="Times New Roman"/>
              </a:rPr>
              <a:t>PLM-NR</a:t>
            </a:r>
            <a:r>
              <a:rPr lang="en-US" sz="1450" b="0" i="0" dirty="0">
                <a:solidFill>
                  <a:srgbClr val="1E293B"/>
                </a:solidFill>
                <a:latin typeface="Times New Roman"/>
                <a:cs typeface="Times New Roman"/>
              </a:rPr>
              <a:t> (SIGIR'21): PLM news encoder, fine-tune the last 2 layers; </a:t>
            </a:r>
            <a:r>
              <a:rPr lang="en-US" sz="1450" b="1" i="0" dirty="0">
                <a:solidFill>
                  <a:srgbClr val="1E293B"/>
                </a:solidFill>
                <a:latin typeface="Times New Roman"/>
                <a:cs typeface="Times New Roman"/>
              </a:rPr>
              <a:t>UNBERT</a:t>
            </a:r>
            <a:r>
              <a:rPr lang="en-US" sz="1450" b="0" i="0" dirty="0">
                <a:solidFill>
                  <a:srgbClr val="1E293B"/>
                </a:solidFill>
                <a:latin typeface="Times New Roman"/>
                <a:cs typeface="Times New Roman"/>
              </a:rPr>
              <a:t> (IJCAI'21); </a:t>
            </a:r>
            <a:r>
              <a:rPr lang="en-US" sz="1450" b="1" i="0" dirty="0">
                <a:solidFill>
                  <a:srgbClr val="1E293B"/>
                </a:solidFill>
                <a:latin typeface="Times New Roman"/>
                <a:cs typeface="Times New Roman"/>
              </a:rPr>
              <a:t>GLORY</a:t>
            </a:r>
            <a:r>
              <a:rPr lang="en-US" sz="1450" b="0" i="0" dirty="0">
                <a:solidFill>
                  <a:srgbClr val="1E293B"/>
                </a:solidFill>
                <a:latin typeface="Times New Roman"/>
                <a:cs typeface="Times New Roman"/>
              </a:rPr>
              <a:t> (RecSys'23).</a:t>
            </a:r>
          </a:p>
          <a:p>
            <a:pPr algn="l" marL="219456" indent="-182880">
              <a:spcBef>
                <a:spcPts val="300"/>
              </a:spcBef>
              <a:buFont typeface="Arial"/>
              <a:buChar char="•"/>
            </a:pPr>
            <a:r>
              <a:rPr lang="en-US" sz="1450" b="0" i="0" dirty="0">
                <a:solidFill>
                  <a:srgbClr val="1E293B"/>
                </a:solidFill>
                <a:latin typeface="Times New Roman"/>
                <a:cs typeface="Times New Roman"/>
              </a:rPr>
              <a:t>Training cost is the bottleneck: </a:t>
            </a:r>
            <a:r>
              <a:rPr lang="en-US" sz="1450" b="1" i="0" dirty="0">
                <a:solidFill>
                  <a:srgbClr val="1E293B"/>
                </a:solidFill>
                <a:latin typeface="Times New Roman"/>
                <a:cs typeface="Times New Roman"/>
              </a:rPr>
              <a:t>SpeedyFeed</a:t>
            </a:r>
            <a:r>
              <a:rPr lang="en-US" sz="1450" b="0" i="0" dirty="0">
                <a:solidFill>
                  <a:srgbClr val="1E293B"/>
                </a:solidFill>
                <a:latin typeface="Times New Roman"/>
                <a:cs typeface="Times New Roman"/>
              </a:rPr>
              <a:t> (KDD'22, &gt; 100× speed-up), </a:t>
            </a:r>
            <a:r>
              <a:rPr lang="en-US" sz="1450" b="1" i="0" dirty="0">
                <a:solidFill>
                  <a:srgbClr val="1E293B"/>
                </a:solidFill>
                <a:latin typeface="Times New Roman"/>
                <a:cs typeface="Times New Roman"/>
              </a:rPr>
              <a:t>GRAM</a:t>
            </a:r>
            <a:r>
              <a:rPr lang="en-US" sz="1450" b="0" i="0" dirty="0">
                <a:solidFill>
                  <a:srgbClr val="1E293B"/>
                </a:solidFill>
                <a:latin typeface="Times New Roman"/>
                <a:cs typeface="Times New Roman"/>
              </a:rPr>
              <a:t> (NAACL'22), </a:t>
            </a:r>
            <a:r>
              <a:rPr lang="en-US" sz="1450" b="1" i="0" dirty="0">
                <a:solidFill>
                  <a:srgbClr val="1E293B"/>
                </a:solidFill>
                <a:latin typeface="Times New Roman"/>
                <a:cs typeface="Times New Roman"/>
              </a:rPr>
              <a:t>Tiny-NewsRec</a:t>
            </a:r>
            <a:r>
              <a:rPr lang="en-US" sz="1450" b="0" i="0" dirty="0">
                <a:solidFill>
                  <a:srgbClr val="1E293B"/>
                </a:solidFill>
                <a:latin typeface="Times New Roman"/>
                <a:cs typeface="Times New Roman"/>
              </a:rPr>
              <a:t> (EMNLP'22).</a:t>
            </a:r>
          </a:p>
          <a:p>
            <a:pPr algn="l" marL="219456" indent="-182880">
              <a:spcBef>
                <a:spcPts val="300"/>
              </a:spcBef>
              <a:buFont typeface="Arial"/>
              <a:buChar char="•"/>
            </a:pPr>
            <a:r>
              <a:rPr lang="en-US" sz="1450" b="1" i="0" dirty="0">
                <a:solidFill>
                  <a:srgbClr val="1E293B"/>
                </a:solidFill>
                <a:latin typeface="Times New Roman"/>
                <a:cs typeface="Times New Roman"/>
              </a:rPr>
              <a:t>EB-NeRD</a:t>
            </a:r>
            <a:r>
              <a:rPr lang="en-US" sz="1450" b="0" i="0" dirty="0">
                <a:solidFill>
                  <a:srgbClr val="1E293B"/>
                </a:solidFill>
                <a:latin typeface="Times New Roman"/>
                <a:cs typeface="Times New Roman"/>
              </a:rPr>
              <a:t> (RecSys Challenge'24) ships article bodies (MIND does not).</a:t>
            </a:r>
          </a:p>
          <a:p>
            <a:pPr algn="l">
              <a:spcBef>
                <a:spcPts val="700"/>
              </a:spcBef>
              <a:buNone/>
            </a:pPr>
            <a:r>
              <a:rPr lang="en-US" sz="1650" b="1" i="0" dirty="0">
                <a:solidFill>
                  <a:srgbClr val="0F1E42"/>
                </a:solidFill>
                <a:latin typeface="Times New Roman"/>
                <a:cs typeface="Times New Roman"/>
              </a:rPr>
              <a:t>Evaluation rigor</a:t>
            </a:r>
          </a:p>
          <a:p>
            <a:pPr algn="l" marL="219456" indent="-182880">
              <a:spcBef>
                <a:spcPts val="300"/>
              </a:spcBef>
              <a:buFont typeface="Arial"/>
              <a:buChar char="•"/>
            </a:pPr>
            <a:r>
              <a:rPr lang="en-US" sz="1450" b="0" i="0" dirty="0">
                <a:solidFill>
                  <a:srgbClr val="1E293B"/>
                </a:solidFill>
                <a:latin typeface="Times New Roman"/>
                <a:cs typeface="Times New Roman"/>
              </a:rPr>
              <a:t>Weak baselines inflate progress (</a:t>
            </a:r>
            <a:r>
              <a:rPr lang="en-US" sz="1450" b="1" i="0" dirty="0">
                <a:solidFill>
                  <a:srgbClr val="1E293B"/>
                </a:solidFill>
                <a:latin typeface="Times New Roman"/>
                <a:cs typeface="Times New Roman"/>
              </a:rPr>
              <a:t>Dacrema et al.</a:t>
            </a:r>
            <a:r>
              <a:rPr lang="en-US" sz="1450" b="0" i="0" dirty="0">
                <a:solidFill>
                  <a:srgbClr val="1E293B"/>
                </a:solidFill>
                <a:latin typeface="Times New Roman"/>
                <a:cs typeface="Times New Roman"/>
              </a:rPr>
              <a:t>, RecSys'19); a reproducibility study finds LLMRec behind established baselines (</a:t>
            </a:r>
            <a:r>
              <a:rPr lang="en-US" sz="1450" b="1" i="0" dirty="0">
                <a:solidFill>
                  <a:srgbClr val="1E293B"/>
                </a:solidFill>
                <a:latin typeface="Times New Roman"/>
                <a:cs typeface="Times New Roman"/>
              </a:rPr>
              <a:t>Fioretti et al.</a:t>
            </a:r>
            <a:r>
              <a:rPr lang="en-US" sz="1450" b="0" i="0" dirty="0">
                <a:solidFill>
                  <a:srgbClr val="1E293B"/>
                </a:solidFill>
                <a:latin typeface="Times New Roman"/>
                <a:cs typeface="Times New Roman"/>
              </a:rPr>
              <a:t>, RecSys'25).</a:t>
            </a:r>
          </a:p>
          <a:p>
            <a:pPr algn="l">
              <a:spcBef>
                <a:spcPts val="300"/>
              </a:spcBef>
              <a:buNone/>
            </a:pPr>
            <a:r>
              <a:rPr lang="en-US" sz="1250" b="0" i="1" dirty="0">
                <a:solidFill>
                  <a:srgbClr val="64748B"/>
                </a:solidFill>
                <a:latin typeface="Times New Roman"/>
                <a:cs typeface="Times New Roman"/>
              </a:rPr>
              <a:t>→ Our protocol: retrained baselines, test touched once, paired CIs, measured seed noise.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4. Data: MIND-small vs MIND-large (measured from run logs)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35240" y="1645920"/>
            <a:ext cx="373075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Reading the table</a:t>
            </a:r>
          </a:p>
          <a:p>
            <a:pPr algn="l" marL="219456" indent="-182880">
              <a:spcBef>
                <a:spcPts val="300"/>
              </a:spcBef>
              <a:buFont typeface="Arial"/>
              <a:buChar char="•"/>
            </a:pPr>
            <a:r>
              <a:rPr lang="en-US" sz="1400" b="0" i="0" dirty="0">
                <a:solidFill>
                  <a:srgbClr val="1E293B"/>
                </a:solidFill>
                <a:latin typeface="Times New Roman"/>
                <a:cs typeface="Times New Roman"/>
              </a:rPr>
              <a:t>Both test sets are overwhelmingly cold; the MIND-large validation day is not.</a:t>
            </a:r>
          </a:p>
          <a:p>
            <a:pPr algn="l" marL="219456" indent="-182880">
              <a:spcBef>
                <a:spcPts val="300"/>
              </a:spcBef>
              <a:buFont typeface="Arial"/>
              <a:buChar char="•"/>
            </a:pPr>
            <a:r>
              <a:rPr lang="en-US" sz="1400" b="0" i="0" dirty="0">
                <a:solidFill>
                  <a:srgbClr val="1E293B"/>
                </a:solidFill>
                <a:latin typeface="Times New Roman"/>
                <a:cs typeface="Times New Roman"/>
              </a:rPr>
              <a:t>Text is short and bodiless → field and aggregation choices matter.</a:t>
            </a:r>
          </a:p>
          <a:p>
            <a:pPr algn="l" marL="219456" indent="-182880">
              <a:spcBef>
                <a:spcPts val="300"/>
              </a:spcBef>
              <a:buFont typeface="Arial"/>
              <a:buChar char="•"/>
            </a:pPr>
            <a:r>
              <a:rPr lang="en-US" sz="1400" b="0" i="0" dirty="0">
                <a:solidFill>
                  <a:srgbClr val="1E293B"/>
                </a:solidFill>
                <a:latin typeface="Times New Roman"/>
                <a:cs typeface="Times New Roman"/>
              </a:rPr>
              <a:t>Most readers have &lt; 50 clicks → longer histories barely help (+0.001).</a:t>
            </a:r>
          </a:p>
          <a:p>
            <a:pPr algn="l" marL="219456" indent="-182880">
              <a:spcBef>
                <a:spcPts val="300"/>
              </a:spcBef>
              <a:buFont typeface="Arial"/>
              <a:buChar char="•"/>
            </a:pPr>
            <a:r>
              <a:rPr lang="en-US" sz="1400" b="0" i="0" dirty="0">
                <a:solidFill>
                  <a:srgbClr val="1E293B"/>
                </a:solidFill>
                <a:latin typeface="Times New Roman"/>
                <a:cs typeface="Times New Roman"/>
              </a:rPr>
              <a:t>MIND-large forced a lean loader, subsampled validation / training and a RAM-aware pipeline (Section 4.3).</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Counts printed by the data audit and loaders of runs v13 (small) and v14–v16b (large).</a:t>
            </a:r>
          </a:p>
        </p:txBody>
      </p:sp>
      <p:graphicFrame>
        <p:nvGraphicFramePr>
          <p:cNvPr id="7" name="Table 6"/>
          <p:cNvGraphicFramePr>
            <a:graphicFrameLocks noGrp="1"/>
          </p:cNvGraphicFramePr>
          <p:nvPr/>
        </p:nvGraphicFramePr>
        <p:xfrm>
          <a:off x="822960" y="1645920"/>
          <a:ext cx="6492240" cy="3922776"/>
        </p:xfrm>
        <a:graphic>
          <a:graphicData uri="http://schemas.openxmlformats.org/drawingml/2006/table">
            <a:tbl>
              <a:tblPr firstRow="1">
                <a:tableStyleId>{5C22544A-7EE6-4342-B048-85BDC9FD1C3A}</a:tableStyleId>
              </a:tblPr>
              <a:tblGrid>
                <a:gridCol w="2788920"/>
                <a:gridCol w="1691640"/>
                <a:gridCol w="2011680"/>
              </a:tblGrid>
              <a:tr h="301752">
                <a:tc>
                  <a:txBody>
                    <a:bodyPr/>
                    <a:lstStyle/>
                    <a:p>
                      <a:pPr algn="ctr">
                        <a:spcBef>
                          <a:spcPts val="0"/>
                        </a:spcBef>
                        <a:buNone/>
                      </a:pPr>
                      <a:r>
                        <a:rPr lang="en-US" sz="1100" b="1" i="0" dirty="0">
                          <a:solidFill>
                            <a:srgbClr val="FFFFFF"/>
                          </a:solidFill>
                          <a:latin typeface="Times New Roman"/>
                          <a:cs typeface="Times New Roman"/>
                        </a:rPr>
                        <a:t>Statistic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MIND-small</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MIND-large</a:t>
                      </a:r>
                    </a:p>
                  </a:txBody>
                  <a:tcPr marL="54864" marR="54864" marT="22860" marB="22860" anchor="ctr">
                    <a:solidFill>
                      <a:srgbClr val="0F1E42"/>
                    </a:solidFill>
                  </a:tcPr>
                </a:tc>
              </a:tr>
              <a:tr h="301752">
                <a:tc>
                  <a:txBody>
                    <a:bodyPr/>
                    <a:lstStyle/>
                    <a:p>
                      <a:pPr algn="l">
                        <a:spcBef>
                          <a:spcPts val="0"/>
                        </a:spcBef>
                        <a:buNone/>
                      </a:pPr>
                      <a:r>
                        <a:rPr lang="en-US" sz="1100" b="0" i="0" dirty="0">
                          <a:solidFill>
                            <a:srgbClr val="0F1E42"/>
                          </a:solidFill>
                          <a:latin typeface="Times New Roman"/>
                          <a:cs typeface="Times New Roman"/>
                        </a:rPr>
                        <a:t>Articles (train + dev merged)</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65,238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104,151</a:t>
                      </a:r>
                    </a:p>
                  </a:txBody>
                  <a:tcPr marL="54864" marR="54864" marT="22860" marB="22860" anchor="ctr">
                    <a:solidFill>
                      <a:srgbClr val="FFFFFF"/>
                    </a:solidFill>
                  </a:tcPr>
                </a:tc>
              </a:tr>
              <a:tr h="301752">
                <a:tc>
                  <a:txBody>
                    <a:bodyPr/>
                    <a:lstStyle/>
                    <a:p>
                      <a:pPr algn="l">
                        <a:spcBef>
                          <a:spcPts val="0"/>
                        </a:spcBef>
                        <a:buNone/>
                      </a:pPr>
                      <a:r>
                        <a:rPr lang="en-US" sz="1100" b="0" i="0" dirty="0">
                          <a:solidFill>
                            <a:srgbClr val="0F1E42"/>
                          </a:solidFill>
                          <a:latin typeface="Times New Roman"/>
                          <a:cs typeface="Times New Roman"/>
                        </a:rPr>
                        <a:t>Official train impressions</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156,965</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2,232,748</a:t>
                      </a:r>
                    </a:p>
                  </a:txBody>
                  <a:tcPr marL="54864" marR="54864" marT="22860" marB="22860" anchor="ctr">
                    <a:solidFill>
                      <a:srgbClr val="F8FAFC"/>
                    </a:solidFill>
                  </a:tcPr>
                </a:tc>
              </a:tr>
              <a:tr h="301752">
                <a:tc>
                  <a:txBody>
                    <a:bodyPr/>
                    <a:lstStyle/>
                    <a:p>
                      <a:pPr algn="l">
                        <a:spcBef>
                          <a:spcPts val="0"/>
                        </a:spcBef>
                        <a:buNone/>
                      </a:pPr>
                      <a:r>
                        <a:rPr lang="en-US" sz="1100" b="0" i="0" dirty="0">
                          <a:solidFill>
                            <a:srgbClr val="0F1E42"/>
                          </a:solidFill>
                          <a:latin typeface="Times New Roman"/>
                          <a:cs typeface="Times New Roman"/>
                        </a:rPr>
                        <a:t>  train_core / validation (last day)</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126,695 / 30,270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1,801,231 / 431,517</a:t>
                      </a:r>
                    </a:p>
                  </a:txBody>
                  <a:tcPr marL="54864" marR="54864" marT="22860" marB="22860" anchor="ctr">
                    <a:solidFill>
                      <a:srgbClr val="FFFFFF"/>
                    </a:solidFill>
                  </a:tcPr>
                </a:tc>
              </a:tr>
              <a:tr h="301752">
                <a:tc>
                  <a:txBody>
                    <a:bodyPr/>
                    <a:lstStyle/>
                    <a:p>
                      <a:pPr algn="l">
                        <a:spcBef>
                          <a:spcPts val="0"/>
                        </a:spcBef>
                        <a:buNone/>
                      </a:pPr>
                      <a:r>
                        <a:rPr lang="en-US" sz="1100" b="0" i="0" dirty="0">
                          <a:solidFill>
                            <a:srgbClr val="0F1E42"/>
                          </a:solidFill>
                          <a:latin typeface="Times New Roman"/>
                          <a:cs typeface="Times New Roman"/>
                        </a:rPr>
                        <a:t>Validation actually used</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30,270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60k (v14); 150k (v15+)</a:t>
                      </a:r>
                    </a:p>
                  </a:txBody>
                  <a:tcPr marL="54864" marR="54864" marT="22860" marB="22860" anchor="ctr">
                    <a:solidFill>
                      <a:srgbClr val="F8FAFC"/>
                    </a:solidFill>
                  </a:tcPr>
                </a:tc>
              </a:tr>
              <a:tr h="301752">
                <a:tc>
                  <a:txBody>
                    <a:bodyPr/>
                    <a:lstStyle/>
                    <a:p>
                      <a:pPr algn="l">
                        <a:spcBef>
                          <a:spcPts val="0"/>
                        </a:spcBef>
                        <a:buNone/>
                      </a:pPr>
                      <a:r>
                        <a:rPr lang="en-US" sz="1100" b="0" i="0" dirty="0">
                          <a:solidFill>
                            <a:srgbClr val="0F1E42"/>
                          </a:solidFill>
                          <a:latin typeface="Times New Roman"/>
                          <a:cs typeface="Times New Roman"/>
                        </a:rPr>
                        <a:t>Test impressions (official dev)</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73,152</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376,471</a:t>
                      </a:r>
                    </a:p>
                  </a:txBody>
                  <a:tcPr marL="54864" marR="54864" marT="22860" marB="22860" anchor="ctr">
                    <a:solidFill>
                      <a:srgbClr val="FFFFFF"/>
                    </a:solidFill>
                  </a:tcPr>
                </a:tc>
              </a:tr>
              <a:tr h="301752">
                <a:tc>
                  <a:txBody>
                    <a:bodyPr/>
                    <a:lstStyle/>
                    <a:p>
                      <a:pPr algn="l">
                        <a:spcBef>
                          <a:spcPts val="0"/>
                        </a:spcBef>
                        <a:buNone/>
                      </a:pPr>
                      <a:r>
                        <a:rPr lang="en-US" sz="1100" b="0" i="0" dirty="0">
                          <a:solidFill>
                            <a:srgbClr val="0F1E42"/>
                          </a:solidFill>
                          <a:latin typeface="Times New Roman"/>
                          <a:cs typeface="Times New Roman"/>
                        </a:rPr>
                        <a:t>Training samples (click + 4 negatives)</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2.71 M (0.6 M v14; 1.2 M v15+)</a:t>
                      </a:r>
                    </a:p>
                  </a:txBody>
                  <a:tcPr marL="54864" marR="54864" marT="22860" marB="22860" anchor="ctr">
                    <a:solidFill>
                      <a:srgbClr val="F8FAFC"/>
                    </a:solidFill>
                  </a:tcPr>
                </a:tc>
              </a:tr>
              <a:tr h="301752">
                <a:tc>
                  <a:txBody>
                    <a:bodyPr/>
                    <a:lstStyle/>
                    <a:p>
                      <a:pPr algn="l">
                        <a:spcBef>
                          <a:spcPts val="0"/>
                        </a:spcBef>
                        <a:buNone/>
                      </a:pPr>
                      <a:r>
                        <a:rPr lang="en-US" sz="1100" b="0" i="0" dirty="0">
                          <a:solidFill>
                            <a:srgbClr val="0F1E42"/>
                          </a:solidFill>
                          <a:latin typeface="Times New Roman"/>
                          <a:cs typeface="Times New Roman"/>
                        </a:rPr>
                        <a:t>Categories / subcategories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18 / 270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301752">
                <a:tc>
                  <a:txBody>
                    <a:bodyPr/>
                    <a:lstStyle/>
                    <a:p>
                      <a:pPr algn="l">
                        <a:spcBef>
                          <a:spcPts val="0"/>
                        </a:spcBef>
                        <a:buNone/>
                      </a:pPr>
                      <a:r>
                        <a:rPr lang="en-US" sz="1100" b="0" i="0" dirty="0">
                          <a:solidFill>
                            <a:srgbClr val="0F1E42"/>
                          </a:solidFill>
                          <a:latin typeface="Times New Roman"/>
                          <a:cs typeface="Times New Roman"/>
                        </a:rPr>
                        <a:t>Title / abstract length (words)</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10.7 / 34.9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301752">
                <a:tc>
                  <a:txBody>
                    <a:bodyPr/>
                    <a:lstStyle/>
                    <a:p>
                      <a:pPr algn="l">
                        <a:spcBef>
                          <a:spcPts val="0"/>
                        </a:spcBef>
                        <a:buNone/>
                      </a:pPr>
                      <a:r>
                        <a:rPr lang="en-US" sz="1100" b="0" i="0" dirty="0">
                          <a:solidFill>
                            <a:srgbClr val="0F1E42"/>
                          </a:solidFill>
                          <a:latin typeface="Times New Roman"/>
                          <a:cs typeface="Times New Roman"/>
                        </a:rPr>
                        <a:t>Articles with entity names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87.5% (2.4 / article)</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301752">
                <a:tc>
                  <a:txBody>
                    <a:bodyPr/>
                    <a:lstStyle/>
                    <a:p>
                      <a:pPr algn="l">
                        <a:spcBef>
                          <a:spcPts val="0"/>
                        </a:spcBef>
                        <a:buNone/>
                      </a:pPr>
                      <a:r>
                        <a:rPr lang="en-US" sz="1100" b="0" i="0" dirty="0">
                          <a:solidFill>
                            <a:srgbClr val="0F1E42"/>
                          </a:solidFill>
                          <a:latin typeface="Times New Roman"/>
                          <a:cs typeface="Times New Roman"/>
                        </a:rPr>
                        <a:t>Test readers' history length</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mean 32.3; 19.6% &gt; 50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301752">
                <a:tc>
                  <a:txBody>
                    <a:bodyPr/>
                    <a:lstStyle/>
                    <a:p>
                      <a:pPr algn="l">
                        <a:spcBef>
                          <a:spcPts val="0"/>
                        </a:spcBef>
                        <a:buNone/>
                      </a:pPr>
                      <a:r>
                        <a:rPr lang="en-US" sz="1100" b="1" i="0" dirty="0">
                          <a:solidFill>
                            <a:srgbClr val="0F1E42"/>
                          </a:solidFill>
                          <a:latin typeface="Times New Roman"/>
                          <a:cs typeface="Times New Roman"/>
                        </a:rPr>
                        <a:t>Test clicks on cold articles</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85.9%</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82.2% (val. 18.1%)</a:t>
                      </a:r>
                    </a:p>
                  </a:txBody>
                  <a:tcPr marL="54864" marR="54864" marT="22860" marB="22860" anchor="ctr">
                    <a:solidFill>
                      <a:srgbClr val="FEE2E2"/>
                    </a:solidFill>
                  </a:tcPr>
                </a:tc>
              </a:tr>
              <a:tr h="301752">
                <a:tc>
                  <a:txBody>
                    <a:bodyPr/>
                    <a:lstStyle/>
                    <a:p>
                      <a:pPr algn="l">
                        <a:spcBef>
                          <a:spcPts val="0"/>
                        </a:spcBef>
                        <a:buNone/>
                      </a:pPr>
                      <a:r>
                        <a:rPr lang="en-US" sz="1100" b="0" i="0" dirty="0">
                          <a:solidFill>
                            <a:srgbClr val="0F1E42"/>
                          </a:solidFill>
                          <a:latin typeface="Times New Roman"/>
                          <a:cs typeface="Times New Roman"/>
                        </a:rPr>
                        <a:t>Article body text</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not provided</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not provided</a:t>
                      </a:r>
                    </a:p>
                  </a:txBody>
                  <a:tcPr marL="54864" marR="54864" marT="22860" marB="22860" anchor="ctr">
                    <a:solidFill>
                      <a:srgbClr val="F8FA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4.1 Finding 1: Test Clicks Are Cold, the Validation Day Is Warm</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95160" y="1627632"/>
            <a:ext cx="43708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What we measured</a:t>
            </a:r>
          </a:p>
          <a:p>
            <a:pPr algn="l" marL="219456" indent="-182880">
              <a:spcBef>
                <a:spcPts val="300"/>
              </a:spcBef>
              <a:buFont typeface="Arial"/>
              <a:buChar char="•"/>
            </a:pPr>
            <a:r>
              <a:rPr lang="en-US" sz="1400" b="0" i="0" dirty="0">
                <a:solidFill>
                  <a:srgbClr val="1E293B"/>
                </a:solidFill>
                <a:latin typeface="Times New Roman"/>
                <a:cs typeface="Times New Roman"/>
              </a:rPr>
              <a:t>Cold = the clicked article appears in no training row (history or impression).</a:t>
            </a:r>
          </a:p>
          <a:p>
            <a:pPr algn="l" marL="219456" indent="-182880">
              <a:spcBef>
                <a:spcPts val="300"/>
              </a:spcBef>
              <a:buFont typeface="Arial"/>
              <a:buChar char="•"/>
            </a:pPr>
            <a:r>
              <a:rPr lang="en-US" sz="1400" b="0" i="0" dirty="0">
                <a:solidFill>
                  <a:srgbClr val="1E293B"/>
                </a:solidFill>
                <a:latin typeface="Times New Roman"/>
                <a:cs typeface="Times New Roman"/>
              </a:rPr>
              <a:t>Test: 85.9% (small) and 82.2% (large) of clicks are cold; MIND-large validation: 18.1%.</a:t>
            </a:r>
          </a:p>
          <a:p>
            <a:pPr algn="l">
              <a:spcBef>
                <a:spcPts val="700"/>
              </a:spcBef>
              <a:buNone/>
            </a:pPr>
            <a:r>
              <a:rPr lang="en-US" sz="1600" b="1" i="0" dirty="0">
                <a:solidFill>
                  <a:srgbClr val="0F1E42"/>
                </a:solidFill>
                <a:latin typeface="Times New Roman"/>
                <a:cs typeface="Times New Roman"/>
              </a:rPr>
              <a:t>Why it matters</a:t>
            </a:r>
          </a:p>
          <a:p>
            <a:pPr algn="l" marL="219456" indent="-182880">
              <a:spcBef>
                <a:spcPts val="300"/>
              </a:spcBef>
              <a:buFont typeface="Arial"/>
              <a:buChar char="•"/>
            </a:pPr>
            <a:r>
              <a:rPr lang="en-US" sz="1400" b="0" i="0" dirty="0">
                <a:solidFill>
                  <a:srgbClr val="1E293B"/>
                </a:solidFill>
                <a:latin typeface="Times New Roman"/>
                <a:cs typeface="Times New Roman"/>
              </a:rPr>
              <a:t>On warm articles click-trained models win (warm AUC 0.56–0.64 vs 0.44–0.54 for zero-shot embeddings).</a:t>
            </a:r>
          </a:p>
          <a:p>
            <a:pPr algn="l" marL="219456" indent="-182880">
              <a:spcBef>
                <a:spcPts val="300"/>
              </a:spcBef>
              <a:buFont typeface="Arial"/>
              <a:buChar char="•"/>
            </a:pPr>
            <a:r>
              <a:rPr lang="en-US" sz="1400" b="0" i="0" dirty="0">
                <a:solidFill>
                  <a:srgbClr val="1E293B"/>
                </a:solidFill>
                <a:latin typeface="Times New Roman"/>
                <a:cs typeface="Times New Roman"/>
              </a:rPr>
              <a:t>Frozen title + abstract embeddings have warm AUC &lt; 0.5 (BGE-small 0.4416): similarity to the history anti-correlates with clicks on seen articles.</a:t>
            </a:r>
          </a:p>
          <a:p>
            <a:pPr algn="l" marL="219456" indent="-182880">
              <a:spcBef>
                <a:spcPts val="300"/>
              </a:spcBef>
              <a:buFont typeface="Arial"/>
              <a:buChar char="•"/>
            </a:pPr>
            <a:r>
              <a:rPr lang="en-US" sz="1400" b="0" i="0" dirty="0">
                <a:solidFill>
                  <a:srgbClr val="1E293B"/>
                </a:solidFill>
                <a:latin typeface="Times New Roman"/>
                <a:cs typeface="Times New Roman"/>
              </a:rPr>
              <a:t>Fix (v16): select fusion weights on a cold-weighted validation nDCG@10 (80% cold).</a:t>
            </a:r>
          </a:p>
        </p:txBody>
      </p:sp>
      <p:pic>
        <p:nvPicPr>
          <p:cNvPr id="6" name="Picture 5" descr="s_cold.png"/>
          <p:cNvPicPr>
            <a:picLocks noChangeAspect="1"/>
          </p:cNvPicPr>
          <p:nvPr/>
        </p:nvPicPr>
        <p:blipFill>
          <a:blip r:embed="rId3"/>
          <a:stretch>
            <a:fillRect/>
          </a:stretch>
        </p:blipFill>
        <p:spPr>
          <a:xfrm>
            <a:off x="822960" y="2208371"/>
            <a:ext cx="5943600" cy="271557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4.2 Finding 2: A Warm Validation Day Misleads Model Selection (v14)</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86600" y="1627632"/>
            <a:ext cx="427939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Gain over frozen: validation vs test</a:t>
            </a:r>
          </a:p>
          <a:p>
            <a:pPr algn="l" marL="219456" indent="-182880">
              <a:spcBef>
                <a:spcPts val="300"/>
              </a:spcBef>
              <a:buFont typeface="Arial"/>
              <a:buChar char="•"/>
            </a:pPr>
            <a:r>
              <a:rPr lang="en-US" sz="1400" b="0" i="0" dirty="0">
                <a:solidFill>
                  <a:srgbClr val="1E293B"/>
                </a:solidFill>
                <a:latin typeface="Times New Roman"/>
                <a:cs typeface="Times New Roman"/>
              </a:rPr>
              <a:t>Zero-shot scorers keep most of their gain (test − validation: −0.005 … −0.009).</a:t>
            </a:r>
          </a:p>
          <a:p>
            <a:pPr algn="l" marL="219456" indent="-182880">
              <a:spcBef>
                <a:spcPts val="300"/>
              </a:spcBef>
              <a:buFont typeface="Arial"/>
              <a:buChar char="•"/>
            </a:pPr>
            <a:r>
              <a:rPr lang="en-US" sz="1400" b="0" i="0" dirty="0">
                <a:solidFill>
                  <a:srgbClr val="1E293B"/>
                </a:solidFill>
                <a:latin typeface="Times New Roman"/>
                <a:cs typeface="Times New Roman"/>
              </a:rPr>
              <a:t>Learned readers lose 0.035–0.040 (um_knn_rag +0.065 → +0.030).</a:t>
            </a:r>
          </a:p>
          <a:p>
            <a:pPr algn="l" marL="219456" indent="-182880">
              <a:spcBef>
                <a:spcPts val="300"/>
              </a:spcBef>
              <a:buFont typeface="Arial"/>
              <a:buChar char="•"/>
            </a:pPr>
            <a:r>
              <a:rPr lang="en-US" sz="1400" b="1" i="0" dirty="0">
                <a:solidFill>
                  <a:srgbClr val="1E293B"/>
                </a:solidFill>
                <a:latin typeface="Times New Roman"/>
                <a:cs typeface="Times New Roman"/>
              </a:rPr>
              <a:t>kNN-RAG (+0.013 → −0.004) and GraphRAG (+0.020 → −0.007) flip sign.</a:t>
            </a:r>
          </a:p>
          <a:p>
            <a:pPr algn="l">
              <a:spcBef>
                <a:spcPts val="700"/>
              </a:spcBef>
              <a:buNone/>
            </a:pPr>
            <a:r>
              <a:rPr lang="en-US" sz="1600" b="1" i="0" dirty="0">
                <a:solidFill>
                  <a:srgbClr val="0F1E42"/>
                </a:solidFill>
                <a:latin typeface="Times New Roman"/>
                <a:cs typeface="Times New Roman"/>
              </a:rPr>
              <a:t>Consequence</a:t>
            </a:r>
          </a:p>
          <a:p>
            <a:pPr algn="l" marL="219456" indent="-182880">
              <a:spcBef>
                <a:spcPts val="300"/>
              </a:spcBef>
              <a:buFont typeface="Arial"/>
              <a:buChar char="•"/>
            </a:pPr>
            <a:r>
              <a:rPr lang="en-US" sz="1400" b="0" i="0" dirty="0">
                <a:solidFill>
                  <a:srgbClr val="1E293B"/>
                </a:solidFill>
                <a:latin typeface="Times New Roman"/>
                <a:cs typeface="Times New Roman"/>
              </a:rPr>
              <a:t>Adding 3 readers + a 100-click history to the fusion raised validation (0.4152 → 0.4177) but lowered test: −0.0014 [−0.0017, −0.0011].</a:t>
            </a:r>
          </a:p>
          <a:p>
            <a:pPr algn="l" marL="219456" indent="-182880">
              <a:spcBef>
                <a:spcPts val="300"/>
              </a:spcBef>
              <a:buFont typeface="Arial"/>
              <a:buChar char="•"/>
            </a:pPr>
            <a:r>
              <a:rPr lang="en-US" sz="1400" b="0" i="0" dirty="0">
                <a:solidFill>
                  <a:srgbClr val="1E293B"/>
                </a:solidFill>
                <a:latin typeface="Times New Roman"/>
                <a:cs typeface="Times New Roman"/>
              </a:rPr>
              <a:t>Every row is "easier" on test (even random vectors +0.020): compare deltas against a control, never absolute levels across splits.</a:t>
            </a:r>
          </a:p>
        </p:txBody>
      </p:sp>
      <p:pic>
        <p:nvPicPr>
          <p:cNvPr id="6" name="Picture 5" descr="s_valtest.png"/>
          <p:cNvPicPr>
            <a:picLocks noChangeAspect="1"/>
          </p:cNvPicPr>
          <p:nvPr/>
        </p:nvPicPr>
        <p:blipFill>
          <a:blip r:embed="rId3"/>
          <a:stretch>
            <a:fillRect/>
          </a:stretch>
        </p:blipFill>
        <p:spPr>
          <a:xfrm>
            <a:off x="822960" y="1922457"/>
            <a:ext cx="6035040" cy="3561727"/>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4.3 Findings 3–5: Text Fields, Popularity and Memory</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Text fields matter (v13, MIND-small)</a:t>
            </a:r>
          </a:p>
          <a:p>
            <a:pPr algn="l" marL="219456" indent="-182880">
              <a:spcBef>
                <a:spcPts val="300"/>
              </a:spcBef>
              <a:buFont typeface="Arial"/>
              <a:buChar char="•"/>
            </a:pPr>
            <a:r>
              <a:rPr lang="en-US" sz="1400" b="0" i="0" dirty="0">
                <a:solidFill>
                  <a:srgbClr val="1E293B"/>
                </a:solidFill>
                <a:latin typeface="Times New Roman"/>
                <a:cs typeface="Times New Roman"/>
              </a:rPr>
              <a:t>Dropping the abstract: −0.016 to −0.032 nDCG@10.</a:t>
            </a:r>
          </a:p>
          <a:p>
            <a:pPr algn="l" marL="219456" indent="-182880">
              <a:spcBef>
                <a:spcPts val="300"/>
              </a:spcBef>
              <a:buFont typeface="Arial"/>
              <a:buChar char="•"/>
            </a:pPr>
            <a:r>
              <a:rPr lang="en-US" sz="1400" b="0" i="0" dirty="0">
                <a:solidFill>
                  <a:srgbClr val="1E293B"/>
                </a:solidFill>
                <a:latin typeface="Times New Roman"/>
                <a:cs typeface="Times New Roman"/>
              </a:rPr>
              <a:t>Category / subcategory in the text: </a:t>
            </a:r>
            <a:r>
              <a:rPr lang="en-US" sz="1400" b="1" i="0" dirty="0">
                <a:solidFill>
                  <a:srgbClr val="1E293B"/>
                </a:solidFill>
                <a:latin typeface="Times New Roman"/>
                <a:cs typeface="Times New Roman"/>
              </a:rPr>
              <a:t>Qwen3 +0.0182</a:t>
            </a:r>
            <a:r>
              <a:rPr lang="en-US" sz="1400" b="0" i="0" dirty="0">
                <a:solidFill>
                  <a:srgbClr val="1E293B"/>
                </a:solidFill>
                <a:latin typeface="Times New Roman"/>
                <a:cs typeface="Times New Roman"/>
              </a:rPr>
              <a:t> [+0.0169, +0.0196], validation agrees; BGE-small +0.0013 (validation disagrees). Same on MIND-large: Qwen3 +0.0186, BGE-large −0.0030.</a:t>
            </a:r>
          </a:p>
          <a:p>
            <a:pPr algn="l" marL="219456" indent="-182880">
              <a:spcBef>
                <a:spcPts val="300"/>
              </a:spcBef>
              <a:buFont typeface="Arial"/>
              <a:buChar char="•"/>
            </a:pPr>
            <a:r>
              <a:rPr lang="en-US" sz="1400" b="0" i="0" dirty="0">
                <a:solidFill>
                  <a:srgbClr val="1E293B"/>
                </a:solidFill>
                <a:latin typeface="Times New Roman"/>
                <a:cs typeface="Times New Roman"/>
              </a:rPr>
              <a:t>The gain sits in the warm slice (warm AUC 0.4939 → 0.6180; cold +0.0005).</a:t>
            </a:r>
          </a:p>
          <a:p>
            <a:pPr algn="l" marL="219456" indent="-182880">
              <a:spcBef>
                <a:spcPts val="300"/>
              </a:spcBef>
              <a:buFont typeface="Arial"/>
              <a:buChar char="•"/>
            </a:pPr>
            <a:r>
              <a:rPr lang="en-US" sz="1400" b="0" i="0" dirty="0">
                <a:solidFill>
                  <a:srgbClr val="1E293B"/>
                </a:solidFill>
                <a:latin typeface="Times New Roman"/>
                <a:cs typeface="Times New Roman"/>
              </a:rPr>
              <a:t>Entity names +0.0033; 100 / 200-click histories ≈ +0.001.</a:t>
            </a:r>
          </a:p>
          <a:p>
            <a:pPr algn="l">
              <a:spcBef>
                <a:spcPts val="700"/>
              </a:spcBef>
              <a:buNone/>
            </a:pPr>
            <a:r>
              <a:rPr lang="en-US" sz="1600" b="1" i="0" dirty="0">
                <a:solidFill>
                  <a:srgbClr val="0F1E42"/>
                </a:solidFill>
                <a:latin typeface="Times New Roman"/>
                <a:cs typeface="Times New Roman"/>
              </a:rPr>
              <a:t>Popularity: strong but streaming</a:t>
            </a:r>
          </a:p>
          <a:p>
            <a:pPr algn="l" marL="219456" indent="-182880">
              <a:spcBef>
                <a:spcPts val="300"/>
              </a:spcBef>
              <a:buFont typeface="Arial"/>
              <a:buChar char="•"/>
            </a:pPr>
            <a:r>
              <a:rPr lang="en-US" sz="1400" b="0" i="0" dirty="0">
                <a:solidFill>
                  <a:srgbClr val="1E293B"/>
                </a:solidFill>
                <a:latin typeface="Times New Roman"/>
                <a:cs typeface="Times New Roman"/>
              </a:rPr>
              <a:t>Online popularity alone: 0.4026 (small) / 0.4040 (large) nDCG@10 — above every V10 neural model; it reads earlier clicks of the test day → kept in a separate "+pop" frame.</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Scale &amp; memory (MIND-large)</a:t>
            </a:r>
          </a:p>
          <a:p>
            <a:pPr algn="l" marL="219456" indent="-182880">
              <a:spcBef>
                <a:spcPts val="300"/>
              </a:spcBef>
              <a:buFont typeface="Arial"/>
              <a:buChar char="•"/>
            </a:pPr>
            <a:r>
              <a:rPr lang="en-US" sz="1400" b="0" i="0" dirty="0">
                <a:solidFill>
                  <a:srgbClr val="1E293B"/>
                </a:solidFill>
                <a:latin typeface="Times New Roman"/>
                <a:cs typeface="Times New Roman"/>
              </a:rPr>
              <a:t>True peak RAM 21.2 GB (stacker stage; 32 GB container; GPU 5.0 GB), measured from v16b on.</a:t>
            </a:r>
          </a:p>
          <a:p>
            <a:pPr algn="l" marL="219456" indent="-182880">
              <a:spcBef>
                <a:spcPts val="300"/>
              </a:spcBef>
              <a:buFont typeface="Arial"/>
              <a:buChar char="•"/>
            </a:pPr>
            <a:r>
              <a:rPr lang="en-US" sz="1400" b="0" i="0" dirty="0">
                <a:solidFill>
                  <a:srgbClr val="1E293B"/>
                </a:solidFill>
                <a:latin typeface="Times New Roman"/>
                <a:cs typeface="Times New Roman"/>
              </a:rPr>
              <a:t>v15's "16.2 GB" was an end-of-stage snapshot, not a peak.</a:t>
            </a:r>
          </a:p>
          <a:p>
            <a:pPr algn="l" marL="219456" indent="-182880">
              <a:spcBef>
                <a:spcPts val="300"/>
              </a:spcBef>
              <a:buFont typeface="Arial"/>
              <a:buChar char="•"/>
            </a:pPr>
            <a:r>
              <a:rPr lang="en-US" sz="1400" b="0" i="0" dirty="0">
                <a:solidFill>
                  <a:srgbClr val="1E293B"/>
                </a:solidFill>
                <a:latin typeface="Times New Roman"/>
                <a:cs typeface="Times New Roman"/>
              </a:rPr>
              <a:t>v16 died after 1.6 h: the kNN-view gather allocated 2 × [104,151 × 20 × 2,048] float32 = 34.1 GB.</a:t>
            </a:r>
          </a:p>
          <a:p>
            <a:pPr algn="l" marL="219456" indent="-182880">
              <a:spcBef>
                <a:spcPts val="300"/>
              </a:spcBef>
              <a:buFont typeface="Arial"/>
              <a:buChar char="•"/>
            </a:pPr>
            <a:r>
              <a:rPr lang="en-US" sz="1400" b="0" i="0" dirty="0">
                <a:solidFill>
                  <a:srgbClr val="1E293B"/>
                </a:solidFill>
                <a:latin typeface="Times New Roman"/>
                <a:cs typeface="Times New Roman"/>
              </a:rPr>
              <a:t>Chunked computation (≈ 600 MB blocks): identical results (&lt; 1e-6), +0.46 GB peak.</a:t>
            </a:r>
          </a:p>
          <a:p>
            <a:pPr algn="l" marL="219456" indent="-182880">
              <a:spcBef>
                <a:spcPts val="300"/>
              </a:spcBef>
              <a:buFont typeface="Arial"/>
              <a:buChar char="•"/>
            </a:pPr>
            <a:r>
              <a:rPr lang="en-US" sz="1400" b="0" i="0" dirty="0">
                <a:solidFill>
                  <a:srgbClr val="1E293B"/>
                </a:solidFill>
                <a:latin typeface="Times New Roman"/>
                <a:cs typeface="Times New Roman"/>
              </a:rPr>
              <a:t>Free Colab (~12.7 GB) is not enough at this scale; ≥ 24 GB is needed.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5. Evaluation Protocol &amp; Leakage Controls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10543032" cy="4224528"/>
          </a:xfrm>
          <a:prstGeom prst="rect">
            <a:avLst/>
          </a:prstGeom>
          <a:noFill/>
        </p:spPr>
        <p:txBody>
          <a:bodyPr wrap="square">
            <a:spAutoFit/>
          </a:bodyPr>
          <a:lstStyle/>
          <a:p>
            <a:pPr algn="l">
              <a:spcBef>
                <a:spcPts val="0"/>
              </a:spcBef>
              <a:buNone/>
            </a:pPr>
            <a:r>
              <a:rPr lang="en-US" sz="1700" b="1" i="0" dirty="0">
                <a:solidFill>
                  <a:srgbClr val="0F1E42"/>
                </a:solidFill>
                <a:latin typeface="Times New Roman"/>
                <a:cs typeface="Times New Roman"/>
              </a:rPr>
              <a:t>Chronological split, test touched once</a:t>
            </a:r>
          </a:p>
          <a:p>
            <a:pPr algn="l" marL="219456" indent="-182880">
              <a:spcBef>
                <a:spcPts val="300"/>
              </a:spcBef>
              <a:buFont typeface="Arial"/>
              <a:buChar char="•"/>
            </a:pPr>
            <a:r>
              <a:rPr lang="en-US" sz="1500" b="0" i="0" dirty="0">
                <a:solidFill>
                  <a:srgbClr val="1E293B"/>
                </a:solidFill>
                <a:latin typeface="Times New Roman"/>
                <a:cs typeface="Times New Roman"/>
              </a:rPr>
              <a:t>Validation = last day of MIND_train; train_core = earlier days; MIND_dev = test. Every choice (τ, epochs, fusion weights, stacker configurations) uses validation only.</a:t>
            </a:r>
          </a:p>
          <a:p>
            <a:pPr algn="l">
              <a:spcBef>
                <a:spcPts val="700"/>
              </a:spcBef>
              <a:buNone/>
            </a:pPr>
            <a:r>
              <a:rPr lang="en-US" sz="1700" b="1" i="0" dirty="0">
                <a:solidFill>
                  <a:srgbClr val="0F1E42"/>
                </a:solidFill>
                <a:latin typeface="Times New Roman"/>
                <a:cs typeface="Times New Roman"/>
              </a:rPr>
              <a:t>Statistics</a:t>
            </a:r>
          </a:p>
          <a:p>
            <a:pPr algn="l" marL="219456" indent="-182880">
              <a:spcBef>
                <a:spcPts val="300"/>
              </a:spcBef>
              <a:buFont typeface="Arial"/>
              <a:buChar char="•"/>
            </a:pPr>
            <a:r>
              <a:rPr lang="en-US" sz="1500" b="0" i="0" dirty="0">
                <a:solidFill>
                  <a:srgbClr val="1E293B"/>
                </a:solidFill>
                <a:latin typeface="Times New Roman"/>
                <a:cs typeface="Times New Roman"/>
              </a:rPr>
              <a:t>Paired 95% CI per impression: Δ̄ ± 1.96·SE with impression-clustered SE (analytic, not bootstrap); subset rows are compared on the same impressions; Bonferroni across technique families.</a:t>
            </a:r>
          </a:p>
          <a:p>
            <a:pPr algn="l" marL="219456" indent="-182880">
              <a:spcBef>
                <a:spcPts val="300"/>
              </a:spcBef>
              <a:buFont typeface="Arial"/>
              <a:buChar char="•"/>
            </a:pPr>
            <a:r>
              <a:rPr lang="en-US" sz="1500" b="0" i="0" dirty="0">
                <a:solidFill>
                  <a:srgbClr val="1E293B"/>
                </a:solidFill>
                <a:latin typeface="Times New Roman"/>
                <a:cs typeface="Times New Roman"/>
              </a:rPr>
              <a:t>Seed noise measured: 0.007–0.014 nDCG@10 between two seeds of one recipe — far wider than the CI half-width (± 0.002).</a:t>
            </a:r>
          </a:p>
          <a:p>
            <a:pPr algn="l">
              <a:spcBef>
                <a:spcPts val="700"/>
              </a:spcBef>
              <a:buNone/>
            </a:pPr>
            <a:r>
              <a:rPr lang="en-US" sz="1700" b="1" i="0" dirty="0">
                <a:solidFill>
                  <a:srgbClr val="0F1E42"/>
                </a:solidFill>
                <a:latin typeface="Times New Roman"/>
                <a:cs typeface="Times New Roman"/>
              </a:rPr>
              <a:t>Reproduction checks against the original V10 benchmark</a:t>
            </a:r>
          </a:p>
          <a:p>
            <a:pPr algn="l" marL="219456" indent="-182880">
              <a:spcBef>
                <a:spcPts val="300"/>
              </a:spcBef>
              <a:buFont typeface="Arial"/>
              <a:buChar char="•"/>
            </a:pPr>
            <a:r>
              <a:rPr lang="en-US" sz="1500" b="0" i="0" dirty="0">
                <a:solidFill>
                  <a:srgbClr val="1E293B"/>
                </a:solidFill>
                <a:latin typeface="Times New Roman"/>
                <a:cs typeface="Times New Roman"/>
              </a:rPr>
              <a:t>BGE-small mean-pool = V10 (AUC 0.6241 / nDCG@10 0.3909); popularity and frozen+pop match; NRMS rung 0 reproduces V10 (copied weights: |Δscore| ≤ 3·10⁻⁸); random vectors give AUC 0.50.</a:t>
            </a:r>
          </a:p>
          <a:p>
            <a:pPr algn="l">
              <a:spcBef>
                <a:spcPts val="700"/>
              </a:spcBef>
              <a:buNone/>
            </a:pPr>
            <a:r>
              <a:rPr lang="en-US" sz="1700" b="1" i="0" dirty="0">
                <a:solidFill>
                  <a:srgbClr val="0F1E42"/>
                </a:solidFill>
                <a:latin typeface="Times New Roman"/>
                <a:cs typeface="Times New Roman"/>
              </a:rPr>
              <a:t>Leakage tests (73 automated tests on CPU)</a:t>
            </a:r>
          </a:p>
          <a:p>
            <a:pPr algn="l" marL="219456" indent="-182880">
              <a:spcBef>
                <a:spcPts val="300"/>
              </a:spcBef>
              <a:buFont typeface="Arial"/>
              <a:buChar char="•"/>
            </a:pPr>
            <a:r>
              <a:rPr lang="en-US" sz="1500" b="0" i="0" dirty="0">
                <a:solidFill>
                  <a:srgbClr val="1E293B"/>
                </a:solidFill>
                <a:latin typeface="Times New Roman"/>
                <a:cs typeface="Times New Roman"/>
              </a:rPr>
              <a:t>Shuffling test labels leaves stack_llm / stack_meta predictions bit-identical; flipping one fold's labels leaves that fold's out-of-fold scores unchanged; two deliberate leaks are caught. Predictions are written down before every run (Section 9.1).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5.1 System Architecture</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Encoders are frozen in v7–v16b; only heads, readers and the stacker are trained. v17 unfreezes the last 2 layers of BGE-large.</a:t>
            </a:r>
          </a:p>
        </p:txBody>
      </p:sp>
      <p:pic>
        <p:nvPicPr>
          <p:cNvPr id="7" name="Picture 6" descr="s_pipeline.png"/>
          <p:cNvPicPr>
            <a:picLocks noChangeAspect="1"/>
          </p:cNvPicPr>
          <p:nvPr/>
        </p:nvPicPr>
        <p:blipFill>
          <a:blip r:embed="rId3"/>
          <a:stretch>
            <a:fillRect/>
          </a:stretch>
        </p:blipFill>
        <p:spPr>
          <a:xfrm>
            <a:off x="1459334" y="1737360"/>
            <a:ext cx="9270283" cy="406908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5.2 Linear Fusion and the GBDT Stacker</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Linear fusion (supermodel)</a:t>
            </a:r>
          </a:p>
          <a:p>
            <a:pPr algn="l" marL="219456" indent="-182880">
              <a:spcBef>
                <a:spcPts val="300"/>
              </a:spcBef>
              <a:buFont typeface="Arial"/>
              <a:buChar char="•"/>
            </a:pPr>
            <a:r>
              <a:rPr lang="en-US" sz="1450" b="0" i="0" dirty="0">
                <a:solidFill>
                  <a:srgbClr val="1E293B"/>
                </a:solidFill>
                <a:latin typeface="Times New Roman"/>
                <a:cs typeface="Times New Roman"/>
              </a:rPr>
              <a:t>Each component exports raw scores; z-scored inside each impression.</a:t>
            </a:r>
          </a:p>
          <a:p>
            <a:pPr algn="l" marL="219456" indent="-182880">
              <a:spcBef>
                <a:spcPts val="300"/>
              </a:spcBef>
              <a:buFont typeface="Arial"/>
              <a:buChar char="•"/>
            </a:pPr>
            <a:r>
              <a:rPr lang="en-US" sz="1450" b="0" i="0" dirty="0">
                <a:solidFill>
                  <a:srgbClr val="1E293B"/>
                </a:solidFill>
                <a:latin typeface="Times New Roman"/>
                <a:cs typeface="Times New Roman"/>
              </a:rPr>
              <a:t>s_super = z_base + Σk wk·zk; base = best single component on validation (weight 1); wk ∈ {0, …, 4} by coordinate ascent; test touched once per rung.</a:t>
            </a:r>
          </a:p>
          <a:p>
            <a:pPr algn="l" marL="219456" indent="-182880">
              <a:spcBef>
                <a:spcPts val="300"/>
              </a:spcBef>
              <a:buFont typeface="Arial"/>
              <a:buChar char="•"/>
            </a:pPr>
            <a:r>
              <a:rPr lang="en-US" sz="1450" b="0" i="0" dirty="0">
                <a:solidFill>
                  <a:srgbClr val="1E293B"/>
                </a:solidFill>
                <a:latin typeface="Times New Roman"/>
                <a:cs typeface="Times New Roman"/>
              </a:rPr>
              <a:t>Ladder: super_base → super_zs (+ zero-shot) → super_llm (+ readers) → super_llm+pop.</a:t>
            </a:r>
          </a:p>
          <a:p>
            <a:pPr algn="l" marL="219456" indent="-182880">
              <a:spcBef>
                <a:spcPts val="300"/>
              </a:spcBef>
              <a:buFont typeface="Arial"/>
              <a:buChar char="•"/>
            </a:pPr>
            <a:r>
              <a:rPr lang="en-US" sz="1450" b="0" i="0" dirty="0">
                <a:solidFill>
                  <a:srgbClr val="1E293B"/>
                </a:solidFill>
                <a:latin typeface="Times New Roman"/>
                <a:cs typeface="Times New Roman"/>
              </a:rPr>
              <a:t>v16: base and weights chosen on cold-weighted validation nDCG@10 (80% cold).</a:t>
            </a:r>
          </a:p>
          <a:p>
            <a:pPr algn="l">
              <a:spcBef>
                <a:spcPts val="700"/>
              </a:spcBef>
              <a:buNone/>
            </a:pPr>
            <a:r>
              <a:rPr lang="en-US" sz="1650" b="1" i="0" dirty="0">
                <a:solidFill>
                  <a:srgbClr val="0F1E42"/>
                </a:solidFill>
                <a:latin typeface="Times New Roman"/>
                <a:cs typeface="Times New Roman"/>
              </a:rPr>
              <a:t>Stacker variants</a:t>
            </a:r>
          </a:p>
          <a:p>
            <a:pPr algn="l" marL="219456" indent="-182880">
              <a:spcBef>
                <a:spcPts val="300"/>
              </a:spcBef>
              <a:buFont typeface="Arial"/>
              <a:buChar char="•"/>
            </a:pPr>
            <a:r>
              <a:rPr lang="en-US" sz="1450" b="0" i="0" dirty="0">
                <a:solidFill>
                  <a:srgbClr val="1E293B"/>
                </a:solidFill>
                <a:latin typeface="Times New Roman"/>
                <a:cs typeface="Times New Roman"/>
              </a:rPr>
              <a:t>stack_llm = scores + ctx; stack_meta = + meta (label-free, reads impression-log exposure); stack_pop = + pop (streaming).</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50" b="1" i="0" dirty="0">
                <a:solidFill>
                  <a:srgbClr val="0F1E42"/>
                </a:solidFill>
                <a:latin typeface="Times New Roman"/>
                <a:cs typeface="Times New Roman"/>
              </a:rPr>
              <a:t>GBDT stacker (XGBoost, GPU)</a:t>
            </a:r>
          </a:p>
          <a:p>
            <a:pPr algn="l" marL="219456" indent="-182880">
              <a:spcBef>
                <a:spcPts val="300"/>
              </a:spcBef>
              <a:buFont typeface="Arial"/>
              <a:buChar char="•"/>
            </a:pPr>
            <a:r>
              <a:rPr lang="en-US" sz="1450" b="0" i="0" dirty="0">
                <a:solidFill>
                  <a:srgbClr val="1E293B"/>
                </a:solidFill>
                <a:latin typeface="Times New Roman"/>
                <a:cs typeface="Times New Roman"/>
              </a:rPr>
              <a:t>Trained on validation impressions only; test score = mean z-scored prediction of the fold models.</a:t>
            </a:r>
          </a:p>
          <a:p>
            <a:pPr algn="l" marL="219456" indent="-182880">
              <a:spcBef>
                <a:spcPts val="300"/>
              </a:spcBef>
              <a:buFont typeface="Arial"/>
              <a:buChar char="•"/>
            </a:pPr>
            <a:r>
              <a:rPr lang="en-US" sz="1450" b="1" i="0" dirty="0">
                <a:solidFill>
                  <a:srgbClr val="1E293B"/>
                </a:solidFill>
                <a:latin typeface="Times New Roman"/>
                <a:cs typeface="Times New Roman"/>
              </a:rPr>
              <a:t>scores</a:t>
            </a:r>
            <a:r>
              <a:rPr lang="en-US" sz="1450" b="0" i="0" dirty="0">
                <a:solidFill>
                  <a:srgbClr val="1E293B"/>
                </a:solidFill>
                <a:latin typeface="Times New Roman"/>
                <a:cs typeface="Times New Roman"/>
              </a:rPr>
              <a:t>: z-scores of every exported component (Qwen3, BGE-large, concat) + a few raw values.</a:t>
            </a:r>
          </a:p>
          <a:p>
            <a:pPr algn="l" marL="219456" indent="-182880">
              <a:spcBef>
                <a:spcPts val="300"/>
              </a:spcBef>
              <a:buFont typeface="Arial"/>
              <a:buChar char="•"/>
            </a:pPr>
            <a:r>
              <a:rPr lang="en-US" sz="1450" b="1" i="0" dirty="0">
                <a:solidFill>
                  <a:srgbClr val="1E293B"/>
                </a:solidFill>
                <a:latin typeface="Times New Roman"/>
                <a:cs typeface="Times New Roman"/>
              </a:rPr>
              <a:t>ctx</a:t>
            </a:r>
            <a:r>
              <a:rPr lang="en-US" sz="1450" b="0" i="0" dirty="0">
                <a:solidFill>
                  <a:srgbClr val="1E293B"/>
                </a:solidFill>
                <a:latin typeface="Times New Roman"/>
                <a:cs typeface="Times New Roman"/>
              </a:rPr>
              <a:t>: 11 history / slate features from frozen vectors (+ 4 IDF entity-overlap features in v16).</a:t>
            </a:r>
          </a:p>
          <a:p>
            <a:pPr algn="l" marL="219456" indent="-182880">
              <a:spcBef>
                <a:spcPts val="300"/>
              </a:spcBef>
              <a:buFont typeface="Arial"/>
              <a:buChar char="•"/>
            </a:pPr>
            <a:r>
              <a:rPr lang="en-US" sz="1450" b="1" i="0" dirty="0">
                <a:solidFill>
                  <a:srgbClr val="1E293B"/>
                </a:solidFill>
                <a:latin typeface="Times New Roman"/>
                <a:cs typeface="Times New Roman"/>
              </a:rPr>
              <a:t>meta</a:t>
            </a:r>
            <a:r>
              <a:rPr lang="en-US" sz="1450" b="0" i="0" dirty="0">
                <a:solidFill>
                  <a:srgbClr val="1E293B"/>
                </a:solidFill>
                <a:latin typeface="Times New Roman"/>
                <a:cs typeface="Times New Roman"/>
              </a:rPr>
              <a:t> (16): item counts up to the previous day, smoothed CTR, category CTR, article age, prior impressions, 1/6/24-h exposure — no labels.</a:t>
            </a:r>
          </a:p>
          <a:p>
            <a:pPr algn="l" marL="219456" indent="-182880">
              <a:spcBef>
                <a:spcPts val="300"/>
              </a:spcBef>
              <a:buFont typeface="Arial"/>
              <a:buChar char="•"/>
            </a:pPr>
            <a:r>
              <a:rPr lang="en-US" sz="1450" b="1" i="0" dirty="0">
                <a:solidFill>
                  <a:srgbClr val="1E293B"/>
                </a:solidFill>
                <a:latin typeface="Times New Roman"/>
                <a:cs typeface="Times New Roman"/>
              </a:rPr>
              <a:t>v15</a:t>
            </a:r>
            <a:r>
              <a:rPr lang="en-US" sz="1450" b="0" i="0" dirty="0">
                <a:solidFill>
                  <a:srgbClr val="1E293B"/>
                </a:solidFill>
                <a:latin typeface="Times New Roman"/>
                <a:cs typeface="Times New Roman"/>
              </a:rPr>
              <a:t>: 4 user folds; objective chosen on fold 0 (binary:logistic); eta 0.06, depth 7, ≤ 800 trees.</a:t>
            </a:r>
          </a:p>
          <a:p>
            <a:pPr algn="l" marL="219456" indent="-182880">
              <a:spcBef>
                <a:spcPts val="300"/>
              </a:spcBef>
              <a:buFont typeface="Arial"/>
              <a:buChar char="•"/>
            </a:pPr>
            <a:r>
              <a:rPr lang="en-US" sz="1450" b="1" i="0" dirty="0">
                <a:solidFill>
                  <a:srgbClr val="1E293B"/>
                </a:solidFill>
                <a:latin typeface="Times New Roman"/>
                <a:cs typeface="Times New Roman"/>
              </a:rPr>
              <a:t>v16</a:t>
            </a:r>
            <a:r>
              <a:rPr lang="en-US" sz="1450" b="0" i="0" dirty="0">
                <a:solidFill>
                  <a:srgbClr val="1E293B"/>
                </a:solidFill>
                <a:latin typeface="Times New Roman"/>
                <a:cs typeface="Times New Roman"/>
              </a:rPr>
              <a:t>: time-block folds, selection on new-article impressions, 5 configurations on a forward holdout, blend of the best 2; the v15 recipe kept as a paired control.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6. Techniques Tested: Catalogue and Verdicts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627632"/>
          <a:ext cx="10543032" cy="4169664"/>
        </p:xfrm>
        <a:graphic>
          <a:graphicData uri="http://schemas.openxmlformats.org/drawingml/2006/table">
            <a:tbl>
              <a:tblPr firstRow="1">
                <a:tableStyleId>{5C22544A-7EE6-4342-B048-85BDC9FD1C3A}</a:tableStyleId>
              </a:tblPr>
              <a:tblGrid>
                <a:gridCol w="640080"/>
                <a:gridCol w="2011680"/>
                <a:gridCol w="4873752"/>
                <a:gridCol w="3017520"/>
              </a:tblGrid>
              <a:tr h="260604">
                <a:tc>
                  <a:txBody>
                    <a:bodyPr/>
                    <a:lstStyle/>
                    <a:p>
                      <a:pPr algn="ctr">
                        <a:spcBef>
                          <a:spcPts val="0"/>
                        </a:spcBef>
                        <a:buNone/>
                      </a:pPr>
                      <a:r>
                        <a:rPr lang="en-US" sz="1050" b="1" i="0" dirty="0">
                          <a:solidFill>
                            <a:srgbClr val="FFFFFF"/>
                          </a:solidFill>
                          <a:latin typeface="Times New Roman"/>
                          <a:cs typeface="Times New Roman"/>
                        </a:rPr>
                        <a:t>Code</a:t>
                      </a:r>
                    </a:p>
                  </a:txBody>
                  <a:tcPr marL="54864" marR="54864" marT="22860" marB="22860" anchor="ctr">
                    <a:solidFill>
                      <a:srgbClr val="0F1E42"/>
                    </a:solidFill>
                  </a:tcPr>
                </a:tc>
                <a:tc>
                  <a:txBody>
                    <a:bodyPr/>
                    <a:lstStyle/>
                    <a:p>
                      <a:pPr algn="ctr">
                        <a:spcBef>
                          <a:spcPts val="0"/>
                        </a:spcBef>
                        <a:buNone/>
                      </a:pPr>
                      <a:r>
                        <a:rPr lang="en-US" sz="1050" b="1" i="0" dirty="0">
                          <a:solidFill>
                            <a:srgbClr val="FFFFFF"/>
                          </a:solidFill>
                          <a:latin typeface="Times New Roman"/>
                          <a:cs typeface="Times New Roman"/>
                        </a:rPr>
                        <a:t>Direction</a:t>
                      </a:r>
                    </a:p>
                  </a:txBody>
                  <a:tcPr marL="54864" marR="54864" marT="22860" marB="22860" anchor="ctr">
                    <a:solidFill>
                      <a:srgbClr val="0F1E42"/>
                    </a:solidFill>
                  </a:tcPr>
                </a:tc>
                <a:tc>
                  <a:txBody>
                    <a:bodyPr/>
                    <a:lstStyle/>
                    <a:p>
                      <a:pPr algn="ctr">
                        <a:spcBef>
                          <a:spcPts val="0"/>
                        </a:spcBef>
                        <a:buNone/>
                      </a:pPr>
                      <a:r>
                        <a:rPr lang="en-US" sz="1050" b="1" i="0" dirty="0">
                          <a:solidFill>
                            <a:srgbClr val="FFFFFF"/>
                          </a:solidFill>
                          <a:latin typeface="Times New Roman"/>
                          <a:cs typeface="Times New Roman"/>
                        </a:rPr>
                        <a:t>What we implemented</a:t>
                      </a:r>
                    </a:p>
                  </a:txBody>
                  <a:tcPr marL="54864" marR="54864" marT="22860" marB="22860" anchor="ctr">
                    <a:solidFill>
                      <a:srgbClr val="0F1E42"/>
                    </a:solidFill>
                  </a:tcPr>
                </a:tc>
                <a:tc>
                  <a:txBody>
                    <a:bodyPr/>
                    <a:lstStyle/>
                    <a:p>
                      <a:pPr algn="ctr">
                        <a:spcBef>
                          <a:spcPts val="0"/>
                        </a:spcBef>
                        <a:buNone/>
                      </a:pPr>
                      <a:r>
                        <a:rPr lang="en-US" sz="1050" b="1" i="0" dirty="0">
                          <a:solidFill>
                            <a:srgbClr val="FFFFFF"/>
                          </a:solidFill>
                          <a:latin typeface="Times New Roman"/>
                          <a:cs typeface="Times New Roman"/>
                        </a:rPr>
                        <a:t>Verdict (Δ nDCG@10 vs own control)</a:t>
                      </a:r>
                    </a:p>
                  </a:txBody>
                  <a:tcPr marL="54864" marR="54864" marT="22860" marB="22860" anchor="ctr">
                    <a:solidFill>
                      <a:srgbClr val="0F1E42"/>
                    </a:solidFill>
                  </a:tcPr>
                </a:tc>
              </a:tr>
              <a:tr h="260604">
                <a:tc>
                  <a:txBody>
                    <a:bodyPr/>
                    <a:lstStyle/>
                    <a:p>
                      <a:pPr algn="ctr">
                        <a:spcBef>
                          <a:spcPts val="0"/>
                        </a:spcBef>
                        <a:buNone/>
                      </a:pPr>
                      <a:r>
                        <a:rPr lang="en-US" sz="1050" b="0" i="0" dirty="0">
                          <a:solidFill>
                            <a:srgbClr val="0F1E42"/>
                          </a:solidFill>
                          <a:latin typeface="Times New Roman"/>
                          <a:cs typeface="Times New Roman"/>
                        </a:rPr>
                        <a:t>H1</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History as text</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10 latest titles → one instructed query, same encoder</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−0.0211 … −0.0014</a:t>
                      </a:r>
                    </a:p>
                  </a:txBody>
                  <a:tcPr marL="54864" marR="54864" marT="22860" marB="22860" anchor="ctr">
                    <a:solidFill>
                      <a:srgbClr val="FFFFFF"/>
                    </a:solidFill>
                  </a:tcPr>
                </a:tc>
              </a:tr>
              <a:tr h="260604">
                <a:tc>
                  <a:txBody>
                    <a:bodyPr/>
                    <a:lstStyle/>
                    <a:p>
                      <a:pPr algn="ctr">
                        <a:spcBef>
                          <a:spcPts val="0"/>
                        </a:spcBef>
                        <a:buNone/>
                      </a:pPr>
                      <a:r>
                        <a:rPr lang="en-US" sz="1050" b="0" i="0" dirty="0">
                          <a:solidFill>
                            <a:srgbClr val="0F1E42"/>
                          </a:solidFill>
                          <a:latin typeface="Times New Roman"/>
                          <a:cs typeface="Times New Roman"/>
                        </a:rPr>
                        <a:t>H2</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Co-click adaptation</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residual head, LoRA / DoRA, Matryoshka, impression hard negatives</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+0.0016 … +0.0029; cold AUC ↓</a:t>
                      </a:r>
                    </a:p>
                  </a:txBody>
                  <a:tcPr marL="54864" marR="54864" marT="22860" marB="22860" anchor="ctr">
                    <a:solidFill>
                      <a:srgbClr val="F8FAFC"/>
                    </a:solidFill>
                  </a:tcPr>
                </a:tc>
              </a:tr>
              <a:tr h="260604">
                <a:tc>
                  <a:txBody>
                    <a:bodyPr/>
                    <a:lstStyle/>
                    <a:p>
                      <a:pPr algn="ctr">
                        <a:spcBef>
                          <a:spcPts val="0"/>
                        </a:spcBef>
                        <a:buNone/>
                      </a:pPr>
                      <a:r>
                        <a:rPr lang="en-US" sz="1050" b="0" i="0" dirty="0">
                          <a:solidFill>
                            <a:srgbClr val="0F1E42"/>
                          </a:solidFill>
                          <a:latin typeface="Times New Roman"/>
                          <a:cs typeface="Times New Roman"/>
                        </a:rPr>
                        <a:t>H3</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Representation RAG</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article vector + Wikidata entities or k nearest past articles</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−0.0080 … −0.0003</a:t>
                      </a:r>
                    </a:p>
                  </a:txBody>
                  <a:tcPr marL="54864" marR="54864" marT="22860" marB="22860" anchor="ctr">
                    <a:solidFill>
                      <a:srgbClr val="FFFFFF"/>
                    </a:solidFill>
                  </a:tcPr>
                </a:tc>
              </a:tr>
              <a:tr h="260604">
                <a:tc>
                  <a:txBody>
                    <a:bodyPr/>
                    <a:lstStyle/>
                    <a:p>
                      <a:pPr algn="ctr">
                        <a:spcBef>
                          <a:spcPts val="0"/>
                        </a:spcBef>
                        <a:buNone/>
                      </a:pPr>
                      <a:r>
                        <a:rPr lang="en-US" sz="1050" b="0" i="0" dirty="0">
                          <a:solidFill>
                            <a:srgbClr val="0F1E42"/>
                          </a:solidFill>
                          <a:latin typeface="Times New Roman"/>
                          <a:cs typeface="Times New Roman"/>
                        </a:rPr>
                        <a:t>H4</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GraphRAG-lite</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Louvain communities; community summaries by Qwen3-1.7B</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+0.0043 (cold AUC −0.0031)</a:t>
                      </a:r>
                    </a:p>
                  </a:txBody>
                  <a:tcPr marL="54864" marR="54864" marT="22860" marB="22860" anchor="ctr">
                    <a:solidFill>
                      <a:srgbClr val="F8FAFC"/>
                    </a:solidFill>
                  </a:tcPr>
                </a:tc>
              </a:tr>
              <a:tr h="260604">
                <a:tc>
                  <a:txBody>
                    <a:bodyPr/>
                    <a:lstStyle/>
                    <a:p>
                      <a:pPr algn="ctr">
                        <a:spcBef>
                          <a:spcPts val="0"/>
                        </a:spcBef>
                        <a:buNone/>
                      </a:pPr>
                      <a:r>
                        <a:rPr lang="en-US" sz="1050" b="0" i="0" dirty="0">
                          <a:solidFill>
                            <a:srgbClr val="0F1E42"/>
                          </a:solidFill>
                          <a:latin typeface="Times New Roman"/>
                          <a:cs typeface="Times New Roman"/>
                        </a:rPr>
                        <a:t>H5</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LLM user tower</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Qwen3 + LoRA, InfoNCE; causal / bidirectional / soft masks</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mask effects not reproducible</a:t>
                      </a:r>
                    </a:p>
                  </a:txBody>
                  <a:tcPr marL="54864" marR="54864" marT="22860" marB="22860" anchor="ctr">
                    <a:solidFill>
                      <a:srgbClr val="FFFFFF"/>
                    </a:solidFill>
                  </a:tcPr>
                </a:tc>
              </a:tr>
              <a:tr h="260604">
                <a:tc>
                  <a:txBody>
                    <a:bodyPr/>
                    <a:lstStyle/>
                    <a:p>
                      <a:pPr algn="ctr">
                        <a:spcBef>
                          <a:spcPts val="0"/>
                        </a:spcBef>
                        <a:buNone/>
                      </a:pPr>
                      <a:r>
                        <a:rPr lang="en-US" sz="1050" b="0" i="0" dirty="0">
                          <a:solidFill>
                            <a:srgbClr val="0F1E42"/>
                          </a:solidFill>
                          <a:latin typeface="Times New Roman"/>
                          <a:cs typeface="Times New Roman"/>
                        </a:rPr>
                        <a:t>H6</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KAR-style knowledge</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Qwen3-1.7B item expansion / reader profiles (n = 2,500)</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+0.0079 / −0.0308</a:t>
                      </a:r>
                    </a:p>
                  </a:txBody>
                  <a:tcPr marL="54864" marR="54864" marT="22860" marB="22860" anchor="ctr">
                    <a:solidFill>
                      <a:srgbClr val="F8FAFC"/>
                    </a:solidFill>
                  </a:tcPr>
                </a:tc>
              </a:tr>
              <a:tr h="260604">
                <a:tc>
                  <a:txBody>
                    <a:bodyPr/>
                    <a:lstStyle/>
                    <a:p>
                      <a:pPr algn="ctr">
                        <a:spcBef>
                          <a:spcPts val="0"/>
                        </a:spcBef>
                        <a:buNone/>
                      </a:pPr>
                      <a:r>
                        <a:rPr lang="en-US" sz="1050" b="0" i="0" dirty="0">
                          <a:solidFill>
                            <a:srgbClr val="0F1E42"/>
                          </a:solidFill>
                          <a:latin typeface="Times New Roman"/>
                          <a:cs typeface="Times New Roman"/>
                        </a:rPr>
                        <a:t>H7</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Semantic IDs</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RQ-KMeans 3 × 256; prefix profile; SID-GPT slate ranker</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+0.0035; SID-GPT ≈ random</a:t>
                      </a:r>
                    </a:p>
                  </a:txBody>
                  <a:tcPr marL="54864" marR="54864" marT="22860" marB="22860" anchor="ctr">
                    <a:solidFill>
                      <a:srgbClr val="FFFFFF"/>
                    </a:solidFill>
                  </a:tcPr>
                </a:tc>
              </a:tr>
              <a:tr h="260604">
                <a:tc>
                  <a:txBody>
                    <a:bodyPr/>
                    <a:lstStyle/>
                    <a:p>
                      <a:pPr algn="ctr">
                        <a:spcBef>
                          <a:spcPts val="0"/>
                        </a:spcBef>
                        <a:buNone/>
                      </a:pPr>
                      <a:r>
                        <a:rPr lang="en-US" sz="1050" b="1" i="0" dirty="0">
                          <a:solidFill>
                            <a:srgbClr val="0F1E42"/>
                          </a:solidFill>
                          <a:latin typeface="Times New Roman"/>
                          <a:cs typeface="Times New Roman"/>
                        </a:rPr>
                        <a:t>H8</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Late interaction</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log-sum-exp, top-k, MaxSim, recency pooling</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+0.0128 (LSE)</a:t>
                      </a:r>
                    </a:p>
                  </a:txBody>
                  <a:tcPr marL="54864" marR="54864" marT="22860" marB="22860" anchor="ctr">
                    <a:solidFill>
                      <a:srgbClr val="FEE2E2"/>
                    </a:solidFill>
                  </a:tcPr>
                </a:tc>
              </a:tr>
              <a:tr h="260604">
                <a:tc>
                  <a:txBody>
                    <a:bodyPr/>
                    <a:lstStyle/>
                    <a:p>
                      <a:pPr algn="ctr">
                        <a:spcBef>
                          <a:spcPts val="0"/>
                        </a:spcBef>
                        <a:buNone/>
                      </a:pPr>
                      <a:r>
                        <a:rPr lang="en-US" sz="1050" b="0" i="0" dirty="0">
                          <a:solidFill>
                            <a:srgbClr val="0F1E42"/>
                          </a:solidFill>
                          <a:latin typeface="Times New Roman"/>
                          <a:cs typeface="Times New Roman"/>
                        </a:rPr>
                        <a:t>H9</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LLM judge</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Qwen3-1.7B Yes/No log-odds on the top-10 (n = 2,000)</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−0.0112 [−0.0216, −0.0008]</a:t>
                      </a:r>
                    </a:p>
                  </a:txBody>
                  <a:tcPr marL="54864" marR="54864" marT="22860" marB="22860" anchor="ctr">
                    <a:solidFill>
                      <a:srgbClr val="FFFFFF"/>
                    </a:solidFill>
                  </a:tcPr>
                </a:tc>
              </a:tr>
              <a:tr h="260604">
                <a:tc>
                  <a:txBody>
                    <a:bodyPr/>
                    <a:lstStyle/>
                    <a:p>
                      <a:pPr algn="ctr">
                        <a:spcBef>
                          <a:spcPts val="0"/>
                        </a:spcBef>
                        <a:buNone/>
                      </a:pPr>
                      <a:r>
                        <a:rPr lang="en-US" sz="1050" b="0" i="0" dirty="0">
                          <a:solidFill>
                            <a:srgbClr val="0F1E42"/>
                          </a:solidFill>
                          <a:latin typeface="Times New Roman"/>
                          <a:cs typeface="Times New Roman"/>
                        </a:rPr>
                        <a:t>H10</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Learned readers</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candidate-aware attention on frozen vectors; Fastformer / NRMS readers</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&lt; LSE (small data); &gt; LSE (large)</a:t>
                      </a:r>
                    </a:p>
                  </a:txBody>
                  <a:tcPr marL="54864" marR="54864" marT="22860" marB="22860" anchor="ctr">
                    <a:solidFill>
                      <a:srgbClr val="F8FAFC"/>
                    </a:solidFill>
                  </a:tcPr>
                </a:tc>
              </a:tr>
              <a:tr h="260604">
                <a:tc>
                  <a:txBody>
                    <a:bodyPr/>
                    <a:lstStyle/>
                    <a:p>
                      <a:pPr algn="ctr">
                        <a:spcBef>
                          <a:spcPts val="0"/>
                        </a:spcBef>
                        <a:buNone/>
                      </a:pPr>
                      <a:r>
                        <a:rPr lang="en-US" sz="1050" b="0" i="0" dirty="0">
                          <a:solidFill>
                            <a:srgbClr val="0F1E42"/>
                          </a:solidFill>
                          <a:latin typeface="Times New Roman"/>
                          <a:cs typeface="Times New Roman"/>
                        </a:rPr>
                        <a:t>H11</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Multi-interest</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k-means interests (K = 2, 3, 5); K-query readers ± diversity</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−0.0030 vs LSE; no gain</a:t>
                      </a:r>
                    </a:p>
                  </a:txBody>
                  <a:tcPr marL="54864" marR="54864" marT="22860" marB="22860" anchor="ctr">
                    <a:solidFill>
                      <a:srgbClr val="FFFFFF"/>
                    </a:solidFill>
                  </a:tcPr>
                </a:tc>
              </a:tr>
              <a:tr h="260604">
                <a:tc>
                  <a:txBody>
                    <a:bodyPr/>
                    <a:lstStyle/>
                    <a:p>
                      <a:pPr algn="ctr">
                        <a:spcBef>
                          <a:spcPts val="0"/>
                        </a:spcBef>
                        <a:buNone/>
                      </a:pPr>
                      <a:r>
                        <a:rPr lang="en-US" sz="1050" b="1" i="0" dirty="0">
                          <a:solidFill>
                            <a:srgbClr val="0F1E42"/>
                          </a:solidFill>
                          <a:latin typeface="Times New Roman"/>
                          <a:cs typeface="Times New Roman"/>
                        </a:rPr>
                        <a:t>F</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More data fields</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category, entity names, separate views, 100 / 200 clicks</a:t>
                      </a:r>
                    </a:p>
                  </a:txBody>
                  <a:tcPr marL="54864" marR="54864" marT="22860" marB="22860" anchor="ctr">
                    <a:solidFill>
                      <a:srgbClr val="FEE2E2"/>
                    </a:solidFill>
                  </a:tcPr>
                </a:tc>
                <a:tc>
                  <a:txBody>
                    <a:bodyPr/>
                    <a:lstStyle/>
                    <a:p>
                      <a:pPr algn="l">
                        <a:spcBef>
                          <a:spcPts val="0"/>
                        </a:spcBef>
                        <a:buNone/>
                      </a:pPr>
                      <a:r>
                        <a:rPr lang="en-US" sz="1050" b="1" i="0" dirty="0">
                          <a:solidFill>
                            <a:srgbClr val="0F1E42"/>
                          </a:solidFill>
                          <a:latin typeface="Times New Roman"/>
                          <a:cs typeface="Times New Roman"/>
                        </a:rPr>
                        <a:t>+0.0182 (Qwen3 category)</a:t>
                      </a:r>
                    </a:p>
                  </a:txBody>
                  <a:tcPr marL="54864" marR="54864" marT="22860" marB="22860" anchor="ctr">
                    <a:solidFill>
                      <a:srgbClr val="FEE2E2"/>
                    </a:solidFill>
                  </a:tcPr>
                </a:tc>
              </a:tr>
              <a:tr h="260604">
                <a:tc>
                  <a:txBody>
                    <a:bodyPr/>
                    <a:lstStyle/>
                    <a:p>
                      <a:pPr algn="ctr">
                        <a:spcBef>
                          <a:spcPts val="0"/>
                        </a:spcBef>
                        <a:buNone/>
                      </a:pPr>
                      <a:r>
                        <a:rPr lang="en-US" sz="1050" b="0" i="0" dirty="0">
                          <a:solidFill>
                            <a:srgbClr val="0F1E42"/>
                          </a:solidFill>
                          <a:latin typeface="Times New Roman"/>
                          <a:cs typeface="Times New Roman"/>
                        </a:rPr>
                        <a:t>R</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Retrained baselines</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NRMS / NAML / Fastformer, GloVe-300, published recipes, refit</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NRMS refit 0.4078</a:t>
                      </a:r>
                    </a:p>
                  </a:txBody>
                  <a:tcPr marL="54864" marR="54864" marT="22860" marB="22860" anchor="ctr">
                    <a:solidFill>
                      <a:srgbClr val="FFFFFF"/>
                    </a:solidFill>
                  </a:tcPr>
                </a:tc>
              </a:tr>
              <a:tr h="260604">
                <a:tc>
                  <a:txBody>
                    <a:bodyPr/>
                    <a:lstStyle/>
                    <a:p>
                      <a:pPr algn="ctr">
                        <a:spcBef>
                          <a:spcPts val="0"/>
                        </a:spcBef>
                        <a:buNone/>
                      </a:pPr>
                      <a:r>
                        <a:rPr lang="en-US" sz="1050" b="0" i="0" dirty="0">
                          <a:solidFill>
                            <a:srgbClr val="0F1E42"/>
                          </a:solidFill>
                          <a:latin typeface="Times New Roman"/>
                          <a:cs typeface="Times New Roman"/>
                        </a:rPr>
                        <a:t>S</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Fusion &amp; stacking</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z-score linear fusion; XGBoost stacker (llm / meta / pop)</a:t>
                      </a:r>
                    </a:p>
                  </a:txBody>
                  <a:tcPr marL="54864" marR="54864" marT="22860" marB="22860" anchor="ctr">
                    <a:solidFill>
                      <a:srgbClr val="F8FAFC"/>
                    </a:solidFill>
                  </a:tcPr>
                </a:tc>
                <a:tc>
                  <a:txBody>
                    <a:bodyPr/>
                    <a:lstStyle/>
                    <a:p>
                      <a:pPr algn="l">
                        <a:spcBef>
                          <a:spcPts val="0"/>
                        </a:spcBef>
                        <a:buNone/>
                      </a:pPr>
                      <a:r>
                        <a:rPr lang="en-US" sz="1050" b="0" i="0" dirty="0">
                          <a:solidFill>
                            <a:srgbClr val="0F1E42"/>
                          </a:solidFill>
                          <a:latin typeface="Times New Roman"/>
                          <a:cs typeface="Times New Roman"/>
                        </a:rPr>
                        <a:t>Section 8</a:t>
                      </a:r>
                    </a:p>
                  </a:txBody>
                  <a:tcPr marL="54864" marR="54864" marT="22860" marB="22860" anchor="ctr">
                    <a:solidFill>
                      <a:srgbClr val="F8FAFC"/>
                    </a:solidFill>
                  </a:tcPr>
                </a:tc>
              </a:tr>
              <a:tr h="260604">
                <a:tc>
                  <a:txBody>
                    <a:bodyPr/>
                    <a:lstStyle/>
                    <a:p>
                      <a:pPr algn="ctr">
                        <a:spcBef>
                          <a:spcPts val="0"/>
                        </a:spcBef>
                        <a:buNone/>
                      </a:pPr>
                      <a:r>
                        <a:rPr lang="en-US" sz="1050" b="0" i="0" dirty="0">
                          <a:solidFill>
                            <a:srgbClr val="0F1E42"/>
                          </a:solidFill>
                          <a:latin typeface="Times New Roman"/>
                          <a:cs typeface="Times New Roman"/>
                        </a:rPr>
                        <a:t>FT</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Partial fine-tuning</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last 2 layers of BGE-large under the reader + frozen twin (v17)</a:t>
                      </a:r>
                    </a:p>
                  </a:txBody>
                  <a:tcPr marL="54864" marR="54864" marT="22860" marB="22860" anchor="ctr">
                    <a:solidFill>
                      <a:srgbClr val="FFFFFF"/>
                    </a:solidFill>
                  </a:tcPr>
                </a:tc>
                <a:tc>
                  <a:txBody>
                    <a:bodyPr/>
                    <a:lstStyle/>
                    <a:p>
                      <a:pPr algn="l">
                        <a:spcBef>
                          <a:spcPts val="0"/>
                        </a:spcBef>
                        <a:buNone/>
                      </a:pPr>
                      <a:r>
                        <a:rPr lang="en-US" sz="1050" b="0" i="0" dirty="0">
                          <a:solidFill>
                            <a:srgbClr val="0F1E42"/>
                          </a:solidFill>
                          <a:latin typeface="Times New Roman"/>
                          <a:cs typeface="Times New Roman"/>
                        </a:rPr>
                        <a:t>pending</a:t>
                      </a:r>
                    </a:p>
                  </a:txBody>
                  <a:tcPr marL="54864" marR="54864" marT="22860" marB="22860"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7. MIND-small: Retrained Baselines vs Zero-shot LLM Embeddings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627632"/>
            <a:ext cx="36850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RQ1 — answer</a:t>
            </a:r>
          </a:p>
          <a:p>
            <a:pPr algn="l" marL="219456" indent="-182880">
              <a:spcBef>
                <a:spcPts val="300"/>
              </a:spcBef>
              <a:buFont typeface="Arial"/>
              <a:buChar char="•"/>
            </a:pPr>
            <a:r>
              <a:rPr lang="en-US" sz="1400" b="0" i="0" dirty="0">
                <a:solidFill>
                  <a:srgbClr val="1E293B"/>
                </a:solidFill>
                <a:latin typeface="Times New Roman"/>
                <a:cs typeface="Times New Roman"/>
              </a:rPr>
              <a:t>Retrained baselines beat the old V10 numbers by up to +0.039 nDCG@10; NRMS refit sits 0.004 below the published value.</a:t>
            </a:r>
          </a:p>
          <a:p>
            <a:pPr algn="l" marL="219456" indent="-182880">
              <a:spcBef>
                <a:spcPts val="300"/>
              </a:spcBef>
              <a:buFont typeface="Arial"/>
              <a:buChar char="•"/>
            </a:pPr>
            <a:r>
              <a:rPr lang="en-US" sz="1400" b="0" i="0" dirty="0">
                <a:solidFill>
                  <a:srgbClr val="1E293B"/>
                </a:solidFill>
                <a:latin typeface="Times New Roman"/>
                <a:cs typeface="Times New Roman"/>
              </a:rPr>
              <a:t>Zero-shot BGE-small ≈ a one-seed baseline; late interaction lifts it to 0.4037.</a:t>
            </a:r>
          </a:p>
          <a:p>
            <a:pPr algn="l" marL="219456" indent="-182880">
              <a:spcBef>
                <a:spcPts val="300"/>
              </a:spcBef>
              <a:buFont typeface="Arial"/>
              <a:buChar char="•"/>
            </a:pPr>
            <a:r>
              <a:rPr lang="en-US" sz="1400" b="1" i="0" dirty="0">
                <a:solidFill>
                  <a:srgbClr val="1E293B"/>
                </a:solidFill>
                <a:latin typeface="Times New Roman"/>
                <a:cs typeface="Times New Roman"/>
              </a:rPr>
              <a:t>Best zero-shot 0.4094 vs NRMS refit 0.4078: +0.0016, bounding CI [−0.0023, +0.0055] includes 0;</a:t>
            </a:r>
            <a:r>
              <a:rPr lang="en-US" sz="1400" b="0" i="0" dirty="0">
                <a:solidFill>
                  <a:srgbClr val="1E293B"/>
                </a:solidFill>
                <a:latin typeface="Times New Roman"/>
                <a:cs typeface="Times New Roman"/>
              </a:rPr>
              <a:t> same AUC, +0.006 MRR / nDCG@5, lower cold AUC.</a:t>
            </a:r>
          </a:p>
          <a:p>
            <a:pPr algn="l">
              <a:spcBef>
                <a:spcPts val="300"/>
              </a:spcBef>
              <a:buNone/>
            </a:pPr>
            <a:r>
              <a:rPr lang="en-US" sz="1200" b="0" i="1" dirty="0">
                <a:solidFill>
                  <a:srgbClr val="64748B"/>
                </a:solidFill>
                <a:latin typeface="Times New Roman"/>
                <a:cs typeface="Times New Roman"/>
              </a:rPr>
              <a:t>Safe claim: frozen LLM embeddings match trained baselines without training or IDs — they do not beat them.</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Seed noise of a single trained model: 0.007–0.014 nDCG@10 (Section 7.2). Published row: mean of 5 runs.</a:t>
            </a:r>
          </a:p>
        </p:txBody>
      </p:sp>
      <p:graphicFrame>
        <p:nvGraphicFramePr>
          <p:cNvPr id="7" name="Table 6"/>
          <p:cNvGraphicFramePr>
            <a:graphicFrameLocks noGrp="1"/>
          </p:cNvGraphicFramePr>
          <p:nvPr/>
        </p:nvGraphicFramePr>
        <p:xfrm>
          <a:off x="822960" y="1645920"/>
          <a:ext cx="6492240" cy="3657600"/>
        </p:xfrm>
        <a:graphic>
          <a:graphicData uri="http://schemas.openxmlformats.org/drawingml/2006/table">
            <a:tbl>
              <a:tblPr firstRow="1">
                <a:tableStyleId>{5C22544A-7EE6-4342-B048-85BDC9FD1C3A}</a:tableStyleId>
              </a:tblPr>
              <a:tblGrid>
                <a:gridCol w="2788920"/>
                <a:gridCol w="713232"/>
                <a:gridCol w="713232"/>
                <a:gridCol w="731520"/>
                <a:gridCol w="777240"/>
                <a:gridCol w="768096"/>
              </a:tblGrid>
              <a:tr h="365760">
                <a:tc>
                  <a:txBody>
                    <a:bodyPr/>
                    <a:lstStyle/>
                    <a:p>
                      <a:pPr algn="ctr">
                        <a:spcBef>
                          <a:spcPts val="0"/>
                        </a:spcBef>
                        <a:buNone/>
                      </a:pPr>
                      <a:r>
                        <a:rPr lang="en-US" sz="1100" b="1" i="0" dirty="0">
                          <a:solidFill>
                            <a:srgbClr val="FFFFFF"/>
                          </a:solidFill>
                          <a:latin typeface="Times New Roman"/>
                          <a:cs typeface="Times New Roman"/>
                        </a:rPr>
                        <a:t>Model (content only)</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AUC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MRR</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nDCG@5</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cold AUC</a:t>
                      </a:r>
                    </a:p>
                  </a:txBody>
                  <a:tcPr marL="54864" marR="54864" marT="22860" marB="22860" anchor="ctr">
                    <a:solidFill>
                      <a:srgbClr val="0F1E42"/>
                    </a:solidFill>
                  </a:tcPr>
                </a:tc>
              </a:tr>
              <a:tr h="365760">
                <a:tc>
                  <a:txBody>
                    <a:bodyPr/>
                    <a:lstStyle/>
                    <a:p>
                      <a:pPr algn="l">
                        <a:spcBef>
                          <a:spcPts val="0"/>
                        </a:spcBef>
                        <a:buNone/>
                      </a:pPr>
                      <a:r>
                        <a:rPr lang="en-US" sz="1100" b="0" i="0" dirty="0">
                          <a:solidFill>
                            <a:srgbClr val="0F1E42"/>
                          </a:solidFill>
                          <a:latin typeface="Times New Roman"/>
                          <a:cs typeface="Times New Roman"/>
                        </a:rPr>
                        <a:t>NRMS — V10 recipe (old)</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0.6181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0.2809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0.3020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0.3685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365760">
                <a:tc>
                  <a:txBody>
                    <a:bodyPr/>
                    <a:lstStyle/>
                    <a:p>
                      <a:pPr algn="l">
                        <a:spcBef>
                          <a:spcPts val="0"/>
                        </a:spcBef>
                        <a:buNone/>
                      </a:pPr>
                      <a:r>
                        <a:rPr lang="en-US" sz="1100" b="0" i="0" dirty="0">
                          <a:solidFill>
                            <a:srgbClr val="0F1E42"/>
                          </a:solidFill>
                          <a:latin typeface="Times New Roman"/>
                          <a:cs typeface="Times New Roman"/>
                        </a:rPr>
                        <a:t>NRMS — published recipe, GloVe</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0.6392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0.3037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0.3293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0.3937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0.6471</a:t>
                      </a:r>
                    </a:p>
                  </a:txBody>
                  <a:tcPr marL="54864" marR="54864" marT="22860" marB="22860" anchor="ctr">
                    <a:solidFill>
                      <a:srgbClr val="F8FAFC"/>
                    </a:solidFill>
                  </a:tcPr>
                </a:tc>
              </a:tr>
              <a:tr h="365760">
                <a:tc>
                  <a:txBody>
                    <a:bodyPr/>
                    <a:lstStyle/>
                    <a:p>
                      <a:pPr algn="l">
                        <a:spcBef>
                          <a:spcPts val="0"/>
                        </a:spcBef>
                        <a:buNone/>
                      </a:pPr>
                      <a:r>
                        <a:rPr lang="en-US" sz="1100" b="0" i="0" dirty="0">
                          <a:solidFill>
                            <a:srgbClr val="0F1E42"/>
                          </a:solidFill>
                          <a:latin typeface="Times New Roman"/>
                          <a:cs typeface="Times New Roman"/>
                        </a:rPr>
                        <a:t>NAML — published recipe</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0.6471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0.3079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0.3364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0.4006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0.6698</a:t>
                      </a:r>
                    </a:p>
                  </a:txBody>
                  <a:tcPr marL="54864" marR="54864" marT="22860" marB="22860" anchor="ctr">
                    <a:solidFill>
                      <a:srgbClr val="FFFFFF"/>
                    </a:solidFill>
                  </a:tcPr>
                </a:tc>
              </a:tr>
              <a:tr h="365760">
                <a:tc>
                  <a:txBody>
                    <a:bodyPr/>
                    <a:lstStyle/>
                    <a:p>
                      <a:pPr algn="l">
                        <a:spcBef>
                          <a:spcPts val="0"/>
                        </a:spcBef>
                        <a:buNone/>
                      </a:pPr>
                      <a:r>
                        <a:rPr lang="en-US" sz="1100" b="0" i="0" dirty="0">
                          <a:solidFill>
                            <a:srgbClr val="0F1E42"/>
                          </a:solidFill>
                          <a:latin typeface="Times New Roman"/>
                          <a:cs typeface="Times New Roman"/>
                        </a:rPr>
                        <a:t>Fastformer — mean of 2 seeds</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0.6426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0.3000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0.3289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0.3927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0.6623</a:t>
                      </a:r>
                    </a:p>
                  </a:txBody>
                  <a:tcPr marL="54864" marR="54864" marT="22860" marB="22860" anchor="ctr">
                    <a:solidFill>
                      <a:srgbClr val="F8FAFC"/>
                    </a:solidFill>
                  </a:tcPr>
                </a:tc>
              </a:tr>
              <a:tr h="365760">
                <a:tc>
                  <a:txBody>
                    <a:bodyPr/>
                    <a:lstStyle/>
                    <a:p>
                      <a:pPr algn="l">
                        <a:spcBef>
                          <a:spcPts val="0"/>
                        </a:spcBef>
                        <a:buNone/>
                      </a:pPr>
                      <a:r>
                        <a:rPr lang="en-US" sz="1100" b="1" i="0" dirty="0">
                          <a:solidFill>
                            <a:srgbClr val="0F1E42"/>
                          </a:solidFill>
                          <a:latin typeface="Times New Roman"/>
                          <a:cs typeface="Times New Roman"/>
                        </a:rPr>
                        <a:t>NRMS refit (+ validation days)</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0.6555</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0.3140</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0.3443</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0.4078</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0.6700</a:t>
                      </a:r>
                    </a:p>
                  </a:txBody>
                  <a:tcPr marL="54864" marR="54864" marT="22860" marB="22860" anchor="ctr">
                    <a:solidFill>
                      <a:srgbClr val="FEE2E2"/>
                    </a:solidFill>
                  </a:tcPr>
                </a:tc>
              </a:tr>
              <a:tr h="365760">
                <a:tc>
                  <a:txBody>
                    <a:bodyPr/>
                    <a:lstStyle/>
                    <a:p>
                      <a:pPr algn="l">
                        <a:spcBef>
                          <a:spcPts val="0"/>
                        </a:spcBef>
                        <a:buNone/>
                      </a:pPr>
                      <a:r>
                        <a:rPr lang="en-US" sz="1100" b="0" i="0" dirty="0">
                          <a:solidFill>
                            <a:srgbClr val="0F1E42"/>
                          </a:solidFill>
                          <a:latin typeface="Times New Roman"/>
                          <a:cs typeface="Times New Roman"/>
                        </a:rPr>
                        <a:t>BGE-small mean-pool (zero-shot)</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0.6242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0.3002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0.3299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0.3909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0.6617</a:t>
                      </a:r>
                    </a:p>
                  </a:txBody>
                  <a:tcPr marL="54864" marR="54864" marT="22860" marB="22860" anchor="ctr">
                    <a:solidFill>
                      <a:srgbClr val="F8FAFC"/>
                    </a:solidFill>
                  </a:tcPr>
                </a:tc>
              </a:tr>
              <a:tr h="365760">
                <a:tc>
                  <a:txBody>
                    <a:bodyPr/>
                    <a:lstStyle/>
                    <a:p>
                      <a:pPr algn="l">
                        <a:spcBef>
                          <a:spcPts val="0"/>
                        </a:spcBef>
                        <a:buNone/>
                      </a:pPr>
                      <a:r>
                        <a:rPr lang="en-US" sz="1100" b="0" i="0" dirty="0">
                          <a:solidFill>
                            <a:srgbClr val="0F1E42"/>
                          </a:solidFill>
                          <a:latin typeface="Times New Roman"/>
                          <a:cs typeface="Times New Roman"/>
                        </a:rPr>
                        <a:t>BGE-small + LSE</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0.6386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0.3118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0.3427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0.4037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0.6675</a:t>
                      </a:r>
                    </a:p>
                  </a:txBody>
                  <a:tcPr marL="54864" marR="54864" marT="22860" marB="22860" anchor="ctr">
                    <a:solidFill>
                      <a:srgbClr val="FFFFFF"/>
                    </a:solidFill>
                  </a:tcPr>
                </a:tc>
              </a:tr>
              <a:tr h="365760">
                <a:tc>
                  <a:txBody>
                    <a:bodyPr/>
                    <a:lstStyle/>
                    <a:p>
                      <a:pPr algn="l">
                        <a:spcBef>
                          <a:spcPts val="0"/>
                        </a:spcBef>
                        <a:buNone/>
                      </a:pPr>
                      <a:r>
                        <a:rPr lang="en-US" sz="1100" b="1" i="0" dirty="0">
                          <a:solidFill>
                            <a:srgbClr val="0F1E42"/>
                          </a:solidFill>
                          <a:latin typeface="Times New Roman"/>
                          <a:cs typeface="Times New Roman"/>
                        </a:rPr>
                        <a:t>Qwen3-Emb-0.6B + LSE + category</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0.6556</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0.3201</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0.3509</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0.4094</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0.6637</a:t>
                      </a:r>
                    </a:p>
                  </a:txBody>
                  <a:tcPr marL="54864" marR="54864" marT="22860" marB="22860" anchor="ctr">
                    <a:solidFill>
                      <a:srgbClr val="FEE2E2"/>
                    </a:solidFill>
                  </a:tcPr>
                </a:tc>
              </a:tr>
              <a:tr h="365760">
                <a:tc>
                  <a:txBody>
                    <a:bodyPr/>
                    <a:lstStyle/>
                    <a:p>
                      <a:pPr algn="l">
                        <a:spcBef>
                          <a:spcPts val="0"/>
                        </a:spcBef>
                        <a:buNone/>
                      </a:pPr>
                      <a:r>
                        <a:rPr lang="en-US" sz="1100" b="0" i="0" dirty="0">
                          <a:solidFill>
                            <a:srgbClr val="0F1E42"/>
                          </a:solidFill>
                          <a:latin typeface="Times New Roman"/>
                          <a:cs typeface="Times New Roman"/>
                        </a:rPr>
                        <a:t>Published NRMS (Iana et al., SIGIR'23)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0.6658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0.3144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0.3499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0.4121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7.1 MIND-small: What Actually Helps (and What Does Not)</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9560" y="1627632"/>
            <a:ext cx="34564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RQ2 — answer</a:t>
            </a:r>
          </a:p>
          <a:p>
            <a:pPr algn="l" marL="219456" indent="-182880">
              <a:spcBef>
                <a:spcPts val="300"/>
              </a:spcBef>
              <a:buFont typeface="Arial"/>
              <a:buChar char="•"/>
            </a:pPr>
            <a:r>
              <a:rPr lang="en-US" sz="1400" b="0" i="0" dirty="0">
                <a:solidFill>
                  <a:srgbClr val="1E293B"/>
                </a:solidFill>
                <a:latin typeface="Times New Roman"/>
                <a:cs typeface="Times New Roman"/>
              </a:rPr>
              <a:t>The bottleneck of frozen-embedding recommenders is </a:t>
            </a:r>
            <a:r>
              <a:rPr lang="en-US" sz="1400" b="1" i="0" dirty="0">
                <a:solidFill>
                  <a:srgbClr val="1E293B"/>
                </a:solidFill>
                <a:latin typeface="Times New Roman"/>
                <a:cs typeface="Times New Roman"/>
              </a:rPr>
              <a:t>history aggregation</a:t>
            </a:r>
            <a:r>
              <a:rPr lang="en-US" sz="1400" b="0" i="0" dirty="0">
                <a:solidFill>
                  <a:srgbClr val="1E293B"/>
                </a:solidFill>
                <a:latin typeface="Times New Roman"/>
                <a:cs typeface="Times New Roman"/>
              </a:rPr>
              <a:t> and </a:t>
            </a:r>
            <a:r>
              <a:rPr lang="en-US" sz="1400" b="1" i="0" dirty="0">
                <a:solidFill>
                  <a:srgbClr val="1E293B"/>
                </a:solidFill>
                <a:latin typeface="Times New Roman"/>
                <a:cs typeface="Times New Roman"/>
              </a:rPr>
              <a:t>which fields reach the encoder</a:t>
            </a:r>
            <a:r>
              <a:rPr lang="en-US" sz="1400" b="0" i="0" dirty="0">
                <a:solidFill>
                  <a:srgbClr val="1E293B"/>
                </a:solidFill>
                <a:latin typeface="Times New Roman"/>
                <a:cs typeface="Times New Roman"/>
              </a:rPr>
              <a:t>, not encoder size.</a:t>
            </a:r>
          </a:p>
          <a:p>
            <a:pPr algn="l">
              <a:spcBef>
                <a:spcPts val="700"/>
              </a:spcBef>
              <a:buNone/>
            </a:pPr>
            <a:r>
              <a:rPr lang="en-US" sz="1600" b="1" i="0" dirty="0">
                <a:solidFill>
                  <a:srgbClr val="0F1E42"/>
                </a:solidFill>
                <a:latin typeface="Times New Roman"/>
                <a:cs typeface="Times New Roman"/>
              </a:rPr>
              <a:t>Late interaction (no parameters)</a:t>
            </a:r>
          </a:p>
          <a:p>
            <a:pPr algn="l">
              <a:spcBef>
                <a:spcPts val="300"/>
              </a:spcBef>
              <a:buNone/>
            </a:pPr>
            <a:r>
              <a:rPr lang="en-US" sz="1400" b="0" i="0" dirty="0">
                <a:solidFill>
                  <a:srgbClr val="1E293B"/>
                </a:solidFill>
                <a:latin typeface="Times New Roman"/>
                <a:cs typeface="Times New Roman"/>
              </a:rPr>
              <a:t>s_LSE(u, c) = τ·[log Σh exp(⟨vh, vc⟩ / τ) − log L]</a:t>
            </a:r>
          </a:p>
          <a:p>
            <a:pPr algn="l" marL="219456" indent="-182880">
              <a:spcBef>
                <a:spcPts val="300"/>
              </a:spcBef>
              <a:buFont typeface="Arial"/>
              <a:buChar char="•"/>
            </a:pPr>
            <a:r>
              <a:rPr lang="en-US" sz="1400" b="0" i="0" dirty="0">
                <a:solidFill>
                  <a:srgbClr val="1E293B"/>
                </a:solidFill>
                <a:latin typeface="Times New Roman"/>
                <a:cs typeface="Times New Roman"/>
              </a:rPr>
              <a:t>τ → 0: MaxSim; τ → ∞: mean-pool; τ chosen on validation.</a:t>
            </a:r>
          </a:p>
          <a:p>
            <a:pPr algn="l" marL="219456" indent="-182880">
              <a:spcBef>
                <a:spcPts val="300"/>
              </a:spcBef>
              <a:buFont typeface="Arial"/>
              <a:buChar char="•"/>
            </a:pPr>
            <a:r>
              <a:rPr lang="en-US" sz="1400" b="0" i="0" dirty="0">
                <a:solidFill>
                  <a:srgbClr val="1E293B"/>
                </a:solidFill>
                <a:latin typeface="Times New Roman"/>
                <a:cs typeface="Times New Roman"/>
              </a:rPr>
              <a:t>Replicated on Qwen3: +0.0127.</a:t>
            </a:r>
          </a:p>
        </p:txBody>
      </p:sp>
      <p:graphicFrame>
        <p:nvGraphicFramePr>
          <p:cNvPr id="6" name="Table 5"/>
          <p:cNvGraphicFramePr>
            <a:graphicFrameLocks noGrp="1"/>
          </p:cNvGraphicFramePr>
          <p:nvPr/>
        </p:nvGraphicFramePr>
        <p:xfrm>
          <a:off x="822960" y="1645920"/>
          <a:ext cx="6812280" cy="4023360"/>
        </p:xfrm>
        <a:graphic>
          <a:graphicData uri="http://schemas.openxmlformats.org/drawingml/2006/table">
            <a:tbl>
              <a:tblPr firstRow="1">
                <a:tableStyleId>{5C22544A-7EE6-4342-B048-85BDC9FD1C3A}</a:tableStyleId>
              </a:tblPr>
              <a:tblGrid>
                <a:gridCol w="3703320"/>
                <a:gridCol w="2148840"/>
                <a:gridCol w="960120"/>
              </a:tblGrid>
              <a:tr h="365760">
                <a:tc>
                  <a:txBody>
                    <a:bodyPr/>
                    <a:lstStyle/>
                    <a:p>
                      <a:pPr algn="ctr">
                        <a:spcBef>
                          <a:spcPts val="0"/>
                        </a:spcBef>
                        <a:buNone/>
                      </a:pPr>
                      <a:r>
                        <a:rPr lang="en-US" sz="1100" b="1" i="0" dirty="0">
                          <a:solidFill>
                            <a:srgbClr val="FFFFFF"/>
                          </a:solidFill>
                          <a:latin typeface="Times New Roman"/>
                          <a:cs typeface="Times New Roman"/>
                        </a:rPr>
                        <a:t>Change (vs its own control)</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Δ nDCG@10 [95% CI]</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Val. agrees?</a:t>
                      </a:r>
                    </a:p>
                  </a:txBody>
                  <a:tcPr marL="54864" marR="54864" marT="22860" marB="22860" anchor="ctr">
                    <a:solidFill>
                      <a:srgbClr val="0F1E42"/>
                    </a:solidFill>
                  </a:tcPr>
                </a:tc>
              </a:tr>
              <a:tr h="365760">
                <a:tc>
                  <a:txBody>
                    <a:bodyPr/>
                    <a:lstStyle/>
                    <a:p>
                      <a:pPr algn="l">
                        <a:spcBef>
                          <a:spcPts val="0"/>
                        </a:spcBef>
                        <a:buNone/>
                      </a:pPr>
                      <a:r>
                        <a:rPr lang="en-US" sz="1100" b="1" i="0" dirty="0">
                          <a:solidFill>
                            <a:srgbClr val="0F1E42"/>
                          </a:solidFill>
                          <a:latin typeface="Times New Roman"/>
                          <a:cs typeface="Times New Roman"/>
                        </a:rPr>
                        <a:t>Late interaction LSE (BGE, vs mean-pool)</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+0.0128</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yes</a:t>
                      </a:r>
                    </a:p>
                  </a:txBody>
                  <a:tcPr marL="54864" marR="54864" marT="22860" marB="22860" anchor="ctr">
                    <a:solidFill>
                      <a:srgbClr val="FEE2E2"/>
                    </a:solidFill>
                  </a:tcPr>
                </a:tc>
              </a:tr>
              <a:tr h="365760">
                <a:tc>
                  <a:txBody>
                    <a:bodyPr/>
                    <a:lstStyle/>
                    <a:p>
                      <a:pPr algn="l">
                        <a:spcBef>
                          <a:spcPts val="0"/>
                        </a:spcBef>
                        <a:buNone/>
                      </a:pPr>
                      <a:r>
                        <a:rPr lang="en-US" sz="1100" b="0" i="0" dirty="0">
                          <a:solidFill>
                            <a:srgbClr val="0F1E42"/>
                          </a:solidFill>
                          <a:latin typeface="Times New Roman"/>
                          <a:cs typeface="Times New Roman"/>
                        </a:rPr>
                        <a:t>Late interaction top-k (BGE)</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+0.0107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yes</a:t>
                      </a:r>
                    </a:p>
                  </a:txBody>
                  <a:tcPr marL="54864" marR="54864" marT="22860" marB="22860" anchor="ctr">
                    <a:solidFill>
                      <a:srgbClr val="F8FAFC"/>
                    </a:solidFill>
                  </a:tcPr>
                </a:tc>
              </a:tr>
              <a:tr h="365760">
                <a:tc>
                  <a:txBody>
                    <a:bodyPr/>
                    <a:lstStyle/>
                    <a:p>
                      <a:pPr algn="l">
                        <a:spcBef>
                          <a:spcPts val="0"/>
                        </a:spcBef>
                        <a:buNone/>
                      </a:pPr>
                      <a:r>
                        <a:rPr lang="en-US" sz="1100" b="1" i="0" dirty="0">
                          <a:solidFill>
                            <a:srgbClr val="0F1E42"/>
                          </a:solidFill>
                          <a:latin typeface="Times New Roman"/>
                          <a:cs typeface="Times New Roman"/>
                        </a:rPr>
                        <a:t>Category in text — Qwen3 (vs LSE)</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+0.0182 [+0.0169, +0.0196]</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yes</a:t>
                      </a:r>
                    </a:p>
                  </a:txBody>
                  <a:tcPr marL="54864" marR="54864" marT="22860" marB="22860" anchor="ctr">
                    <a:solidFill>
                      <a:srgbClr val="FEE2E2"/>
                    </a:solidFill>
                  </a:tcPr>
                </a:tc>
              </a:tr>
              <a:tr h="365760">
                <a:tc>
                  <a:txBody>
                    <a:bodyPr/>
                    <a:lstStyle/>
                    <a:p>
                      <a:pPr algn="l">
                        <a:spcBef>
                          <a:spcPts val="0"/>
                        </a:spcBef>
                        <a:buNone/>
                      </a:pPr>
                      <a:r>
                        <a:rPr lang="en-US" sz="1100" b="0" i="0" dirty="0">
                          <a:solidFill>
                            <a:srgbClr val="0F1E42"/>
                          </a:solidFill>
                          <a:latin typeface="Times New Roman"/>
                          <a:cs typeface="Times New Roman"/>
                        </a:rPr>
                        <a:t>Category in text — BGE-small (vs LSE)</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+0.0013 [+0.0000, +0.0026]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no</a:t>
                      </a:r>
                    </a:p>
                  </a:txBody>
                  <a:tcPr marL="54864" marR="54864" marT="22860" marB="22860" anchor="ctr">
                    <a:solidFill>
                      <a:srgbClr val="F8FAFC"/>
                    </a:solidFill>
                  </a:tcPr>
                </a:tc>
              </a:tr>
              <a:tr h="365760">
                <a:tc>
                  <a:txBody>
                    <a:bodyPr/>
                    <a:lstStyle/>
                    <a:p>
                      <a:pPr algn="l">
                        <a:spcBef>
                          <a:spcPts val="0"/>
                        </a:spcBef>
                        <a:buNone/>
                      </a:pPr>
                      <a:r>
                        <a:rPr lang="en-US" sz="1100" b="0" i="0" dirty="0">
                          <a:solidFill>
                            <a:srgbClr val="0F1E42"/>
                          </a:solidFill>
                          <a:latin typeface="Times New Roman"/>
                          <a:cs typeface="Times New Roman"/>
                        </a:rPr>
                        <a:t>+ entity names — BGE (ctae vs cta)</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+0.0033 [+0.0025, +0.0041]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yes</a:t>
                      </a:r>
                    </a:p>
                  </a:txBody>
                  <a:tcPr marL="54864" marR="54864" marT="22860" marB="22860" anchor="ctr">
                    <a:solidFill>
                      <a:srgbClr val="FFFFFF"/>
                    </a:solidFill>
                  </a:tcPr>
                </a:tc>
              </a:tr>
              <a:tr h="365760">
                <a:tc>
                  <a:txBody>
                    <a:bodyPr/>
                    <a:lstStyle/>
                    <a:p>
                      <a:pPr algn="l">
                        <a:spcBef>
                          <a:spcPts val="0"/>
                        </a:spcBef>
                        <a:buNone/>
                      </a:pPr>
                      <a:r>
                        <a:rPr lang="en-US" sz="1100" b="0" i="0" dirty="0">
                          <a:solidFill>
                            <a:srgbClr val="0F1E42"/>
                          </a:solidFill>
                          <a:latin typeface="Times New Roman"/>
                          <a:cs typeface="Times New Roman"/>
                        </a:rPr>
                        <a:t>200-click history — BGE (vs 50)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+0.0012 [+0.0008, +0.0016]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tiny</a:t>
                      </a:r>
                    </a:p>
                  </a:txBody>
                  <a:tcPr marL="54864" marR="54864" marT="22860" marB="22860" anchor="ctr">
                    <a:solidFill>
                      <a:srgbClr val="F8FAFC"/>
                    </a:solidFill>
                  </a:tcPr>
                </a:tc>
              </a:tr>
              <a:tr h="365760">
                <a:tc>
                  <a:txBody>
                    <a:bodyPr/>
                    <a:lstStyle/>
                    <a:p>
                      <a:pPr algn="l">
                        <a:spcBef>
                          <a:spcPts val="0"/>
                        </a:spcBef>
                        <a:buNone/>
                      </a:pPr>
                      <a:r>
                        <a:rPr lang="en-US" sz="1100" b="0" i="0" dirty="0">
                          <a:solidFill>
                            <a:srgbClr val="0F1E42"/>
                          </a:solidFill>
                          <a:latin typeface="Times New Roman"/>
                          <a:cs typeface="Times New Roman"/>
                        </a:rPr>
                        <a:t>Title only — Qwen3 (drop abstract)</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−0.0321 [−0.0338, −0.0304]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yes</a:t>
                      </a:r>
                    </a:p>
                  </a:txBody>
                  <a:tcPr marL="54864" marR="54864" marT="22860" marB="22860" anchor="ctr">
                    <a:solidFill>
                      <a:srgbClr val="FFFFFF"/>
                    </a:solidFill>
                  </a:tcPr>
                </a:tc>
              </a:tr>
              <a:tr h="365760">
                <a:tc>
                  <a:txBody>
                    <a:bodyPr/>
                    <a:lstStyle/>
                    <a:p>
                      <a:pPr algn="l">
                        <a:spcBef>
                          <a:spcPts val="0"/>
                        </a:spcBef>
                        <a:buNone/>
                      </a:pPr>
                      <a:r>
                        <a:rPr lang="en-US" sz="1100" b="0" i="0" dirty="0">
                          <a:solidFill>
                            <a:srgbClr val="0F1E42"/>
                          </a:solidFill>
                          <a:latin typeface="Times New Roman"/>
                          <a:cs typeface="Times New Roman"/>
                        </a:rPr>
                        <a:t>Encoder: BGE-large vs BGE-small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+0.0015 (n.s.)</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365760">
                <a:tc>
                  <a:txBody>
                    <a:bodyPr/>
                    <a:lstStyle/>
                    <a:p>
                      <a:pPr algn="l">
                        <a:spcBef>
                          <a:spcPts val="0"/>
                        </a:spcBef>
                        <a:buNone/>
                      </a:pPr>
                      <a:r>
                        <a:rPr lang="en-US" sz="1100" b="0" i="0" dirty="0">
                          <a:solidFill>
                            <a:srgbClr val="0F1E42"/>
                          </a:solidFill>
                          <a:latin typeface="Times New Roman"/>
                          <a:cs typeface="Times New Roman"/>
                        </a:rPr>
                        <a:t>Encoder: Qwen3-0.6B vs BGE-small</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−0.0125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365760">
                <a:tc>
                  <a:txBody>
                    <a:bodyPr/>
                    <a:lstStyle/>
                    <a:p>
                      <a:pPr algn="l">
                        <a:spcBef>
                          <a:spcPts val="0"/>
                        </a:spcBef>
                        <a:buNone/>
                      </a:pPr>
                      <a:r>
                        <a:rPr lang="en-US" sz="1100" b="0" i="0" dirty="0">
                          <a:solidFill>
                            <a:srgbClr val="0F1E42"/>
                          </a:solidFill>
                          <a:latin typeface="Times New Roman"/>
                          <a:cs typeface="Times New Roman"/>
                        </a:rPr>
                        <a:t>Encoder: TF-IDF + LSA vs BGE-small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−0.0443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7.2 Why the Old Baselines Were Weak: Ablation Ladder &amp; Seed Noise</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18120" y="3657600"/>
            <a:ext cx="3547872" cy="2194560"/>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Take-aways</a:t>
            </a:r>
          </a:p>
          <a:p>
            <a:pPr algn="l" marL="219456" indent="-182880">
              <a:spcBef>
                <a:spcPts val="300"/>
              </a:spcBef>
              <a:buFont typeface="Arial"/>
              <a:buChar char="•"/>
            </a:pPr>
            <a:r>
              <a:rPr lang="en-US" sz="1400" b="0" i="0" dirty="0">
                <a:solidFill>
                  <a:srgbClr val="1E293B"/>
                </a:solidFill>
                <a:latin typeface="Times New Roman"/>
                <a:cs typeface="Times New Roman"/>
              </a:rPr>
              <a:t>Pre-trained word vectors (GloVe) explain most of the V10 ↔ paper gap; tokenizer / mask / negatives do not.</a:t>
            </a:r>
          </a:p>
          <a:p>
            <a:pPr algn="l" marL="219456" indent="-182880">
              <a:spcBef>
                <a:spcPts val="300"/>
              </a:spcBef>
              <a:buFont typeface="Arial"/>
              <a:buChar char="•"/>
            </a:pPr>
            <a:r>
              <a:rPr lang="en-US" sz="1400" b="0" i="0" dirty="0">
                <a:solidFill>
                  <a:srgbClr val="1E293B"/>
                </a:solidFill>
                <a:latin typeface="Times New Roman"/>
                <a:cs typeface="Times New Roman"/>
              </a:rPr>
              <a:t>A 'weak' baseline creates a 0.04 gap — larger than any LLM effect we measured.</a:t>
            </a:r>
          </a:p>
          <a:p>
            <a:pPr algn="l" marL="219456" indent="-182880">
              <a:spcBef>
                <a:spcPts val="300"/>
              </a:spcBef>
              <a:buFont typeface="Arial"/>
              <a:buChar char="•"/>
            </a:pPr>
            <a:r>
              <a:rPr lang="en-US" sz="1400" b="0" i="0" dirty="0">
                <a:solidFill>
                  <a:srgbClr val="1E293B"/>
                </a:solidFill>
                <a:latin typeface="Times New Roman"/>
                <a:cs typeface="Times New Roman"/>
              </a:rPr>
              <a:t>Seed noise ≫ paired CI: single-seed gaps &lt; 0.007 are not findings.</a:t>
            </a:r>
          </a:p>
        </p:txBody>
      </p:sp>
      <p:graphicFrame>
        <p:nvGraphicFramePr>
          <p:cNvPr id="6" name="Table 5"/>
          <p:cNvGraphicFramePr>
            <a:graphicFrameLocks noGrp="1"/>
          </p:cNvGraphicFramePr>
          <p:nvPr/>
        </p:nvGraphicFramePr>
        <p:xfrm>
          <a:off x="822960" y="1645920"/>
          <a:ext cx="10543032" cy="1755648"/>
        </p:xfrm>
        <a:graphic>
          <a:graphicData uri="http://schemas.openxmlformats.org/drawingml/2006/table">
            <a:tbl>
              <a:tblPr firstRow="1">
                <a:tableStyleId>{5C22544A-7EE6-4342-B048-85BDC9FD1C3A}</a:tableStyleId>
              </a:tblPr>
              <a:tblGrid>
                <a:gridCol w="5715000"/>
                <a:gridCol w="914400"/>
                <a:gridCol w="1005840"/>
                <a:gridCol w="2907792"/>
              </a:tblGrid>
              <a:tr h="292608">
                <a:tc>
                  <a:txBody>
                    <a:bodyPr/>
                    <a:lstStyle/>
                    <a:p>
                      <a:pPr algn="ctr">
                        <a:spcBef>
                          <a:spcPts val="0"/>
                        </a:spcBef>
                        <a:buNone/>
                      </a:pPr>
                      <a:r>
                        <a:rPr lang="en-US" sz="1100" b="1" i="0" dirty="0">
                          <a:solidFill>
                            <a:srgbClr val="FFFFFF"/>
                          </a:solidFill>
                          <a:latin typeface="Times New Roman"/>
                          <a:cs typeface="Times New Roman"/>
                        </a:rPr>
                        <a:t>NRMS ablation rung (cumulative)</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AUC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Δ nDCG@10 vs previous [95% CI]</a:t>
                      </a:r>
                    </a:p>
                  </a:txBody>
                  <a:tcPr marL="54864" marR="54864" marT="22860" marB="22860" anchor="ctr">
                    <a:solidFill>
                      <a:srgbClr val="0F1E42"/>
                    </a:solidFill>
                  </a:tcPr>
                </a:tc>
              </a:tr>
              <a:tr h="292608">
                <a:tc>
                  <a:txBody>
                    <a:bodyPr/>
                    <a:lstStyle/>
                    <a:p>
                      <a:pPr algn="l">
                        <a:spcBef>
                          <a:spcPts val="0"/>
                        </a:spcBef>
                        <a:buNone/>
                      </a:pPr>
                      <a:r>
                        <a:rPr lang="en-US" sz="1100" b="0" i="0" dirty="0">
                          <a:solidFill>
                            <a:srgbClr val="0F1E42"/>
                          </a:solidFill>
                          <a:latin typeface="Times New Roman"/>
                          <a:cs typeface="Times New Roman"/>
                        </a:rPr>
                        <a:t>Rung 0 — V10 recipe in the new harness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0.6156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0.3694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292608">
                <a:tc>
                  <a:txBody>
                    <a:bodyPr/>
                    <a:lstStyle/>
                    <a:p>
                      <a:pPr algn="l">
                        <a:spcBef>
                          <a:spcPts val="0"/>
                        </a:spcBef>
                        <a:buNone/>
                      </a:pPr>
                      <a:r>
                        <a:rPr lang="en-US" sz="1100" b="0" i="0" dirty="0">
                          <a:solidFill>
                            <a:srgbClr val="0F1E42"/>
                          </a:solidFill>
                          <a:latin typeface="Times New Roman"/>
                          <a:cs typeface="Times New Roman"/>
                        </a:rPr>
                        <a:t>Rung 1 — + title-only, UNK, padding mask, negatives re-drawn every epoch</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0.6102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0.3661</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−0.0033 [−0.0051, −0.0015]</a:t>
                      </a:r>
                    </a:p>
                  </a:txBody>
                  <a:tcPr marL="54864" marR="54864" marT="22860" marB="22860" anchor="ctr">
                    <a:solidFill>
                      <a:srgbClr val="F8FAFC"/>
                    </a:solidFill>
                  </a:tcPr>
                </a:tc>
              </a:tr>
              <a:tr h="292608">
                <a:tc>
                  <a:txBody>
                    <a:bodyPr/>
                    <a:lstStyle/>
                    <a:p>
                      <a:pPr algn="l">
                        <a:spcBef>
                          <a:spcPts val="0"/>
                        </a:spcBef>
                        <a:buNone/>
                      </a:pPr>
                      <a:r>
                        <a:rPr lang="en-US" sz="1100" b="0" i="0" dirty="0">
                          <a:solidFill>
                            <a:srgbClr val="0F1E42"/>
                          </a:solidFill>
                          <a:latin typeface="Times New Roman"/>
                          <a:cs typeface="Times New Roman"/>
                        </a:rPr>
                        <a:t>Rung 2 — + standard size / lr, random vectors (not converged)</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0.5818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0.3447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−0.0213 [−0.0229, −0.0197]</a:t>
                      </a:r>
                    </a:p>
                  </a:txBody>
                  <a:tcPr marL="54864" marR="54864" marT="22860" marB="22860" anchor="ctr">
                    <a:solidFill>
                      <a:srgbClr val="FFFFFF"/>
                    </a:solidFill>
                  </a:tcPr>
                </a:tc>
              </a:tr>
              <a:tr h="292608">
                <a:tc>
                  <a:txBody>
                    <a:bodyPr/>
                    <a:lstStyle/>
                    <a:p>
                      <a:pPr algn="l">
                        <a:spcBef>
                          <a:spcPts val="0"/>
                        </a:spcBef>
                        <a:buNone/>
                      </a:pPr>
                      <a:r>
                        <a:rPr lang="en-US" sz="1100" b="1" i="0" dirty="0">
                          <a:solidFill>
                            <a:srgbClr val="0F1E42"/>
                          </a:solidFill>
                          <a:latin typeface="Times New Roman"/>
                          <a:cs typeface="Times New Roman"/>
                        </a:rPr>
                        <a:t>NRMS, published recipe — + GloVe-300</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0.6392</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0.3937</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+0.0490 [+0.0471, +0.0509]</a:t>
                      </a:r>
                    </a:p>
                  </a:txBody>
                  <a:tcPr marL="54864" marR="54864" marT="22860" marB="22860" anchor="ctr">
                    <a:solidFill>
                      <a:srgbClr val="FEE2E2"/>
                    </a:solidFill>
                  </a:tcPr>
                </a:tc>
              </a:tr>
              <a:tr h="292608">
                <a:tc>
                  <a:txBody>
                    <a:bodyPr/>
                    <a:lstStyle/>
                    <a:p>
                      <a:pPr algn="l">
                        <a:spcBef>
                          <a:spcPts val="0"/>
                        </a:spcBef>
                        <a:buNone/>
                      </a:pPr>
                      <a:r>
                        <a:rPr lang="en-US" sz="1100" b="0" i="0" dirty="0">
                          <a:solidFill>
                            <a:srgbClr val="0F1E42"/>
                          </a:solidFill>
                          <a:latin typeface="Times New Roman"/>
                          <a:cs typeface="Times New Roman"/>
                        </a:rPr>
                        <a:t>NRMS refit — + training on the validation days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0.6555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0.4078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+0.0141 [+0.0126, +0.0156]</a:t>
                      </a:r>
                    </a:p>
                  </a:txBody>
                  <a:tcPr marL="54864" marR="54864" marT="22860" marB="22860" anchor="ctr">
                    <a:solidFill>
                      <a:srgbClr val="FFFFFF"/>
                    </a:solidFill>
                  </a:tcPr>
                </a:tc>
              </a:tr>
            </a:tbl>
          </a:graphicData>
        </a:graphic>
      </p:graphicFrame>
      <p:graphicFrame>
        <p:nvGraphicFramePr>
          <p:cNvPr id="7" name="Table 6"/>
          <p:cNvGraphicFramePr>
            <a:graphicFrameLocks noGrp="1"/>
          </p:cNvGraphicFramePr>
          <p:nvPr/>
        </p:nvGraphicFramePr>
        <p:xfrm>
          <a:off x="822960" y="3749040"/>
          <a:ext cx="6675120" cy="1371600"/>
        </p:xfrm>
        <a:graphic>
          <a:graphicData uri="http://schemas.openxmlformats.org/drawingml/2006/table">
            <a:tbl>
              <a:tblPr firstRow="1">
                <a:tableStyleId>{5C22544A-7EE6-4342-B048-85BDC9FD1C3A}</a:tableStyleId>
              </a:tblPr>
              <a:tblGrid>
                <a:gridCol w="3931920"/>
                <a:gridCol w="914400"/>
                <a:gridCol w="914400"/>
                <a:gridCol w="914400"/>
              </a:tblGrid>
              <a:tr h="274320">
                <a:tc>
                  <a:txBody>
                    <a:bodyPr/>
                    <a:lstStyle/>
                    <a:p>
                      <a:pPr algn="ctr">
                        <a:spcBef>
                          <a:spcPts val="0"/>
                        </a:spcBef>
                        <a:buNone/>
                      </a:pPr>
                      <a:r>
                        <a:rPr lang="en-US" sz="1100" b="1" i="0" dirty="0">
                          <a:solidFill>
                            <a:srgbClr val="FFFFFF"/>
                          </a:solidFill>
                          <a:latin typeface="Times New Roman"/>
                          <a:cs typeface="Times New Roman"/>
                        </a:rPr>
                        <a:t>Same recipe, two seeds</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seed A</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seed B</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gap</a:t>
                      </a:r>
                    </a:p>
                  </a:txBody>
                  <a:tcPr marL="54864" marR="54864" marT="22860" marB="22860" anchor="ctr">
                    <a:solidFill>
                      <a:srgbClr val="0F1E42"/>
                    </a:solidFill>
                  </a:tcPr>
                </a:tc>
              </a:tr>
              <a:tr h="274320">
                <a:tc>
                  <a:txBody>
                    <a:bodyPr/>
                    <a:lstStyle/>
                    <a:p>
                      <a:pPr algn="l">
                        <a:spcBef>
                          <a:spcPts val="0"/>
                        </a:spcBef>
                        <a:buNone/>
                      </a:pPr>
                      <a:r>
                        <a:rPr lang="en-US" sz="1100" b="0" i="0" dirty="0">
                          <a:solidFill>
                            <a:srgbClr val="0F1E42"/>
                          </a:solidFill>
                          <a:latin typeface="Times New Roman"/>
                          <a:cs typeface="Times New Roman"/>
                        </a:rPr>
                        <a:t>NRMS (published recipe)</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0.3937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0.4005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0.0068</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Qwen3 LoRA user tower (causal)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0.3944</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0.3820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0.0124</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Qwen3 reader um_frozen</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0.3929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0.4063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0.0134</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Qwen3 reader um_text</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0.4173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0.4036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0.0137</a:t>
                      </a:r>
                    </a:p>
                  </a:txBody>
                  <a:tcPr marL="54864" marR="54864" marT="22860" marB="22860" anchor="ctr">
                    <a:solidFill>
                      <a:srgbClr val="F8FAFC"/>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7.3 Null and Negative Results Across LLM Directions (MIND-small)</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627632"/>
            <a:ext cx="36850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Negative or ≈ 0</a:t>
            </a:r>
          </a:p>
          <a:p>
            <a:pPr algn="l" marL="219456" indent="-182880">
              <a:spcBef>
                <a:spcPts val="300"/>
              </a:spcBef>
              <a:buFont typeface="Arial"/>
              <a:buChar char="•"/>
            </a:pPr>
            <a:r>
              <a:rPr lang="en-US" sz="1400" b="0" i="0" dirty="0">
                <a:solidFill>
                  <a:srgbClr val="1E293B"/>
                </a:solidFill>
                <a:latin typeface="Times New Roman"/>
                <a:cs typeface="Times New Roman"/>
              </a:rPr>
              <a:t>Representation RAG −0.0080 … −0.0003; GraphRAG +0.0043 (cold AUC −0.0031).</a:t>
            </a:r>
          </a:p>
          <a:p>
            <a:pPr algn="l" marL="219456" indent="-182880">
              <a:spcBef>
                <a:spcPts val="300"/>
              </a:spcBef>
              <a:buFont typeface="Arial"/>
              <a:buChar char="•"/>
            </a:pPr>
            <a:r>
              <a:rPr lang="en-US" sz="1400" b="0" i="0" dirty="0">
                <a:solidFill>
                  <a:srgbClr val="1E293B"/>
                </a:solidFill>
                <a:latin typeface="Times New Roman"/>
                <a:cs typeface="Times New Roman"/>
              </a:rPr>
              <a:t>SID-GPT slate ranker 0.2898 ≈ random vectors 0.2897.</a:t>
            </a:r>
          </a:p>
          <a:p>
            <a:pPr algn="l" marL="219456" indent="-182880">
              <a:spcBef>
                <a:spcPts val="300"/>
              </a:spcBef>
              <a:buFont typeface="Arial"/>
              <a:buChar char="•"/>
            </a:pPr>
            <a:r>
              <a:rPr lang="en-US" sz="1400" b="0" i="0" dirty="0">
                <a:solidFill>
                  <a:srgbClr val="1E293B"/>
                </a:solidFill>
                <a:latin typeface="Times New Roman"/>
                <a:cs typeface="Times New Roman"/>
              </a:rPr>
              <a:t>LLM-written reader profiles −0.0308; history-as-text −0.0211 … −0.0014.</a:t>
            </a:r>
          </a:p>
          <a:p>
            <a:pPr algn="l" marL="219456" indent="-182880">
              <a:spcBef>
                <a:spcPts val="300"/>
              </a:spcBef>
              <a:buFont typeface="Arial"/>
              <a:buChar char="•"/>
            </a:pPr>
            <a:r>
              <a:rPr lang="en-US" sz="1400" b="0" i="0" dirty="0">
                <a:solidFill>
                  <a:srgbClr val="1E293B"/>
                </a:solidFill>
                <a:latin typeface="Times New Roman"/>
                <a:cs typeface="Times New Roman"/>
              </a:rPr>
              <a:t>Qwen3-1.7B judge −0.0112 [−0.0216, −0.0008]; fused with the base score −0.0051 (n.s.).</a:t>
            </a:r>
          </a:p>
          <a:p>
            <a:pPr algn="l" marL="219456" indent="-182880">
              <a:spcBef>
                <a:spcPts val="300"/>
              </a:spcBef>
              <a:buFont typeface="Arial"/>
              <a:buChar char="•"/>
            </a:pPr>
            <a:r>
              <a:rPr lang="en-US" sz="1400" b="0" i="0" dirty="0">
                <a:solidFill>
                  <a:srgbClr val="1E293B"/>
                </a:solidFill>
                <a:latin typeface="Times New Roman"/>
                <a:cs typeface="Times New Roman"/>
              </a:rPr>
              <a:t>LoRA / DoRA +0.0016 … +0.0029 with lower cold AUC.</a:t>
            </a:r>
          </a:p>
          <a:p>
            <a:pPr algn="l">
              <a:spcBef>
                <a:spcPts val="700"/>
              </a:spcBef>
              <a:buNone/>
            </a:pPr>
            <a:r>
              <a:rPr lang="en-US" sz="1600" b="1" i="0" dirty="0">
                <a:solidFill>
                  <a:srgbClr val="0F1E42"/>
                </a:solidFill>
                <a:latin typeface="Times New Roman"/>
                <a:cs typeface="Times New Roman"/>
              </a:rPr>
              <a:t>RQ3 — answer</a:t>
            </a:r>
          </a:p>
          <a:p>
            <a:pPr algn="l" marL="219456" indent="-182880">
              <a:spcBef>
                <a:spcPts val="300"/>
              </a:spcBef>
              <a:buFont typeface="Arial"/>
              <a:buChar char="•"/>
            </a:pPr>
            <a:r>
              <a:rPr lang="en-US" sz="1400" b="0" i="0" dirty="0">
                <a:solidFill>
                  <a:srgbClr val="1E293B"/>
                </a:solidFill>
                <a:latin typeface="Times New Roman"/>
                <a:cs typeface="Times New Roman"/>
              </a:rPr>
              <a:t>Only the cheap form of LLM knowledge (category text) and late interaction give robust gains on news.</a:t>
            </a:r>
          </a:p>
        </p:txBody>
      </p:sp>
      <p:pic>
        <p:nvPicPr>
          <p:cNvPr id="6" name="Picture 5" descr="s_directions.png"/>
          <p:cNvPicPr>
            <a:picLocks noChangeAspect="1"/>
          </p:cNvPicPr>
          <p:nvPr/>
        </p:nvPicPr>
        <p:blipFill>
          <a:blip r:embed="rId3"/>
          <a:stretch>
            <a:fillRect/>
          </a:stretch>
        </p:blipFill>
        <p:spPr>
          <a:xfrm>
            <a:off x="822960" y="1868043"/>
            <a:ext cx="6675120" cy="380771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7.4 Multi-interest and the LLM User Tower: No Robust Gain</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51960"/>
            <a:ext cx="6309360" cy="1645920"/>
          </a:xfrm>
          <a:prstGeom prst="rect">
            <a:avLst/>
          </a:prstGeom>
          <a:noFill/>
        </p:spPr>
        <p:txBody>
          <a:bodyPr wrap="square">
            <a:spAutoFit/>
          </a:bodyPr>
          <a:lstStyle/>
          <a:p>
            <a:pPr algn="l" marL="219456" indent="-182880">
              <a:spcBef>
                <a:spcPts val="0"/>
              </a:spcBef>
              <a:buFont typeface="Arial"/>
              <a:buChar char="•"/>
            </a:pPr>
            <a:r>
              <a:rPr lang="en-US" sz="1400" b="0" i="0" dirty="0">
                <a:solidFill>
                  <a:srgbClr val="1E293B"/>
                </a:solidFill>
                <a:latin typeface="Times New Roman"/>
                <a:cs typeface="Times New Roman"/>
              </a:rPr>
              <a:t>k-means interests sit between mean-pool and LSE, monotone in K (−0.0079 / −0.0048 / −0.0030 vs LSE).</a:t>
            </a:r>
          </a:p>
          <a:p>
            <a:pPr algn="l" marL="219456" indent="-182880">
              <a:spcBef>
                <a:spcPts val="300"/>
              </a:spcBef>
              <a:buFont typeface="Arial"/>
              <a:buChar char="•"/>
            </a:pPr>
            <a:r>
              <a:rPr lang="en-US" sz="1400" b="0" i="0" dirty="0">
                <a:solidFill>
                  <a:srgbClr val="1E293B"/>
                </a:solidFill>
                <a:latin typeface="Times New Roman"/>
                <a:cs typeface="Times New Roman"/>
              </a:rPr>
              <a:t>Without a penalty the K interests collapse (cos 0.85–0.91); with it they separate but ranking does not improve.</a:t>
            </a:r>
          </a:p>
        </p:txBody>
      </p:sp>
      <p:graphicFrame>
        <p:nvGraphicFramePr>
          <p:cNvPr id="6" name="Table 5"/>
          <p:cNvGraphicFramePr>
            <a:graphicFrameLocks noGrp="1"/>
          </p:cNvGraphicFramePr>
          <p:nvPr/>
        </p:nvGraphicFramePr>
        <p:xfrm>
          <a:off x="822960" y="1645920"/>
          <a:ext cx="6309360" cy="2468880"/>
        </p:xfrm>
        <a:graphic>
          <a:graphicData uri="http://schemas.openxmlformats.org/drawingml/2006/table">
            <a:tbl>
              <a:tblPr firstRow="1">
                <a:tableStyleId>{5C22544A-7EE6-4342-B048-85BDC9FD1C3A}</a:tableStyleId>
              </a:tblPr>
              <a:tblGrid>
                <a:gridCol w="777240"/>
                <a:gridCol w="2834640"/>
                <a:gridCol w="914400"/>
                <a:gridCol w="731520"/>
                <a:gridCol w="1051560"/>
              </a:tblGrid>
              <a:tr h="274320">
                <a:tc>
                  <a:txBody>
                    <a:bodyPr/>
                    <a:lstStyle/>
                    <a:p>
                      <a:pPr algn="ctr">
                        <a:spcBef>
                          <a:spcPts val="0"/>
                        </a:spcBef>
                        <a:buNone/>
                      </a:pPr>
                      <a:r>
                        <a:rPr lang="en-US" sz="1100" b="1" i="0" dirty="0">
                          <a:solidFill>
                            <a:srgbClr val="FFFFFF"/>
                          </a:solidFill>
                          <a:latin typeface="Times New Roman"/>
                          <a:cs typeface="Times New Roman"/>
                        </a:rPr>
                        <a:t>Enc.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Reader (test nDCG@10, mean of seeds)</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std</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interest cos</a:t>
                      </a:r>
                    </a:p>
                  </a:txBody>
                  <a:tcPr marL="54864" marR="54864" marT="22860" marB="22860" anchor="ctr">
                    <a:solidFill>
                      <a:srgbClr val="0F1E42"/>
                    </a:solidFill>
                  </a:tcPr>
                </a:tc>
              </a:tr>
              <a:tr h="274320">
                <a:tc>
                  <a:txBody>
                    <a:bodyPr/>
                    <a:lstStyle/>
                    <a:p>
                      <a:pPr algn="l">
                        <a:spcBef>
                          <a:spcPts val="0"/>
                        </a:spcBef>
                        <a:buNone/>
                      </a:pPr>
                      <a:r>
                        <a:rPr lang="en-US" sz="1100" b="0" i="0" dirty="0">
                          <a:solidFill>
                            <a:srgbClr val="0F1E42"/>
                          </a:solidFill>
                          <a:latin typeface="Times New Roman"/>
                          <a:cs typeface="Times New Roman"/>
                        </a:rPr>
                        <a:t>BGE</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um_frozen (1 vector, 3 seeds)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0.3968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0.0016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BGE</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mi1 (K = 1 control)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0.3906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0.0035</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BGE</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mi4 (K = 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0.3944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0.0011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0.85–0.87</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BGE</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mi4d (K = 4 + diversity penalty)</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0.3972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0.0055</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0.34–0.39</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Qwen3</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um_frozen (2 seeds)</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0.3996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0.0067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Qwen3</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mi1 (K = 1 control)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0.4008</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0.0018</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Qwen3</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mi4 (K = 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0.4029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0.0019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0.91</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Qwen3</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mi4d (K = 4 + diversity penalty)</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0.3965</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0.0032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0.38–0.52</a:t>
                      </a:r>
                    </a:p>
                  </a:txBody>
                  <a:tcPr marL="54864" marR="54864" marT="22860" marB="22860" anchor="ctr">
                    <a:solidFill>
                      <a:srgbClr val="F8FAFC"/>
                    </a:solidFill>
                  </a:tcPr>
                </a:tc>
              </a:tr>
            </a:tbl>
          </a:graphicData>
        </a:graphic>
      </p:graphicFrame>
      <p:graphicFrame>
        <p:nvGraphicFramePr>
          <p:cNvPr id="7" name="Table 6"/>
          <p:cNvGraphicFramePr>
            <a:graphicFrameLocks noGrp="1"/>
          </p:cNvGraphicFramePr>
          <p:nvPr/>
        </p:nvGraphicFramePr>
        <p:xfrm>
          <a:off x="7498080" y="1645920"/>
          <a:ext cx="3867912" cy="1645920"/>
        </p:xfrm>
        <a:graphic>
          <a:graphicData uri="http://schemas.openxmlformats.org/drawingml/2006/table">
            <a:tbl>
              <a:tblPr firstRow="1">
                <a:tableStyleId>{5C22544A-7EE6-4342-B048-85BDC9FD1C3A}</a:tableStyleId>
              </a:tblPr>
              <a:tblGrid>
                <a:gridCol w="2103120"/>
                <a:gridCol w="868680"/>
                <a:gridCol w="896112"/>
              </a:tblGrid>
              <a:tr h="274320">
                <a:tc>
                  <a:txBody>
                    <a:bodyPr/>
                    <a:lstStyle/>
                    <a:p>
                      <a:pPr algn="ctr">
                        <a:spcBef>
                          <a:spcPts val="0"/>
                        </a:spcBef>
                        <a:buNone/>
                      </a:pPr>
                      <a:r>
                        <a:rPr lang="en-US" sz="1100" b="1" i="0" dirty="0">
                          <a:solidFill>
                            <a:srgbClr val="FFFFFF"/>
                          </a:solidFill>
                          <a:latin typeface="Times New Roman"/>
                          <a:cs typeface="Times New Roman"/>
                        </a:rPr>
                        <a:t>Qwen3 + LoRA tower mask</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 meanpool</a:t>
                      </a:r>
                    </a:p>
                  </a:txBody>
                  <a:tcPr marL="54864" marR="54864" marT="22860" marB="22860" anchor="ctr">
                    <a:solidFill>
                      <a:srgbClr val="0F1E42"/>
                    </a:solidFill>
                  </a:tcPr>
                </a:tc>
              </a:tr>
              <a:tr h="274320">
                <a:tc>
                  <a:txBody>
                    <a:bodyPr/>
                    <a:lstStyle/>
                    <a:p>
                      <a:pPr algn="l">
                        <a:spcBef>
                          <a:spcPts val="0"/>
                        </a:spcBef>
                        <a:buNone/>
                      </a:pPr>
                      <a:r>
                        <a:rPr lang="en-US" sz="1100" b="0" i="0" dirty="0">
                          <a:solidFill>
                            <a:srgbClr val="0F1E42"/>
                          </a:solidFill>
                          <a:latin typeface="Times New Roman"/>
                          <a:cs typeface="Times New Roman"/>
                        </a:rPr>
                        <a:t>causal (seed 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0.3944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0.4026</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bidirectional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0.3854</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0.3965</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soft (v7)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0.3964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0.4043</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soft (v13 re-run)</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0.3956</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causal (seed 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0.3820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0.3923</a:t>
                      </a:r>
                    </a:p>
                  </a:txBody>
                  <a:tcPr marL="54864" marR="54864" marT="22860" marB="22860" anchor="ctr">
                    <a:solidFill>
                      <a:srgbClr val="FFFFFF"/>
                    </a:solidFill>
                  </a:tcPr>
                </a:tc>
              </a:tr>
            </a:tbl>
          </a:graphicData>
        </a:graphic>
      </p:graphicFrame>
      <p:sp>
        <p:nvSpPr>
          <p:cNvPr id="5" name="TextBox 8"/>
          <p:cNvSpPr txBox="1"/>
          <p:nvPr/>
        </p:nvSpPr>
        <p:spPr>
          <a:xfrm>
            <a:off x="7498080" y="3429000"/>
            <a:ext cx="3867912" cy="2377440"/>
          </a:xfrm>
          <a:prstGeom prst="rect">
            <a:avLst/>
          </a:prstGeom>
          <a:noFill/>
        </p:spPr>
        <p:txBody>
          <a:bodyPr wrap="square">
            <a:spAutoFit/>
          </a:bodyPr>
          <a:lstStyle/>
          <a:p>
            <a:pPr algn="l" marL="219456" indent="-182880">
              <a:spcBef>
                <a:spcPts val="0"/>
              </a:spcBef>
              <a:buFont typeface="Arial"/>
              <a:buChar char="•"/>
            </a:pPr>
            <a:r>
              <a:rPr lang="en-US" sz="1400" b="0" i="0" dirty="0">
                <a:solidFill>
                  <a:srgbClr val="1E293B"/>
                </a:solidFill>
                <a:latin typeface="Times New Roman"/>
                <a:cs typeface="Times New Roman"/>
              </a:rPr>
              <a:t>soft − causal: +0.0020 (v7) → −0.0063 (v13), same code and seed.</a:t>
            </a:r>
          </a:p>
          <a:p>
            <a:pPr algn="l" marL="219456" indent="-182880">
              <a:spcBef>
                <a:spcPts val="300"/>
              </a:spcBef>
              <a:buFont typeface="Arial"/>
              <a:buChar char="•"/>
            </a:pPr>
            <a:r>
              <a:rPr lang="en-US" sz="1400" b="0" i="0" dirty="0">
                <a:solidFill>
                  <a:srgbClr val="1E293B"/>
                </a:solidFill>
                <a:latin typeface="Times New Roman"/>
                <a:cs typeface="Times New Roman"/>
              </a:rPr>
              <a:t>Seed gap 0.0124 ≥ any mask effect → no evidence that masks matter here (n = 30,000).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8. MIND-large (v15): Components, Linear Fusion and GBDT Stacker</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0" y="1627632"/>
            <a:ext cx="336499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Paired comparisons (nDCG@10)</a:t>
            </a:r>
          </a:p>
          <a:p>
            <a:pPr algn="l" marL="219456" indent="-182880">
              <a:spcBef>
                <a:spcPts val="300"/>
              </a:spcBef>
              <a:buFont typeface="Arial"/>
              <a:buChar char="•"/>
            </a:pPr>
            <a:r>
              <a:rPr lang="en-US" sz="1400" b="0" i="0" dirty="0">
                <a:solidFill>
                  <a:srgbClr val="1E293B"/>
                </a:solidFill>
                <a:latin typeface="Times New Roman"/>
                <a:cs typeface="Times New Roman"/>
              </a:rPr>
              <a:t>stack_llm − super_llm: +0.0064 [+0.0059, +0.0069], but cold AUC −0.0001: the gain is on seen articles.</a:t>
            </a:r>
          </a:p>
          <a:p>
            <a:pPr algn="l" marL="219456" indent="-182880">
              <a:spcBef>
                <a:spcPts val="300"/>
              </a:spcBef>
              <a:buFont typeface="Arial"/>
              <a:buChar char="•"/>
            </a:pPr>
            <a:r>
              <a:rPr lang="en-US" sz="1400" b="0" i="0" dirty="0">
                <a:solidFill>
                  <a:srgbClr val="1E293B"/>
                </a:solidFill>
                <a:latin typeface="Times New Roman"/>
                <a:cs typeface="Times New Roman"/>
              </a:rPr>
              <a:t>stack_meta − stack_llm: +0.0176; cold AUC +0.0277, warm AUC −0.035.</a:t>
            </a:r>
          </a:p>
          <a:p>
            <a:pPr algn="l" marL="219456" indent="-182880">
              <a:spcBef>
                <a:spcPts val="300"/>
              </a:spcBef>
              <a:buFont typeface="Arial"/>
              <a:buChar char="•"/>
            </a:pPr>
            <a:r>
              <a:rPr lang="en-US" sz="1400" b="0" i="0" dirty="0">
                <a:solidFill>
                  <a:srgbClr val="1E293B"/>
                </a:solidFill>
                <a:latin typeface="Times New Roman"/>
                <a:cs typeface="Times New Roman"/>
              </a:rPr>
              <a:t>stack_pop − super_llm+pop: +0.0131.</a:t>
            </a:r>
          </a:p>
          <a:p>
            <a:pPr algn="l">
              <a:spcBef>
                <a:spcPts val="700"/>
              </a:spcBef>
              <a:buNone/>
            </a:pPr>
            <a:r>
              <a:rPr lang="en-US" sz="1600" b="1" i="0" dirty="0">
                <a:solidFill>
                  <a:srgbClr val="0F1E42"/>
                </a:solidFill>
                <a:latin typeface="Times New Roman"/>
                <a:cs typeface="Times New Roman"/>
              </a:rPr>
              <a:t>Caveat</a:t>
            </a:r>
          </a:p>
          <a:p>
            <a:pPr algn="l" marL="219456" indent="-182880">
              <a:spcBef>
                <a:spcPts val="300"/>
              </a:spcBef>
              <a:buFont typeface="Arial"/>
              <a:buChar char="•"/>
            </a:pPr>
            <a:r>
              <a:rPr lang="en-US" sz="1400" b="0" i="0" dirty="0">
                <a:solidFill>
                  <a:srgbClr val="1E293B"/>
                </a:solidFill>
                <a:latin typeface="Times New Roman"/>
                <a:cs typeface="Times New Roman"/>
              </a:rPr>
              <a:t>Stacker out-of-fold validation sat 0.03–0.04 above test (0.4909 → 0.4508) — tested in v16b (Section 8.3).</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MINDlarge_dev, 376,471 impressions; stack_meta reads exposure in the impression log (no labels); the last three rows are streaming.</a:t>
            </a:r>
          </a:p>
        </p:txBody>
      </p:sp>
      <p:graphicFrame>
        <p:nvGraphicFramePr>
          <p:cNvPr id="7" name="Table 6"/>
          <p:cNvGraphicFramePr>
            <a:graphicFrameLocks noGrp="1"/>
          </p:cNvGraphicFramePr>
          <p:nvPr/>
        </p:nvGraphicFramePr>
        <p:xfrm>
          <a:off x="822960" y="1645920"/>
          <a:ext cx="6931152" cy="3456432"/>
        </p:xfrm>
        <a:graphic>
          <a:graphicData uri="http://schemas.openxmlformats.org/drawingml/2006/table">
            <a:tbl>
              <a:tblPr firstRow="1">
                <a:tableStyleId>{5C22544A-7EE6-4342-B048-85BDC9FD1C3A}</a:tableStyleId>
              </a:tblPr>
              <a:tblGrid>
                <a:gridCol w="3017520"/>
                <a:gridCol w="749808"/>
                <a:gridCol w="749808"/>
                <a:gridCol w="804672"/>
                <a:gridCol w="804672"/>
                <a:gridCol w="804672"/>
              </a:tblGrid>
              <a:tr h="384048">
                <a:tc>
                  <a:txBody>
                    <a:bodyPr/>
                    <a:lstStyle/>
                    <a:p>
                      <a:pPr algn="ctr">
                        <a:spcBef>
                          <a:spcPts val="0"/>
                        </a:spcBef>
                        <a:buNone/>
                      </a:pPr>
                      <a:r>
                        <a:rPr lang="en-US" sz="1100" b="1" i="0" dirty="0">
                          <a:solidFill>
                            <a:srgbClr val="FFFFFF"/>
                          </a:solidFill>
                          <a:latin typeface="Times New Roman"/>
                          <a:cs typeface="Times New Roman"/>
                        </a:rPr>
                        <a:t>Row</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AUC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MRR</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cold AUC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warm AUC</a:t>
                      </a:r>
                    </a:p>
                  </a:txBody>
                  <a:tcPr marL="54864" marR="54864" marT="22860" marB="22860" anchor="ctr">
                    <a:solidFill>
                      <a:srgbClr val="0F1E42"/>
                    </a:solidFill>
                  </a:tcPr>
                </a:tc>
              </a:tr>
              <a:tr h="384048">
                <a:tc>
                  <a:txBody>
                    <a:bodyPr/>
                    <a:lstStyle/>
                    <a:p>
                      <a:pPr algn="l">
                        <a:spcBef>
                          <a:spcPts val="0"/>
                        </a:spcBef>
                        <a:buNone/>
                      </a:pPr>
                      <a:r>
                        <a:rPr lang="en-US" sz="1100" b="0" i="0" dirty="0">
                          <a:solidFill>
                            <a:srgbClr val="0F1E42"/>
                          </a:solidFill>
                          <a:latin typeface="Times New Roman"/>
                          <a:cs typeface="Times New Roman"/>
                        </a:rPr>
                        <a:t>Qwen3 frozen (mean-pool)</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0.6215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0.2922</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0.3787</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0.6583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0.4784</a:t>
                      </a:r>
                    </a:p>
                  </a:txBody>
                  <a:tcPr marL="54864" marR="54864" marT="22860" marB="22860" anchor="ctr">
                    <a:solidFill>
                      <a:srgbClr val="FFFFFF"/>
                    </a:solidFill>
                  </a:tcPr>
                </a:tc>
              </a:tr>
              <a:tr h="384048">
                <a:tc>
                  <a:txBody>
                    <a:bodyPr/>
                    <a:lstStyle/>
                    <a:p>
                      <a:pPr algn="l">
                        <a:spcBef>
                          <a:spcPts val="0"/>
                        </a:spcBef>
                        <a:buNone/>
                      </a:pPr>
                      <a:r>
                        <a:rPr lang="en-US" sz="1100" b="0" i="0" dirty="0">
                          <a:solidFill>
                            <a:srgbClr val="0F1E42"/>
                          </a:solidFill>
                          <a:latin typeface="Times New Roman"/>
                          <a:cs typeface="Times New Roman"/>
                        </a:rPr>
                        <a:t>BGE-large frozen (mean-pool)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0.6297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0.3042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0.3933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0.6632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0.4985</a:t>
                      </a:r>
                    </a:p>
                  </a:txBody>
                  <a:tcPr marL="54864" marR="54864" marT="22860" marB="22860" anchor="ctr">
                    <a:solidFill>
                      <a:srgbClr val="F8FAFC"/>
                    </a:solidFill>
                  </a:tcPr>
                </a:tc>
              </a:tr>
              <a:tr h="384048">
                <a:tc>
                  <a:txBody>
                    <a:bodyPr/>
                    <a:lstStyle/>
                    <a:p>
                      <a:pPr algn="l">
                        <a:spcBef>
                          <a:spcPts val="0"/>
                        </a:spcBef>
                        <a:buNone/>
                      </a:pPr>
                      <a:r>
                        <a:rPr lang="en-US" sz="1100" b="0" i="0" dirty="0">
                          <a:solidFill>
                            <a:srgbClr val="0F1E42"/>
                          </a:solidFill>
                          <a:latin typeface="Times New Roman"/>
                          <a:cs typeface="Times New Roman"/>
                        </a:rPr>
                        <a:t>super_llm (linear fusion)</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0.6774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0.3286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0.4268</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0.7004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0.6207</a:t>
                      </a:r>
                    </a:p>
                  </a:txBody>
                  <a:tcPr marL="54864" marR="54864" marT="22860" marB="22860" anchor="ctr">
                    <a:solidFill>
                      <a:srgbClr val="FFFFFF"/>
                    </a:solidFill>
                  </a:tcPr>
                </a:tc>
              </a:tr>
              <a:tr h="384048">
                <a:tc>
                  <a:txBody>
                    <a:bodyPr/>
                    <a:lstStyle/>
                    <a:p>
                      <a:pPr algn="l">
                        <a:spcBef>
                          <a:spcPts val="0"/>
                        </a:spcBef>
                        <a:buNone/>
                      </a:pPr>
                      <a:r>
                        <a:rPr lang="en-US" sz="1100" b="1" i="0" dirty="0">
                          <a:solidFill>
                            <a:srgbClr val="0F1E42"/>
                          </a:solidFill>
                          <a:latin typeface="Times New Roman"/>
                          <a:cs typeface="Times New Roman"/>
                        </a:rPr>
                        <a:t>stack_llm (GBDT: scores + context)</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0.6843</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0.3355</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0.4332</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0.7003</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0.6534</a:t>
                      </a:r>
                    </a:p>
                  </a:txBody>
                  <a:tcPr marL="54864" marR="54864" marT="22860" marB="22860" anchor="ctr">
                    <a:solidFill>
                      <a:srgbClr val="FEE2E2"/>
                    </a:solidFill>
                  </a:tcPr>
                </a:tc>
              </a:tr>
              <a:tr h="384048">
                <a:tc>
                  <a:txBody>
                    <a:bodyPr/>
                    <a:lstStyle/>
                    <a:p>
                      <a:pPr algn="l">
                        <a:spcBef>
                          <a:spcPts val="0"/>
                        </a:spcBef>
                        <a:buNone/>
                      </a:pPr>
                      <a:r>
                        <a:rPr lang="en-US" sz="1100" b="1" i="0" dirty="0">
                          <a:solidFill>
                            <a:srgbClr val="0F1E42"/>
                          </a:solidFill>
                          <a:latin typeface="Times New Roman"/>
                          <a:cs typeface="Times New Roman"/>
                        </a:rPr>
                        <a:t>stack_meta (+ label-free exposure)</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0.6998</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0.3500</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0.4508</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0.7280</a:t>
                      </a:r>
                    </a:p>
                  </a:txBody>
                  <a:tcPr marL="54864" marR="54864" marT="22860" marB="22860" anchor="ctr">
                    <a:solidFill>
                      <a:srgbClr val="FEE2E2"/>
                    </a:solidFill>
                  </a:tcPr>
                </a:tc>
                <a:tc>
                  <a:txBody>
                    <a:bodyPr/>
                    <a:lstStyle/>
                    <a:p>
                      <a:pPr algn="ctr">
                        <a:spcBef>
                          <a:spcPts val="0"/>
                        </a:spcBef>
                        <a:buNone/>
                      </a:pPr>
                      <a:r>
                        <a:rPr lang="en-US" sz="1100" b="1" i="0" dirty="0">
                          <a:solidFill>
                            <a:srgbClr val="0F1E42"/>
                          </a:solidFill>
                          <a:latin typeface="Times New Roman"/>
                          <a:cs typeface="Times New Roman"/>
                        </a:rPr>
                        <a:t>0.6187</a:t>
                      </a:r>
                    </a:p>
                  </a:txBody>
                  <a:tcPr marL="54864" marR="54864" marT="22860" marB="22860" anchor="ctr">
                    <a:solidFill>
                      <a:srgbClr val="FEE2E2"/>
                    </a:solidFill>
                  </a:tcPr>
                </a:tc>
              </a:tr>
              <a:tr h="384048">
                <a:tc>
                  <a:txBody>
                    <a:bodyPr/>
                    <a:lstStyle/>
                    <a:p>
                      <a:pPr algn="l">
                        <a:spcBef>
                          <a:spcPts val="0"/>
                        </a:spcBef>
                        <a:buNone/>
                      </a:pPr>
                      <a:r>
                        <a:rPr lang="en-US" sz="1100" b="0" i="0" dirty="0">
                          <a:solidFill>
                            <a:srgbClr val="0F1E42"/>
                          </a:solidFill>
                          <a:latin typeface="Times New Roman"/>
                          <a:cs typeface="Times New Roman"/>
                        </a:rPr>
                        <a:t>frozen + pop (streaming)</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0.6757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0.3324</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0.4312</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0.7259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0.5098</a:t>
                      </a:r>
                    </a:p>
                  </a:txBody>
                  <a:tcPr marL="54864" marR="54864" marT="22860" marB="22860" anchor="ctr">
                    <a:solidFill>
                      <a:srgbClr val="F8FAFC"/>
                    </a:solidFill>
                  </a:tcPr>
                </a:tc>
              </a:tr>
              <a:tr h="384048">
                <a:tc>
                  <a:txBody>
                    <a:bodyPr/>
                    <a:lstStyle/>
                    <a:p>
                      <a:pPr algn="l">
                        <a:spcBef>
                          <a:spcPts val="0"/>
                        </a:spcBef>
                        <a:buNone/>
                      </a:pPr>
                      <a:r>
                        <a:rPr lang="en-US" sz="1100" b="0" i="0" dirty="0">
                          <a:solidFill>
                            <a:srgbClr val="0F1E42"/>
                          </a:solidFill>
                          <a:latin typeface="Times New Roman"/>
                          <a:cs typeface="Times New Roman"/>
                        </a:rPr>
                        <a:t>super_llm + pop (streaming)</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0.7114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0.3574</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0.4599</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0.7446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0.6192</a:t>
                      </a:r>
                    </a:p>
                  </a:txBody>
                  <a:tcPr marL="54864" marR="54864" marT="22860" marB="22860" anchor="ctr">
                    <a:solidFill>
                      <a:srgbClr val="FFFFFF"/>
                    </a:solidFill>
                  </a:tcPr>
                </a:tc>
              </a:tr>
              <a:tr h="384048">
                <a:tc>
                  <a:txBody>
                    <a:bodyPr/>
                    <a:lstStyle/>
                    <a:p>
                      <a:pPr algn="l">
                        <a:spcBef>
                          <a:spcPts val="0"/>
                        </a:spcBef>
                        <a:buNone/>
                      </a:pPr>
                      <a:r>
                        <a:rPr lang="en-US" sz="1100" b="0" i="0" dirty="0">
                          <a:solidFill>
                            <a:srgbClr val="0F1E42"/>
                          </a:solidFill>
                          <a:latin typeface="Times New Roman"/>
                          <a:cs typeface="Times New Roman"/>
                        </a:rPr>
                        <a:t>stack_pop (streaming)</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0.7206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0.3680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0.4730</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0.7524</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0.6313</a:t>
                      </a:r>
                    </a:p>
                  </a:txBody>
                  <a:tcPr marL="54864" marR="54864" marT="22860" marB="22860" anchor="ctr">
                    <a:solidFill>
                      <a:srgbClr val="F8FAFC"/>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8.1 Readers by Encoder (v16b): A Bigger LLM Is Not Better</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06640" y="1627632"/>
            <a:ext cx="395935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Same 128-d head, 2 seeds each</a:t>
            </a:r>
          </a:p>
          <a:p>
            <a:pPr algn="l" marL="219456" indent="-182880">
              <a:spcBef>
                <a:spcPts val="300"/>
              </a:spcBef>
              <a:buFont typeface="Arial"/>
              <a:buChar char="•"/>
            </a:pPr>
            <a:r>
              <a:rPr lang="en-US" sz="1400" b="0" i="0" dirty="0">
                <a:solidFill>
                  <a:srgbClr val="1E293B"/>
                </a:solidFill>
                <a:latin typeface="Times New Roman"/>
                <a:cs typeface="Times New Roman"/>
              </a:rPr>
              <a:t>BGE-large (335M) − Qwen3-Emb (0.6B): </a:t>
            </a:r>
            <a:r>
              <a:rPr lang="en-US" sz="1400" b="1" i="0" dirty="0">
                <a:solidFill>
                  <a:srgbClr val="1E293B"/>
                </a:solidFill>
                <a:latin typeface="Times New Roman"/>
                <a:cs typeface="Times New Roman"/>
              </a:rPr>
              <a:t>+0.0102</a:t>
            </a:r>
            <a:r>
              <a:rPr lang="en-US" sz="1400" b="0" i="0" dirty="0">
                <a:solidFill>
                  <a:srgbClr val="1E293B"/>
                </a:solidFill>
                <a:latin typeface="Times New Roman"/>
                <a:cs typeface="Times New Roman"/>
              </a:rPr>
              <a:t> [+0.0095, +0.0108].</a:t>
            </a:r>
          </a:p>
          <a:p>
            <a:pPr algn="l" marL="219456" indent="-182880">
              <a:spcBef>
                <a:spcPts val="300"/>
              </a:spcBef>
              <a:buFont typeface="Arial"/>
              <a:buChar char="•"/>
            </a:pPr>
            <a:r>
              <a:rPr lang="en-US" sz="1400" b="0" i="0" dirty="0">
                <a:solidFill>
                  <a:srgbClr val="1E293B"/>
                </a:solidFill>
                <a:latin typeface="Times New Roman"/>
                <a:cs typeface="Times New Roman"/>
              </a:rPr>
              <a:t>Concat − BGE-large: +0.0071 [+0.0066, +0.0076]; ordering holds for both seeds.</a:t>
            </a:r>
          </a:p>
          <a:p>
            <a:pPr algn="l" marL="219456" indent="-182880">
              <a:spcBef>
                <a:spcPts val="300"/>
              </a:spcBef>
              <a:buFont typeface="Arial"/>
              <a:buChar char="•"/>
            </a:pPr>
            <a:r>
              <a:rPr lang="en-US" sz="1400" b="0" i="0" dirty="0">
                <a:solidFill>
                  <a:srgbClr val="1E293B"/>
                </a:solidFill>
                <a:latin typeface="Times New Roman"/>
                <a:cs typeface="Times New Roman"/>
              </a:rPr>
              <a:t>kNN-RAG view: +0.0037 on BGE-large; +0.0003 on concat (n.s., cold AUC +0.0088).</a:t>
            </a:r>
          </a:p>
          <a:p>
            <a:pPr algn="l" marL="219456" indent="-182880">
              <a:spcBef>
                <a:spcPts val="300"/>
              </a:spcBef>
              <a:buFont typeface="Arial"/>
              <a:buChar char="•"/>
            </a:pPr>
            <a:r>
              <a:rPr lang="en-US" sz="1400" b="0" i="0" dirty="0">
                <a:solidFill>
                  <a:srgbClr val="1E293B"/>
                </a:solidFill>
                <a:latin typeface="Times New Roman"/>
                <a:cs typeface="Times New Roman"/>
              </a:rPr>
              <a:t>With 1.2 M training samples a reader beats LSE on the same encoder (BGE-large +0.0105) — the reverse of MIND-small (−0.0080).</a:t>
            </a:r>
          </a:p>
          <a:p>
            <a:pPr algn="l">
              <a:spcBef>
                <a:spcPts val="300"/>
              </a:spcBef>
              <a:buNone/>
            </a:pPr>
            <a:r>
              <a:rPr lang="en-US" sz="1200" b="0" i="1" dirty="0">
                <a:solidFill>
                  <a:srgbClr val="64748B"/>
                </a:solidFill>
                <a:latin typeface="Times New Roman"/>
                <a:cs typeface="Times New Roman"/>
              </a:rPr>
              <a:t>Diversity of representation spaces helps more than size (consistent with Zhao et al., ECIR'25).</a:t>
            </a:r>
          </a:p>
        </p:txBody>
      </p:sp>
      <p:pic>
        <p:nvPicPr>
          <p:cNvPr id="6" name="Picture 5" descr="s_readers.png"/>
          <p:cNvPicPr>
            <a:picLocks noChangeAspect="1"/>
          </p:cNvPicPr>
          <p:nvPr/>
        </p:nvPicPr>
        <p:blipFill>
          <a:blip r:embed="rId3"/>
          <a:stretch>
            <a:fillRect/>
          </a:stretch>
        </p:blipFill>
        <p:spPr>
          <a:xfrm>
            <a:off x="822960" y="1900249"/>
            <a:ext cx="6309360" cy="365186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8.2 MIND-large Results Ladder (nDCG@10)</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1627632"/>
            <a:ext cx="350215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Reading the ladder</a:t>
            </a:r>
          </a:p>
          <a:p>
            <a:pPr algn="l" marL="219456" indent="-182880">
              <a:spcBef>
                <a:spcPts val="300"/>
              </a:spcBef>
              <a:buFont typeface="Arial"/>
              <a:buChar char="•"/>
            </a:pPr>
            <a:r>
              <a:rPr lang="en-US" sz="1400" b="0" i="0" dirty="0">
                <a:solidFill>
                  <a:srgbClr val="1E293B"/>
                </a:solidFill>
                <a:latin typeface="Times New Roman"/>
                <a:cs typeface="Times New Roman"/>
              </a:rPr>
              <a:t>Content + history ceiling ≈ 0.437: linear fusion and GBDT tie.</a:t>
            </a:r>
          </a:p>
          <a:p>
            <a:pPr algn="l" marL="219456" indent="-182880">
              <a:spcBef>
                <a:spcPts val="300"/>
              </a:spcBef>
              <a:buFont typeface="Arial"/>
              <a:buChar char="•"/>
            </a:pPr>
            <a:r>
              <a:rPr lang="en-US" sz="1400" b="0" i="0" dirty="0">
                <a:solidFill>
                  <a:srgbClr val="1E293B"/>
                </a:solidFill>
                <a:latin typeface="Times New Roman"/>
                <a:cs typeface="Times New Roman"/>
              </a:rPr>
              <a:t>Label-free exposure adds +0.0143 (stack_meta).</a:t>
            </a:r>
          </a:p>
          <a:p>
            <a:pPr algn="l" marL="219456" indent="-182880">
              <a:spcBef>
                <a:spcPts val="300"/>
              </a:spcBef>
              <a:buFont typeface="Arial"/>
              <a:buChar char="•"/>
            </a:pPr>
            <a:r>
              <a:rPr lang="en-US" sz="1400" b="0" i="0" dirty="0">
                <a:solidFill>
                  <a:srgbClr val="1E293B"/>
                </a:solidFill>
                <a:latin typeface="Times New Roman"/>
                <a:cs typeface="Times New Roman"/>
              </a:rPr>
              <a:t>Streaming popularity adds +0.0215 more (stack_pop) — not comparable with offline papers.</a:t>
            </a:r>
          </a:p>
          <a:p>
            <a:pPr algn="l" marL="219456" indent="-182880">
              <a:spcBef>
                <a:spcPts val="300"/>
              </a:spcBef>
              <a:buFont typeface="Arial"/>
              <a:buChar char="•"/>
            </a:pPr>
            <a:r>
              <a:rPr lang="en-US" sz="1400" b="0" i="0" dirty="0">
                <a:solidFill>
                  <a:srgbClr val="1E293B"/>
                </a:solidFill>
                <a:latin typeface="Times New Roman"/>
                <a:cs typeface="Times New Roman"/>
              </a:rPr>
              <a:t>Colours mark the information each row uses, not the model family.</a:t>
            </a:r>
          </a:p>
        </p:txBody>
      </p:sp>
      <p:pic>
        <p:nvPicPr>
          <p:cNvPr id="6" name="Picture 5" descr="s_ladder.png"/>
          <p:cNvPicPr>
            <a:picLocks noChangeAspect="1"/>
          </p:cNvPicPr>
          <p:nvPr/>
        </p:nvPicPr>
        <p:blipFill>
          <a:blip r:embed="rId3"/>
          <a:stretch>
            <a:fillRect/>
          </a:stretch>
        </p:blipFill>
        <p:spPr>
          <a:xfrm>
            <a:off x="822960" y="2005622"/>
            <a:ext cx="6812280" cy="348683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8.3 Stacker Saturation and Honest Cross-Validation (v16b)</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3429000"/>
            <a:ext cx="4462272" cy="2468880"/>
          </a:xfrm>
          <a:prstGeom prst="rect">
            <a:avLst/>
          </a:prstGeom>
          <a:noFill/>
        </p:spPr>
        <p:txBody>
          <a:bodyPr wrap="square">
            <a:spAutoFit/>
          </a:bodyPr>
          <a:lstStyle/>
          <a:p>
            <a:pPr algn="l" marL="219456" indent="-182880">
              <a:spcBef>
                <a:spcPts val="0"/>
              </a:spcBef>
              <a:buFont typeface="Arial"/>
              <a:buChar char="•"/>
            </a:pPr>
            <a:r>
              <a:rPr lang="en-US" sz="1400" b="1" i="0" dirty="0">
                <a:solidFill>
                  <a:srgbClr val="1E293B"/>
                </a:solidFill>
                <a:latin typeface="Times New Roman"/>
                <a:cs typeface="Times New Roman"/>
              </a:rPr>
              <a:t>Saturation:</a:t>
            </a:r>
            <a:r>
              <a:rPr lang="en-US" sz="1400" b="0" i="0" dirty="0">
                <a:solidFill>
                  <a:srgbClr val="1E293B"/>
                </a:solidFill>
                <a:latin typeface="Times New Roman"/>
                <a:cs typeface="Times New Roman"/>
              </a:rPr>
              <a:t> content improved +0.0105, stack_meta only +0.0008; stack_llm − super_llm = −0.0004 [−0.0010, +0.0002].</a:t>
            </a:r>
          </a:p>
          <a:p>
            <a:pPr algn="l" marL="219456" indent="-182880">
              <a:spcBef>
                <a:spcPts val="300"/>
              </a:spcBef>
              <a:buFont typeface="Arial"/>
              <a:buChar char="•"/>
            </a:pPr>
            <a:r>
              <a:rPr lang="en-US" sz="1400" b="1" i="0" dirty="0">
                <a:solidFill>
                  <a:srgbClr val="1E293B"/>
                </a:solidFill>
                <a:latin typeface="Times New Roman"/>
                <a:cs typeface="Times New Roman"/>
              </a:rPr>
              <a:t>Honest CV:</a:t>
            </a:r>
            <a:r>
              <a:rPr lang="en-US" sz="1400" b="0" i="0" dirty="0">
                <a:solidFill>
                  <a:srgbClr val="1E293B"/>
                </a:solidFill>
                <a:latin typeface="Times New Roman"/>
                <a:cs typeface="Times New Roman"/>
              </a:rPr>
              <a:t> user folds overstate test by 0.038; time-block folds + new-article slice by 0.007.</a:t>
            </a:r>
          </a:p>
          <a:p>
            <a:pPr algn="l" marL="219456" indent="-182880">
              <a:spcBef>
                <a:spcPts val="300"/>
              </a:spcBef>
              <a:buFont typeface="Arial"/>
              <a:buChar char="•"/>
            </a:pPr>
            <a:r>
              <a:rPr lang="en-US" sz="1400" b="0" i="0" dirty="0">
                <a:solidFill>
                  <a:srgbClr val="1E293B"/>
                </a:solidFill>
                <a:latin typeface="Times New Roman"/>
                <a:cs typeface="Times New Roman"/>
              </a:rPr>
              <a:t>Yet the honest recipe is not better on test (−0.0027 [−0.0031, −0.0023] vs the v15 control): the </a:t>
            </a:r>
            <a:r>
              <a:rPr lang="en-US" sz="1400" b="0" i="1" dirty="0">
                <a:solidFill>
                  <a:srgbClr val="1E293B"/>
                </a:solidFill>
                <a:latin typeface="Times New Roman"/>
                <a:cs typeface="Times New Roman"/>
              </a:rPr>
              <a:t>estimate</a:t>
            </a:r>
            <a:r>
              <a:rPr lang="en-US" sz="1400" b="0" i="0" dirty="0">
                <a:solidFill>
                  <a:srgbClr val="1E293B"/>
                </a:solidFill>
                <a:latin typeface="Times New Roman"/>
                <a:cs typeface="Times New Roman"/>
              </a:rPr>
              <a:t> was wrong, not the model.</a:t>
            </a:r>
          </a:p>
        </p:txBody>
      </p:sp>
      <p:pic>
        <p:nvPicPr>
          <p:cNvPr id="6" name="Picture 5" descr="s_stackcv.png"/>
          <p:cNvPicPr>
            <a:picLocks noChangeAspect="1"/>
          </p:cNvPicPr>
          <p:nvPr/>
        </p:nvPicPr>
        <p:blipFill>
          <a:blip r:embed="rId3"/>
          <a:stretch>
            <a:fillRect/>
          </a:stretch>
        </p:blipFill>
        <p:spPr>
          <a:xfrm>
            <a:off x="822960" y="1703215"/>
            <a:ext cx="5852160" cy="4000211"/>
          </a:xfrm>
          <a:prstGeom prst="rect">
            <a:avLst/>
          </a:prstGeom>
        </p:spPr>
      </p:pic>
      <p:graphicFrame>
        <p:nvGraphicFramePr>
          <p:cNvPr id="7" name="Table 6"/>
          <p:cNvGraphicFramePr>
            <a:graphicFrameLocks noGrp="1"/>
          </p:cNvGraphicFramePr>
          <p:nvPr/>
        </p:nvGraphicFramePr>
        <p:xfrm>
          <a:off x="6903720" y="1645920"/>
          <a:ext cx="4462272" cy="1645920"/>
        </p:xfrm>
        <a:graphic>
          <a:graphicData uri="http://schemas.openxmlformats.org/drawingml/2006/table">
            <a:tbl>
              <a:tblPr firstRow="1">
                <a:tableStyleId>{5C22544A-7EE6-4342-B048-85BDC9FD1C3A}</a:tableStyleId>
              </a:tblPr>
              <a:tblGrid>
                <a:gridCol w="2331720"/>
                <a:gridCol w="658368"/>
                <a:gridCol w="777240"/>
                <a:gridCol w="694944"/>
              </a:tblGrid>
              <a:tr h="274320">
                <a:tc>
                  <a:txBody>
                    <a:bodyPr/>
                    <a:lstStyle/>
                    <a:p>
                      <a:pPr algn="ctr">
                        <a:spcBef>
                          <a:spcPts val="0"/>
                        </a:spcBef>
                        <a:buNone/>
                      </a:pPr>
                      <a:r>
                        <a:rPr lang="en-US" sz="1100" b="1" i="0" dirty="0">
                          <a:solidFill>
                            <a:srgbClr val="FFFFFF"/>
                          </a:solidFill>
                          <a:latin typeface="Times New Roman"/>
                          <a:cs typeface="Times New Roman"/>
                        </a:rPr>
                        <a:t>v16b row</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AUC</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nDCG@10</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v15</a:t>
                      </a:r>
                    </a:p>
                  </a:txBody>
                  <a:tcPr marL="54864" marR="54864" marT="22860" marB="22860" anchor="ctr">
                    <a:solidFill>
                      <a:srgbClr val="0F1E42"/>
                    </a:solidFill>
                  </a:tcPr>
                </a:tc>
              </a:tr>
              <a:tr h="274320">
                <a:tc>
                  <a:txBody>
                    <a:bodyPr/>
                    <a:lstStyle/>
                    <a:p>
                      <a:pPr algn="l">
                        <a:spcBef>
                          <a:spcPts val="0"/>
                        </a:spcBef>
                        <a:buNone/>
                      </a:pPr>
                      <a:r>
                        <a:rPr lang="en-US" sz="1100" b="0" i="0" dirty="0">
                          <a:solidFill>
                            <a:srgbClr val="0F1E42"/>
                          </a:solidFill>
                          <a:latin typeface="Times New Roman"/>
                          <a:cs typeface="Times New Roman"/>
                        </a:rPr>
                        <a:t>super_llm</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0.6863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0.4373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0.4268</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stack_llm</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0.6853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0.4369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0.4332</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stack_meta</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0.7013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0.4516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0.4508</a:t>
                      </a:r>
                    </a:p>
                  </a:txBody>
                  <a:tcPr marL="54864" marR="54864" marT="22860" marB="22860" anchor="ctr">
                    <a:solidFill>
                      <a:srgbClr val="FFFFFF"/>
                    </a:solidFill>
                  </a:tcPr>
                </a:tc>
              </a:tr>
              <a:tr h="274320">
                <a:tc>
                  <a:txBody>
                    <a:bodyPr/>
                    <a:lstStyle/>
                    <a:p>
                      <a:pPr algn="l">
                        <a:spcBef>
                          <a:spcPts val="0"/>
                        </a:spcBef>
                        <a:buNone/>
                      </a:pPr>
                      <a:r>
                        <a:rPr lang="en-US" sz="1100" b="0" i="0" dirty="0">
                          <a:solidFill>
                            <a:srgbClr val="0F1E42"/>
                          </a:solidFill>
                          <a:latin typeface="Times New Roman"/>
                          <a:cs typeface="Times New Roman"/>
                        </a:rPr>
                        <a:t>stack_meta_v15cfg (control)</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0.7029</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0.4543</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8FAFC"/>
                    </a:solidFill>
                  </a:tcPr>
                </a:tc>
              </a:tr>
              <a:tr h="274320">
                <a:tc>
                  <a:txBody>
                    <a:bodyPr/>
                    <a:lstStyle/>
                    <a:p>
                      <a:pPr algn="l">
                        <a:spcBef>
                          <a:spcPts val="0"/>
                        </a:spcBef>
                        <a:buNone/>
                      </a:pPr>
                      <a:r>
                        <a:rPr lang="en-US" sz="1100" b="0" i="0" dirty="0">
                          <a:solidFill>
                            <a:srgbClr val="0F1E42"/>
                          </a:solidFill>
                          <a:latin typeface="Times New Roman"/>
                          <a:cs typeface="Times New Roman"/>
                        </a:rPr>
                        <a:t>stack_pop (streaming)</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0.7196</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0.4731</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0.4730</a:t>
                      </a:r>
                    </a:p>
                  </a:txBody>
                  <a:tcPr marL="54864" marR="54864" marT="22860" marB="22860"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8.4 What the Trees Use: Split-Gain Shares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0" y="1627632"/>
            <a:ext cx="36850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Interpretation</a:t>
            </a:r>
          </a:p>
          <a:p>
            <a:pPr algn="l" marL="219456" indent="-182880">
              <a:spcBef>
                <a:spcPts val="300"/>
              </a:spcBef>
              <a:buFont typeface="Arial"/>
              <a:buChar char="•"/>
            </a:pPr>
            <a:r>
              <a:rPr lang="en-US" sz="1400" b="0" i="0" dirty="0">
                <a:solidFill>
                  <a:srgbClr val="1E293B"/>
                </a:solidFill>
                <a:latin typeface="Times New Roman"/>
                <a:cs typeface="Times New Roman"/>
              </a:rPr>
              <a:t>LLM component scores: 0.47–0.66 of total split gain in stack_llm / stack_meta (0.39–0.46 in stack_pop).</a:t>
            </a:r>
          </a:p>
          <a:p>
            <a:pPr algn="l" marL="219456" indent="-182880">
              <a:spcBef>
                <a:spcPts val="300"/>
              </a:spcBef>
              <a:buFont typeface="Arial"/>
              <a:buChar char="•"/>
            </a:pPr>
            <a:r>
              <a:rPr lang="en-US" sz="1400" b="0" i="0" dirty="0">
                <a:solidFill>
                  <a:srgbClr val="1E293B"/>
                </a:solidFill>
                <a:latin typeface="Times New Roman"/>
                <a:cs typeface="Times New Roman"/>
              </a:rPr>
              <a:t>The context group (0.22–0.40) mixes LLM-derived similarities with non-LLM features — slate size (ctx_n_cand) alone takes 0.10–0.25.</a:t>
            </a:r>
          </a:p>
          <a:p>
            <a:pPr algn="l" marL="219456" indent="-182880">
              <a:spcBef>
                <a:spcPts val="300"/>
              </a:spcBef>
              <a:buFont typeface="Arial"/>
              <a:buChar char="•"/>
            </a:pPr>
            <a:r>
              <a:rPr lang="en-US" sz="1400" b="0" i="0" dirty="0">
                <a:solidFill>
                  <a:srgbClr val="1E293B"/>
                </a:solidFill>
                <a:latin typeface="Times New Roman"/>
                <a:cs typeface="Times New Roman"/>
              </a:rPr>
              <a:t>So the LLM share is not 'scores + context'; an '80% LLM' claim would overstate it.</a:t>
            </a:r>
          </a:p>
          <a:p>
            <a:pPr algn="l" marL="219456" indent="-182880">
              <a:spcBef>
                <a:spcPts val="300"/>
              </a:spcBef>
              <a:buFont typeface="Arial"/>
              <a:buChar char="•"/>
            </a:pPr>
            <a:r>
              <a:rPr lang="en-US" sz="1400" b="0" i="0" dirty="0">
                <a:solidFill>
                  <a:srgbClr val="1E293B"/>
                </a:solidFill>
                <a:latin typeface="Times New Roman"/>
                <a:cs typeface="Times New Roman"/>
              </a:rPr>
              <a:t>Top v16b features: cat:um_knn_rag (0.09–0.13), ctx_n_cand, bge:um_frozen, ctx_slate_max, m_ctr; streaming: pop, popw_ctr_1h.</a:t>
            </a:r>
          </a:p>
        </p:txBody>
      </p:sp>
      <p:pic>
        <p:nvPicPr>
          <p:cNvPr id="6" name="Picture 5" descr="s_gain.png"/>
          <p:cNvPicPr>
            <a:picLocks noChangeAspect="1"/>
          </p:cNvPicPr>
          <p:nvPr/>
        </p:nvPicPr>
        <p:blipFill>
          <a:blip r:embed="rId3"/>
          <a:stretch>
            <a:fillRect/>
          </a:stretch>
        </p:blipFill>
        <p:spPr>
          <a:xfrm>
            <a:off x="875157" y="1691640"/>
            <a:ext cx="6479286" cy="402336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9. Positioning Against Published MIND-large Results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645152"/>
            <a:ext cx="10543032" cy="1280160"/>
          </a:xfrm>
          <a:prstGeom prst="rect">
            <a:avLst/>
          </a:prstGeom>
          <a:noFill/>
        </p:spPr>
        <p:txBody>
          <a:bodyPr wrap="square">
            <a:spAutoFit/>
          </a:bodyPr>
          <a:lstStyle/>
          <a:p>
            <a:pPr algn="l" marL="219456" indent="-182880">
              <a:spcBef>
                <a:spcPts val="0"/>
              </a:spcBef>
              <a:buFont typeface="Arial"/>
              <a:buChar char="•"/>
            </a:pPr>
            <a:r>
              <a:rPr lang="en-US" sz="1400" b="0" i="0" dirty="0">
                <a:solidFill>
                  <a:srgbClr val="1E293B"/>
                </a:solidFill>
                <a:latin typeface="Times New Roman"/>
                <a:cs typeface="Times New Roman"/>
              </a:rPr>
              <a:t>Content + history rows (super_llm, stack_llm: AUC 0.684–0.686) lie inside the NRMS range reported in the literature (AUC 0.670–0.691) and ≈ 0.02 AUC below PLM-NR (0.7064) / UNBERT (0.7068).</a:t>
            </a:r>
          </a:p>
          <a:p>
            <a:pPr algn="l" marL="219456" indent="-182880">
              <a:spcBef>
                <a:spcPts val="300"/>
              </a:spcBef>
              <a:buFont typeface="Arial"/>
              <a:buChar char="•"/>
            </a:pPr>
            <a:r>
              <a:rPr lang="en-US" sz="1400" b="0" i="0" dirty="0">
                <a:solidFill>
                  <a:srgbClr val="1E293B"/>
                </a:solidFill>
                <a:latin typeface="Times New Roman"/>
                <a:cs typeface="Times New Roman"/>
              </a:rPr>
              <a:t>stack_meta is within 0.005 AUC of PLM-NR and above it on nDCG@10 (0.4516 vs 0.4438), but reads impression-log exposure that PLM-NR / UNBERT do not use → a different information set; stack_pop needs test-day labels and cannot be submitted.</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Published: leaderboard test set, secondary sources (PDFs not opened). Ours: MINDlarge_dev. ~0.01 AUC differences are not model claims.</a:t>
            </a:r>
          </a:p>
        </p:txBody>
      </p:sp>
      <p:pic>
        <p:nvPicPr>
          <p:cNvPr id="7" name="Picture 6" descr="s_published.png"/>
          <p:cNvPicPr>
            <a:picLocks noChangeAspect="1"/>
          </p:cNvPicPr>
          <p:nvPr/>
        </p:nvPicPr>
        <p:blipFill>
          <a:blip r:embed="rId3"/>
          <a:stretch>
            <a:fillRect/>
          </a:stretch>
        </p:blipFill>
        <p:spPr>
          <a:xfrm>
            <a:off x="2160470" y="1572768"/>
            <a:ext cx="7868011" cy="301752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9.1 Pre-registered Predictions vs Outcomes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Predictions were written in the README before each run; several of them turned out wrong, which is reported as is.</a:t>
            </a:r>
          </a:p>
        </p:txBody>
      </p:sp>
      <p:graphicFrame>
        <p:nvGraphicFramePr>
          <p:cNvPr id="7" name="Table 5"/>
          <p:cNvGraphicFramePr>
            <a:graphicFrameLocks noGrp="1"/>
          </p:cNvGraphicFramePr>
          <p:nvPr/>
        </p:nvGraphicFramePr>
        <p:xfrm>
          <a:off x="822960" y="1645920"/>
          <a:ext cx="10543032" cy="4023360"/>
        </p:xfrm>
        <a:graphic>
          <a:graphicData uri="http://schemas.openxmlformats.org/drawingml/2006/table">
            <a:tbl>
              <a:tblPr firstRow="1">
                <a:tableStyleId>{5C22544A-7EE6-4342-B048-85BDC9FD1C3A}</a:tableStyleId>
              </a:tblPr>
              <a:tblGrid>
                <a:gridCol w="5715000"/>
                <a:gridCol w="2834640"/>
                <a:gridCol w="1993392"/>
              </a:tblGrid>
              <a:tr h="365760">
                <a:tc>
                  <a:txBody>
                    <a:bodyPr/>
                    <a:lstStyle/>
                    <a:p>
                      <a:pPr algn="ctr">
                        <a:spcBef>
                          <a:spcPts val="0"/>
                        </a:spcBef>
                        <a:buNone/>
                      </a:pPr>
                      <a:r>
                        <a:rPr lang="en-US" sz="1200" b="1" i="0" dirty="0">
                          <a:solidFill>
                            <a:srgbClr val="FFFFFF"/>
                          </a:solidFill>
                          <a:latin typeface="Times New Roman"/>
                          <a:cs typeface="Times New Roman"/>
                        </a:rPr>
                        <a:t>Prediction (written before the run)</a:t>
                      </a:r>
                    </a:p>
                  </a:txBody>
                  <a:tcPr marL="54864" marR="54864" marT="22860" marB="22860" anchor="ctr">
                    <a:solidFill>
                      <a:srgbClr val="0F1E42"/>
                    </a:solidFill>
                  </a:tcPr>
                </a:tc>
                <a:tc>
                  <a:txBody>
                    <a:bodyPr/>
                    <a:lstStyle/>
                    <a:p>
                      <a:pPr algn="ctr">
                        <a:spcBef>
                          <a:spcPts val="0"/>
                        </a:spcBef>
                        <a:buNone/>
                      </a:pPr>
                      <a:r>
                        <a:rPr lang="en-US" sz="1200" b="1" i="0" dirty="0">
                          <a:solidFill>
                            <a:srgbClr val="FFFFFF"/>
                          </a:solidFill>
                          <a:latin typeface="Times New Roman"/>
                          <a:cs typeface="Times New Roman"/>
                        </a:rPr>
                        <a:t>Measured</a:t>
                      </a:r>
                    </a:p>
                  </a:txBody>
                  <a:tcPr marL="54864" marR="54864" marT="22860" marB="22860" anchor="ctr">
                    <a:solidFill>
                      <a:srgbClr val="0F1E42"/>
                    </a:solidFill>
                  </a:tcPr>
                </a:tc>
                <a:tc>
                  <a:txBody>
                    <a:bodyPr/>
                    <a:lstStyle/>
                    <a:p>
                      <a:pPr algn="ctr">
                        <a:spcBef>
                          <a:spcPts val="0"/>
                        </a:spcBef>
                        <a:buNone/>
                      </a:pPr>
                      <a:r>
                        <a:rPr lang="en-US" sz="1200" b="1" i="0" dirty="0">
                          <a:solidFill>
                            <a:srgbClr val="FFFFFF"/>
                          </a:solidFill>
                          <a:latin typeface="Times New Roman"/>
                          <a:cs typeface="Times New Roman"/>
                        </a:rPr>
                        <a:t>Outcome</a:t>
                      </a:r>
                    </a:p>
                  </a:txBody>
                  <a:tcPr marL="54864" marR="54864" marT="22860" marB="22860" anchor="ctr">
                    <a:solidFill>
                      <a:srgbClr val="0F1E42"/>
                    </a:solidFill>
                  </a:tcPr>
                </a:tc>
              </a:tr>
              <a:tr h="365760">
                <a:tc>
                  <a:txBody>
                    <a:bodyPr/>
                    <a:lstStyle/>
                    <a:p>
                      <a:pPr algn="l">
                        <a:spcBef>
                          <a:spcPts val="0"/>
                        </a:spcBef>
                        <a:buNone/>
                      </a:pPr>
                      <a:r>
                        <a:rPr lang="en-US" sz="1200" b="0" i="0" dirty="0">
                          <a:solidFill>
                            <a:srgbClr val="0F1E42"/>
                          </a:solidFill>
                          <a:latin typeface="Times New Roman"/>
                          <a:cs typeface="Times New Roman"/>
                        </a:rPr>
                        <a:t>v13: category is the best new field, |Δ| ≲ 0.01</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Qwen3 +0.0182; BGE ≈ 0</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direction right, size wrong</a:t>
                      </a:r>
                    </a:p>
                  </a:txBody>
                  <a:tcPr marL="54864" marR="54864" marT="22860" marB="22860" anchor="ctr">
                    <a:solidFill>
                      <a:srgbClr val="FFFFFF"/>
                    </a:solidFill>
                  </a:tcPr>
                </a:tc>
              </a:tr>
              <a:tr h="365760">
                <a:tc>
                  <a:txBody>
                    <a:bodyPr/>
                    <a:lstStyle/>
                    <a:p>
                      <a:pPr algn="l">
                        <a:spcBef>
                          <a:spcPts val="0"/>
                        </a:spcBef>
                        <a:buNone/>
                      </a:pPr>
                      <a:r>
                        <a:rPr lang="en-US" sz="1200" b="0" i="0" dirty="0">
                          <a:solidFill>
                            <a:srgbClr val="0F1E42"/>
                          </a:solidFill>
                          <a:latin typeface="Times New Roman"/>
                          <a:cs typeface="Times New Roman"/>
                        </a:rPr>
                        <a:t>v13: k-means interests between mean-pool and LSE, possibly ≥ LSE</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between, always &lt; LSE</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half right</a:t>
                      </a:r>
                    </a:p>
                  </a:txBody>
                  <a:tcPr marL="54864" marR="54864" marT="22860" marB="22860" anchor="ctr">
                    <a:solidFill>
                      <a:srgbClr val="F8FAFC"/>
                    </a:solidFill>
                  </a:tcPr>
                </a:tc>
              </a:tr>
              <a:tr h="365760">
                <a:tc>
                  <a:txBody>
                    <a:bodyPr/>
                    <a:lstStyle/>
                    <a:p>
                      <a:pPr algn="l">
                        <a:spcBef>
                          <a:spcPts val="0"/>
                        </a:spcBef>
                        <a:buNone/>
                      </a:pPr>
                      <a:r>
                        <a:rPr lang="en-US" sz="1200" b="0" i="0" dirty="0">
                          <a:solidFill>
                            <a:srgbClr val="0F1E42"/>
                          </a:solidFill>
                          <a:latin typeface="Times New Roman"/>
                          <a:cs typeface="Times New Roman"/>
                        </a:rPr>
                        <a:t>v15: stack_llm &gt; super_llm, Δ in +0.003 … +0.02</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+0.0064</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right</a:t>
                      </a:r>
                    </a:p>
                  </a:txBody>
                  <a:tcPr marL="54864" marR="54864" marT="22860" marB="22860" anchor="ctr">
                    <a:solidFill>
                      <a:srgbClr val="FFFFFF"/>
                    </a:solidFill>
                  </a:tcPr>
                </a:tc>
              </a:tr>
              <a:tr h="365760">
                <a:tc>
                  <a:txBody>
                    <a:bodyPr/>
                    <a:lstStyle/>
                    <a:p>
                      <a:pPr algn="l">
                        <a:spcBef>
                          <a:spcPts val="0"/>
                        </a:spcBef>
                        <a:buNone/>
                      </a:pPr>
                      <a:r>
                        <a:rPr lang="en-US" sz="1200" b="0" i="0" dirty="0">
                          <a:solidFill>
                            <a:srgbClr val="0F1E42"/>
                          </a:solidFill>
                          <a:latin typeface="Times New Roman"/>
                          <a:cs typeface="Times New Roman"/>
                        </a:rPr>
                        <a:t>v15: stacker cold AUC &gt; supermodel cold AUC</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−0.0001 (stack_llm)</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wrong</a:t>
                      </a:r>
                    </a:p>
                  </a:txBody>
                  <a:tcPr marL="54864" marR="54864" marT="22860" marB="22860" anchor="ctr">
                    <a:solidFill>
                      <a:srgbClr val="F8FAFC"/>
                    </a:solidFill>
                  </a:tcPr>
                </a:tc>
              </a:tr>
              <a:tr h="365760">
                <a:tc>
                  <a:txBody>
                    <a:bodyPr/>
                    <a:lstStyle/>
                    <a:p>
                      <a:pPr algn="l">
                        <a:spcBef>
                          <a:spcPts val="0"/>
                        </a:spcBef>
                        <a:buNone/>
                      </a:pPr>
                      <a:r>
                        <a:rPr lang="en-US" sz="1200" b="0" i="0" dirty="0">
                          <a:solidFill>
                            <a:srgbClr val="0F1E42"/>
                          </a:solidFill>
                          <a:latin typeface="Times New Roman"/>
                          <a:cs typeface="Times New Roman"/>
                        </a:rPr>
                        <a:t>v15: stack_meta &gt; stack_llm (~60%)</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+0.0176</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right</a:t>
                      </a:r>
                    </a:p>
                  </a:txBody>
                  <a:tcPr marL="54864" marR="54864" marT="22860" marB="22860" anchor="ctr">
                    <a:solidFill>
                      <a:srgbClr val="FFFFFF"/>
                    </a:solidFill>
                  </a:tcPr>
                </a:tc>
              </a:tr>
              <a:tr h="365760">
                <a:tc>
                  <a:txBody>
                    <a:bodyPr/>
                    <a:lstStyle/>
                    <a:p>
                      <a:pPr algn="l">
                        <a:spcBef>
                          <a:spcPts val="0"/>
                        </a:spcBef>
                        <a:buNone/>
                      </a:pPr>
                      <a:r>
                        <a:rPr lang="en-US" sz="1200" b="0" i="0" dirty="0">
                          <a:solidFill>
                            <a:srgbClr val="0F1E42"/>
                          </a:solidFill>
                          <a:latin typeface="Times New Roman"/>
                          <a:cs typeface="Times New Roman"/>
                        </a:rPr>
                        <a:t>v16b: stack_meta AUC 0.698–0.712, nDCG@10 0.449–0.464</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0.7013; 0.4516</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inside</a:t>
                      </a:r>
                    </a:p>
                  </a:txBody>
                  <a:tcPr marL="54864" marR="54864" marT="22860" marB="22860" anchor="ctr">
                    <a:solidFill>
                      <a:srgbClr val="F8FAFC"/>
                    </a:solidFill>
                  </a:tcPr>
                </a:tc>
              </a:tr>
              <a:tr h="365760">
                <a:tc>
                  <a:txBody>
                    <a:bodyPr/>
                    <a:lstStyle/>
                    <a:p>
                      <a:pPr algn="l">
                        <a:spcBef>
                          <a:spcPts val="0"/>
                        </a:spcBef>
                        <a:buNone/>
                      </a:pPr>
                      <a:r>
                        <a:rPr lang="en-US" sz="1200" b="0" i="0" dirty="0">
                          <a:solidFill>
                            <a:srgbClr val="0F1E42"/>
                          </a:solidFill>
                          <a:latin typeface="Times New Roman"/>
                          <a:cs typeface="Times New Roman"/>
                        </a:rPr>
                        <a:t>v16b: stack_llm gains ≥ +0.01 over v15 (~15–20%)</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+0.0037</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wrong</a:t>
                      </a:r>
                    </a:p>
                  </a:txBody>
                  <a:tcPr marL="54864" marR="54864" marT="22860" marB="22860" anchor="ctr">
                    <a:solidFill>
                      <a:srgbClr val="FFFFFF"/>
                    </a:solidFill>
                  </a:tcPr>
                </a:tc>
              </a:tr>
              <a:tr h="365760">
                <a:tc>
                  <a:txBody>
                    <a:bodyPr/>
                    <a:lstStyle/>
                    <a:p>
                      <a:pPr algn="l">
                        <a:spcBef>
                          <a:spcPts val="0"/>
                        </a:spcBef>
                        <a:buNone/>
                      </a:pPr>
                      <a:r>
                        <a:rPr lang="en-US" sz="1200" b="0" i="0" dirty="0">
                          <a:solidFill>
                            <a:srgbClr val="0F1E42"/>
                          </a:solidFill>
                          <a:latin typeface="Times New Roman"/>
                          <a:cs typeface="Times New Roman"/>
                        </a:rPr>
                        <a:t>v16b: test − validation gap of stack_meta &lt; control (~65%)</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−0.0072 vs −0.0379</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right</a:t>
                      </a:r>
                    </a:p>
                  </a:txBody>
                  <a:tcPr marL="54864" marR="54864" marT="22860" marB="22860" anchor="ctr">
                    <a:solidFill>
                      <a:srgbClr val="F8FAFC"/>
                    </a:solidFill>
                  </a:tcPr>
                </a:tc>
              </a:tr>
              <a:tr h="365760">
                <a:tc>
                  <a:txBody>
                    <a:bodyPr/>
                    <a:lstStyle/>
                    <a:p>
                      <a:pPr algn="l">
                        <a:spcBef>
                          <a:spcPts val="0"/>
                        </a:spcBef>
                        <a:buNone/>
                      </a:pPr>
                      <a:r>
                        <a:rPr lang="en-US" sz="1200" b="0" i="0" dirty="0">
                          <a:solidFill>
                            <a:srgbClr val="0F1E42"/>
                          </a:solidFill>
                          <a:latin typeface="Times New Roman"/>
                          <a:cs typeface="Times New Roman"/>
                        </a:rPr>
                        <a:t>v16b (implicit): stack_meta &gt; stack_meta_v15cfg</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−0.0027</a:t>
                      </a:r>
                    </a:p>
                  </a:txBody>
                  <a:tcPr marL="54864" marR="54864" marT="22860" marB="22860" anchor="ctr">
                    <a:solidFill>
                      <a:srgbClr val="FFFFFF"/>
                    </a:solidFill>
                  </a:tcPr>
                </a:tc>
                <a:tc>
                  <a:txBody>
                    <a:bodyPr/>
                    <a:lstStyle/>
                    <a:p>
                      <a:pPr algn="ctr">
                        <a:spcBef>
                          <a:spcPts val="0"/>
                        </a:spcBef>
                        <a:buNone/>
                      </a:pPr>
                      <a:r>
                        <a:rPr lang="en-US" sz="1200" b="0" i="0" dirty="0">
                          <a:solidFill>
                            <a:srgbClr val="0F1E42"/>
                          </a:solidFill>
                          <a:latin typeface="Times New Roman"/>
                          <a:cs typeface="Times New Roman"/>
                        </a:rPr>
                        <a:t>wrong</a:t>
                      </a:r>
                    </a:p>
                  </a:txBody>
                  <a:tcPr marL="54864" marR="54864" marT="22860" marB="22860" anchor="ctr">
                    <a:solidFill>
                      <a:srgbClr val="FFFFFF"/>
                    </a:solidFill>
                  </a:tcPr>
                </a:tc>
              </a:tr>
              <a:tr h="365760">
                <a:tc>
                  <a:txBody>
                    <a:bodyPr/>
                    <a:lstStyle/>
                    <a:p>
                      <a:pPr algn="l">
                        <a:spcBef>
                          <a:spcPts val="0"/>
                        </a:spcBef>
                        <a:buNone/>
                      </a:pPr>
                      <a:r>
                        <a:rPr lang="en-US" sz="1200" b="0" i="0" dirty="0">
                          <a:solidFill>
                            <a:srgbClr val="0F1E42"/>
                          </a:solidFill>
                          <a:latin typeface="Times New Roman"/>
                          <a:cs typeface="Times New Roman"/>
                        </a:rPr>
                        <a:t>v17: PASS ~35% / INCONCLUSIVE ~25% / FAIL ~40%</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not run yet</a:t>
                      </a:r>
                    </a:p>
                  </a:txBody>
                  <a:tcPr marL="54864" marR="54864" marT="22860" marB="22860" anchor="ctr">
                    <a:solidFill>
                      <a:srgbClr val="F8FAFC"/>
                    </a:solidFill>
                  </a:tcPr>
                </a:tc>
                <a:tc>
                  <a:txBody>
                    <a:bodyPr/>
                    <a:lstStyle/>
                    <a:p>
                      <a:pPr algn="ctr">
                        <a:spcBef>
                          <a:spcPts val="0"/>
                        </a:spcBef>
                        <a:buNone/>
                      </a:pPr>
                      <a:r>
                        <a:rPr lang="en-US" sz="1200" b="0" i="0" dirty="0">
                          <a:solidFill>
                            <a:srgbClr val="0F1E42"/>
                          </a:solidFill>
                          <a:latin typeface="Times New Roman"/>
                          <a:cs typeface="Times New Roman"/>
                        </a:rPr>
                        <a:t>—</a:t>
                      </a:r>
                    </a:p>
                  </a:txBody>
                  <a:tcPr marL="54864" marR="54864" marT="22860" marB="22860" anchor="ctr">
                    <a:solidFill>
                      <a:srgbClr val="F8FAFC"/>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10. Compute, Memory and Reproducibility</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66760" y="1627632"/>
            <a:ext cx="2999232"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Engineering notes</a:t>
            </a:r>
          </a:p>
          <a:p>
            <a:pPr algn="l" marL="219456" indent="-182880">
              <a:spcBef>
                <a:spcPts val="300"/>
              </a:spcBef>
              <a:buFont typeface="Arial"/>
              <a:buChar char="•"/>
            </a:pPr>
            <a:r>
              <a:rPr lang="en-US" sz="1400" b="0" i="0" dirty="0">
                <a:solidFill>
                  <a:srgbClr val="1E293B"/>
                </a:solidFill>
                <a:latin typeface="Times New Roman"/>
                <a:cs typeface="Times New Roman"/>
              </a:rPr>
              <a:t>Each run is one 'Run All' Kaggle notebook (Tesla T4 16 GB, 32 GB container).</a:t>
            </a:r>
          </a:p>
          <a:p>
            <a:pPr algn="l" marL="219456" indent="-182880">
              <a:spcBef>
                <a:spcPts val="300"/>
              </a:spcBef>
              <a:buFont typeface="Arial"/>
              <a:buChar char="•"/>
            </a:pPr>
            <a:r>
              <a:rPr lang="en-US" sz="1400" b="0" i="0" dirty="0">
                <a:solidFill>
                  <a:srgbClr val="1E293B"/>
                </a:solidFill>
                <a:latin typeface="Times New Roman"/>
                <a:cs typeface="Times New Roman"/>
              </a:rPr>
              <a:t>73 automated CPU tests before each run (correctness, leakage, memory).</a:t>
            </a:r>
          </a:p>
          <a:p>
            <a:pPr algn="l" marL="219456" indent="-182880">
              <a:spcBef>
                <a:spcPts val="300"/>
              </a:spcBef>
              <a:buFont typeface="Arial"/>
              <a:buChar char="•"/>
            </a:pPr>
            <a:r>
              <a:rPr lang="en-US" sz="1400" b="0" i="0" dirty="0">
                <a:solidFill>
                  <a:srgbClr val="1E293B"/>
                </a:solidFill>
                <a:latin typeface="Times New Roman"/>
                <a:cs typeface="Times New Roman"/>
              </a:rPr>
              <a:t>Exported component scores + resume allow a stacker-only re-run without re-encoding the catalogue.</a:t>
            </a:r>
          </a:p>
          <a:p>
            <a:pPr algn="l" marL="219456" indent="-182880">
              <a:spcBef>
                <a:spcPts val="300"/>
              </a:spcBef>
              <a:buFont typeface="Arial"/>
              <a:buChar char="•"/>
            </a:pPr>
            <a:r>
              <a:rPr lang="en-US" sz="1400" b="0" i="0" dirty="0">
                <a:solidFill>
                  <a:srgbClr val="1E293B"/>
                </a:solidFill>
                <a:latin typeface="Times New Roman"/>
                <a:cs typeface="Times New Roman"/>
              </a:rPr>
              <a:t>Serving latency was </a:t>
            </a:r>
            <a:r>
              <a:rPr lang="en-US" sz="1400" b="1" i="0" dirty="0">
                <a:solidFill>
                  <a:srgbClr val="1E293B"/>
                </a:solidFill>
                <a:latin typeface="Times New Roman"/>
                <a:cs typeface="Times New Roman"/>
              </a:rPr>
              <a:t>not</a:t>
            </a:r>
            <a:r>
              <a:rPr lang="en-US" sz="1400" b="0" i="0" dirty="0">
                <a:solidFill>
                  <a:srgbClr val="1E293B"/>
                </a:solidFill>
                <a:latin typeface="Times New Roman"/>
                <a:cs typeface="Times New Roman"/>
              </a:rPr>
              <a:t> measured in this work.</a:t>
            </a:r>
          </a:p>
        </p:txBody>
      </p:sp>
      <p:graphicFrame>
        <p:nvGraphicFramePr>
          <p:cNvPr id="6" name="Table 5"/>
          <p:cNvGraphicFramePr>
            <a:graphicFrameLocks noGrp="1"/>
          </p:cNvGraphicFramePr>
          <p:nvPr/>
        </p:nvGraphicFramePr>
        <p:xfrm>
          <a:off x="822960" y="1645920"/>
          <a:ext cx="7223760" cy="3456432"/>
        </p:xfrm>
        <a:graphic>
          <a:graphicData uri="http://schemas.openxmlformats.org/drawingml/2006/table">
            <a:tbl>
              <a:tblPr firstRow="1">
                <a:tableStyleId>{5C22544A-7EE6-4342-B048-85BDC9FD1C3A}</a:tableStyleId>
              </a:tblPr>
              <a:tblGrid>
                <a:gridCol w="685800"/>
                <a:gridCol w="731520"/>
                <a:gridCol w="3840480"/>
                <a:gridCol w="1965960"/>
              </a:tblGrid>
              <a:tr h="384048">
                <a:tc>
                  <a:txBody>
                    <a:bodyPr/>
                    <a:lstStyle/>
                    <a:p>
                      <a:pPr algn="ctr">
                        <a:spcBef>
                          <a:spcPts val="0"/>
                        </a:spcBef>
                        <a:buNone/>
                      </a:pPr>
                      <a:r>
                        <a:rPr lang="en-US" sz="1100" b="1" i="0" dirty="0">
                          <a:solidFill>
                            <a:srgbClr val="FFFFFF"/>
                          </a:solidFill>
                          <a:latin typeface="Times New Roman"/>
                          <a:cs typeface="Times New Roman"/>
                        </a:rPr>
                        <a:t>Run</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Data</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What changed</a:t>
                      </a:r>
                    </a:p>
                  </a:txBody>
                  <a:tcPr marL="54864" marR="54864" marT="22860" marB="22860" anchor="ctr">
                    <a:solidFill>
                      <a:srgbClr val="0F1E42"/>
                    </a:solidFill>
                  </a:tcPr>
                </a:tc>
                <a:tc>
                  <a:txBody>
                    <a:bodyPr/>
                    <a:lstStyle/>
                    <a:p>
                      <a:pPr algn="ctr">
                        <a:spcBef>
                          <a:spcPts val="0"/>
                        </a:spcBef>
                        <a:buNone/>
                      </a:pPr>
                      <a:r>
                        <a:rPr lang="en-US" sz="1100" b="1" i="0" dirty="0">
                          <a:solidFill>
                            <a:srgbClr val="FFFFFF"/>
                          </a:solidFill>
                          <a:latin typeface="Times New Roman"/>
                          <a:cs typeface="Times New Roman"/>
                        </a:rPr>
                        <a:t>Time / resources</a:t>
                      </a:r>
                    </a:p>
                  </a:txBody>
                  <a:tcPr marL="54864" marR="54864" marT="22860" marB="22860" anchor="ctr">
                    <a:solidFill>
                      <a:srgbClr val="0F1E42"/>
                    </a:solidFill>
                  </a:tcPr>
                </a:tc>
              </a:tr>
              <a:tr h="384048">
                <a:tc>
                  <a:txBody>
                    <a:bodyPr/>
                    <a:lstStyle/>
                    <a:p>
                      <a:pPr algn="ctr">
                        <a:spcBef>
                          <a:spcPts val="0"/>
                        </a:spcBef>
                        <a:buNone/>
                      </a:pPr>
                      <a:r>
                        <a:rPr lang="en-US" sz="1100" b="0" i="0" dirty="0">
                          <a:solidFill>
                            <a:srgbClr val="0F1E42"/>
                          </a:solidFill>
                          <a:latin typeface="Times New Roman"/>
                          <a:cs typeface="Times New Roman"/>
                        </a:rPr>
                        <a:t>V10</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small</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original benchmark: NRMS / NAML / Fastformer, BGE zero-shot, popularity</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a:t>
                      </a:r>
                    </a:p>
                  </a:txBody>
                  <a:tcPr marL="54864" marR="54864" marT="22860" marB="22860" anchor="ctr">
                    <a:solidFill>
                      <a:srgbClr val="FFFFFF"/>
                    </a:solidFill>
                  </a:tcPr>
                </a:tc>
              </a:tr>
              <a:tr h="384048">
                <a:tc>
                  <a:txBody>
                    <a:bodyPr/>
                    <a:lstStyle/>
                    <a:p>
                      <a:pPr algn="ctr">
                        <a:spcBef>
                          <a:spcPts val="0"/>
                        </a:spcBef>
                        <a:buNone/>
                      </a:pPr>
                      <a:r>
                        <a:rPr lang="en-US" sz="1100" b="0" i="0" dirty="0">
                          <a:solidFill>
                            <a:srgbClr val="0F1E42"/>
                          </a:solidFill>
                          <a:latin typeface="Times New Roman"/>
                          <a:cs typeface="Times New Roman"/>
                        </a:rPr>
                        <a:t>v7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small</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 16 families / ≈ 150 variants; retrained baselines; ablation ladder</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7.52 h (1 × T4)</a:t>
                      </a:r>
                    </a:p>
                  </a:txBody>
                  <a:tcPr marL="54864" marR="54864" marT="22860" marB="22860" anchor="ctr">
                    <a:solidFill>
                      <a:srgbClr val="F8FAFC"/>
                    </a:solidFill>
                  </a:tcPr>
                </a:tc>
              </a:tr>
              <a:tr h="384048">
                <a:tc>
                  <a:txBody>
                    <a:bodyPr/>
                    <a:lstStyle/>
                    <a:p>
                      <a:pPr algn="ctr">
                        <a:spcBef>
                          <a:spcPts val="0"/>
                        </a:spcBef>
                        <a:buNone/>
                      </a:pPr>
                      <a:r>
                        <a:rPr lang="en-US" sz="1100" b="0" i="0" dirty="0">
                          <a:solidFill>
                            <a:srgbClr val="0F1E42"/>
                          </a:solidFill>
                          <a:latin typeface="Times New Roman"/>
                          <a:cs typeface="Times New Roman"/>
                        </a:rPr>
                        <a:t>v13</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small</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text fields, 100 / 200 clicks, multi-interest, Fastformer × 2 + refit</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8.22 h</a:t>
                      </a:r>
                    </a:p>
                  </a:txBody>
                  <a:tcPr marL="54864" marR="54864" marT="22860" marB="22860" anchor="ctr">
                    <a:solidFill>
                      <a:srgbClr val="FFFFFF"/>
                    </a:solidFill>
                  </a:tcPr>
                </a:tc>
              </a:tr>
              <a:tr h="384048">
                <a:tc>
                  <a:txBody>
                    <a:bodyPr/>
                    <a:lstStyle/>
                    <a:p>
                      <a:pPr algn="ctr">
                        <a:spcBef>
                          <a:spcPts val="0"/>
                        </a:spcBef>
                        <a:buNone/>
                      </a:pPr>
                      <a:r>
                        <a:rPr lang="en-US" sz="1100" b="0" i="0" dirty="0">
                          <a:solidFill>
                            <a:srgbClr val="0F1E42"/>
                          </a:solidFill>
                          <a:latin typeface="Times New Roman"/>
                          <a:cs typeface="Times New Roman"/>
                        </a:rPr>
                        <a:t>v14</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large</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one Qwen3 model + all techniques; linear supermodel</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2.90 h</a:t>
                      </a:r>
                    </a:p>
                  </a:txBody>
                  <a:tcPr marL="54864" marR="54864" marT="22860" marB="22860" anchor="ctr">
                    <a:solidFill>
                      <a:srgbClr val="F8FAFC"/>
                    </a:solidFill>
                  </a:tcPr>
                </a:tc>
              </a:tr>
              <a:tr h="384048">
                <a:tc>
                  <a:txBody>
                    <a:bodyPr/>
                    <a:lstStyle/>
                    <a:p>
                      <a:pPr algn="ctr">
                        <a:spcBef>
                          <a:spcPts val="0"/>
                        </a:spcBef>
                        <a:buNone/>
                      </a:pPr>
                      <a:r>
                        <a:rPr lang="en-US" sz="1100" b="0" i="0" dirty="0">
                          <a:solidFill>
                            <a:srgbClr val="0F1E42"/>
                          </a:solidFill>
                          <a:latin typeface="Times New Roman"/>
                          <a:cs typeface="Times New Roman"/>
                        </a:rPr>
                        <a:t>v15</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large</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GBDT stacker (XGBoost GPU), exposure features, BGE-large</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2.73 h</a:t>
                      </a:r>
                    </a:p>
                  </a:txBody>
                  <a:tcPr marL="54864" marR="54864" marT="22860" marB="22860" anchor="ctr">
                    <a:solidFill>
                      <a:srgbClr val="FFFFFF"/>
                    </a:solidFill>
                  </a:tcPr>
                </a:tc>
              </a:tr>
              <a:tr h="384048">
                <a:tc>
                  <a:txBody>
                    <a:bodyPr/>
                    <a:lstStyle/>
                    <a:p>
                      <a:pPr algn="ctr">
                        <a:spcBef>
                          <a:spcPts val="0"/>
                        </a:spcBef>
                        <a:buNone/>
                      </a:pPr>
                      <a:r>
                        <a:rPr lang="en-US" sz="1100" b="0" i="0" dirty="0">
                          <a:solidFill>
                            <a:srgbClr val="0F1E42"/>
                          </a:solidFill>
                          <a:latin typeface="Times New Roman"/>
                          <a:cs typeface="Times New Roman"/>
                        </a:rPr>
                        <a:t>v16</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large</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time-block CV, BGE-large / concat readers</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died at 1.6 h (out of RAM)</a:t>
                      </a:r>
                    </a:p>
                  </a:txBody>
                  <a:tcPr marL="54864" marR="54864" marT="22860" marB="22860" anchor="ctr">
                    <a:solidFill>
                      <a:srgbClr val="F8FAFC"/>
                    </a:solidFill>
                  </a:tcPr>
                </a:tc>
              </a:tr>
              <a:tr h="384048">
                <a:tc>
                  <a:txBody>
                    <a:bodyPr/>
                    <a:lstStyle/>
                    <a:p>
                      <a:pPr algn="ctr">
                        <a:spcBef>
                          <a:spcPts val="0"/>
                        </a:spcBef>
                        <a:buNone/>
                      </a:pPr>
                      <a:r>
                        <a:rPr lang="en-US" sz="1100" b="0" i="0" dirty="0">
                          <a:solidFill>
                            <a:srgbClr val="0F1E42"/>
                          </a:solidFill>
                          <a:latin typeface="Times New Roman"/>
                          <a:cs typeface="Times New Roman"/>
                        </a:rPr>
                        <a:t>v16b</a:t>
                      </a:r>
                    </a:p>
                  </a:txBody>
                  <a:tcPr marL="54864" marR="54864" marT="22860" marB="22860" anchor="ctr">
                    <a:solidFill>
                      <a:srgbClr val="FFFFFF"/>
                    </a:solidFill>
                  </a:tcPr>
                </a:tc>
                <a:tc>
                  <a:txBody>
                    <a:bodyPr/>
                    <a:lstStyle/>
                    <a:p>
                      <a:pPr algn="ctr">
                        <a:spcBef>
                          <a:spcPts val="0"/>
                        </a:spcBef>
                        <a:buNone/>
                      </a:pPr>
                      <a:r>
                        <a:rPr lang="en-US" sz="1100" b="0" i="0" dirty="0">
                          <a:solidFill>
                            <a:srgbClr val="0F1E42"/>
                          </a:solidFill>
                          <a:latin typeface="Times New Roman"/>
                          <a:cs typeface="Times New Roman"/>
                        </a:rPr>
                        <a:t>large</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chunked kNN view, true peak RAM, 128-d heads for 3 encoders</a:t>
                      </a:r>
                    </a:p>
                  </a:txBody>
                  <a:tcPr marL="54864" marR="54864" marT="22860" marB="22860" anchor="ctr">
                    <a:solidFill>
                      <a:srgbClr val="FFFFFF"/>
                    </a:solidFill>
                  </a:tcPr>
                </a:tc>
                <a:tc>
                  <a:txBody>
                    <a:bodyPr/>
                    <a:lstStyle/>
                    <a:p>
                      <a:pPr algn="l">
                        <a:spcBef>
                          <a:spcPts val="0"/>
                        </a:spcBef>
                        <a:buNone/>
                      </a:pPr>
                      <a:r>
                        <a:rPr lang="en-US" sz="1100" b="0" i="0" dirty="0">
                          <a:solidFill>
                            <a:srgbClr val="0F1E42"/>
                          </a:solidFill>
                          <a:latin typeface="Times New Roman"/>
                          <a:cs typeface="Times New Roman"/>
                        </a:rPr>
                        <a:t>4.49 h; peak 21.2 GB</a:t>
                      </a:r>
                    </a:p>
                  </a:txBody>
                  <a:tcPr marL="54864" marR="54864" marT="22860" marB="22860" anchor="ctr">
                    <a:solidFill>
                      <a:srgbClr val="FFFFFF"/>
                    </a:solidFill>
                  </a:tcPr>
                </a:tc>
              </a:tr>
              <a:tr h="384048">
                <a:tc>
                  <a:txBody>
                    <a:bodyPr/>
                    <a:lstStyle/>
                    <a:p>
                      <a:pPr algn="ctr">
                        <a:spcBef>
                          <a:spcPts val="0"/>
                        </a:spcBef>
                        <a:buNone/>
                      </a:pPr>
                      <a:r>
                        <a:rPr lang="en-US" sz="1100" b="0" i="0" dirty="0">
                          <a:solidFill>
                            <a:srgbClr val="0F1E42"/>
                          </a:solidFill>
                          <a:latin typeface="Times New Roman"/>
                          <a:cs typeface="Times New Roman"/>
                        </a:rPr>
                        <a:t>v17</a:t>
                      </a:r>
                    </a:p>
                  </a:txBody>
                  <a:tcPr marL="54864" marR="54864" marT="22860" marB="22860" anchor="ctr">
                    <a:solidFill>
                      <a:srgbClr val="F8FAFC"/>
                    </a:solidFill>
                  </a:tcPr>
                </a:tc>
                <a:tc>
                  <a:txBody>
                    <a:bodyPr/>
                    <a:lstStyle/>
                    <a:p>
                      <a:pPr algn="ctr">
                        <a:spcBef>
                          <a:spcPts val="0"/>
                        </a:spcBef>
                        <a:buNone/>
                      </a:pPr>
                      <a:r>
                        <a:rPr lang="en-US" sz="1100" b="0" i="0" dirty="0">
                          <a:solidFill>
                            <a:srgbClr val="0F1E42"/>
                          </a:solidFill>
                          <a:latin typeface="Times New Roman"/>
                          <a:cs typeface="Times New Roman"/>
                        </a:rPr>
                        <a:t>large</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gated fine-tuning of BGE-large's last 2 layers</a:t>
                      </a:r>
                    </a:p>
                  </a:txBody>
                  <a:tcPr marL="54864" marR="54864" marT="22860" marB="22860" anchor="ctr">
                    <a:solidFill>
                      <a:srgbClr val="F8FAFC"/>
                    </a:solidFill>
                  </a:tcPr>
                </a:tc>
                <a:tc>
                  <a:txBody>
                    <a:bodyPr/>
                    <a:lstStyle/>
                    <a:p>
                      <a:pPr algn="l">
                        <a:spcBef>
                          <a:spcPts val="0"/>
                        </a:spcBef>
                        <a:buNone/>
                      </a:pPr>
                      <a:r>
                        <a:rPr lang="en-US" sz="1100" b="0" i="0" dirty="0">
                          <a:solidFill>
                            <a:srgbClr val="0F1E42"/>
                          </a:solidFill>
                          <a:latin typeface="Times New Roman"/>
                          <a:cs typeface="Times New Roman"/>
                        </a:rPr>
                        <a:t>est. 6–6.5 h (pending)</a:t>
                      </a:r>
                    </a:p>
                  </a:txBody>
                  <a:tcPr marL="54864" marR="54864" marT="22860" marB="22860" anchor="ctr">
                    <a:solidFill>
                      <a:srgbClr val="F8FAFC"/>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11. Answers to RQ1–RQ5 and Limitations</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700" b="1" i="0" dirty="0">
                <a:solidFill>
                  <a:srgbClr val="0F1E42"/>
                </a:solidFill>
                <a:latin typeface="Times New Roman"/>
                <a:cs typeface="Times New Roman"/>
              </a:rPr>
              <a:t>Answers</a:t>
            </a:r>
          </a:p>
          <a:p>
            <a:pPr algn="l" marL="219456" indent="-182880">
              <a:spcBef>
                <a:spcPts val="300"/>
              </a:spcBef>
              <a:buFont typeface="Arial"/>
              <a:buChar char="•"/>
            </a:pPr>
            <a:r>
              <a:rPr lang="en-US" sz="1500" b="1" i="0" dirty="0">
                <a:solidFill>
                  <a:srgbClr val="1E293B"/>
                </a:solidFill>
                <a:latin typeface="Times New Roman"/>
                <a:cs typeface="Times New Roman"/>
              </a:rPr>
              <a:t>RQ1</a:t>
            </a:r>
            <a:r>
              <a:rPr lang="en-US" sz="1500" b="0" i="0" dirty="0">
                <a:solidFill>
                  <a:srgbClr val="1E293B"/>
                </a:solidFill>
                <a:latin typeface="Times New Roman"/>
                <a:cs typeface="Times New Roman"/>
              </a:rPr>
              <a:t> Zero-shot ≈ retrained baselines (0.4094 vs 0.4078, n.s.).</a:t>
            </a:r>
          </a:p>
          <a:p>
            <a:pPr algn="l" marL="219456" indent="-182880">
              <a:spcBef>
                <a:spcPts val="300"/>
              </a:spcBef>
              <a:buFont typeface="Arial"/>
              <a:buChar char="•"/>
            </a:pPr>
            <a:r>
              <a:rPr lang="en-US" sz="1500" b="1" i="0" dirty="0">
                <a:solidFill>
                  <a:srgbClr val="1E293B"/>
                </a:solidFill>
                <a:latin typeface="Times New Roman"/>
                <a:cs typeface="Times New Roman"/>
              </a:rPr>
              <a:t>RQ2</a:t>
            </a:r>
            <a:r>
              <a:rPr lang="en-US" sz="1500" b="0" i="0" dirty="0">
                <a:solidFill>
                  <a:srgbClr val="1E293B"/>
                </a:solidFill>
                <a:latin typeface="Times New Roman"/>
                <a:cs typeface="Times New Roman"/>
              </a:rPr>
              <a:t> History aggregation and input fields, not encoder size.</a:t>
            </a:r>
          </a:p>
          <a:p>
            <a:pPr algn="l" marL="219456" indent="-182880">
              <a:spcBef>
                <a:spcPts val="300"/>
              </a:spcBef>
              <a:buFont typeface="Arial"/>
              <a:buChar char="•"/>
            </a:pPr>
            <a:r>
              <a:rPr lang="en-US" sz="1500" b="1" i="0" dirty="0">
                <a:solidFill>
                  <a:srgbClr val="1E293B"/>
                </a:solidFill>
                <a:latin typeface="Times New Roman"/>
                <a:cs typeface="Times New Roman"/>
              </a:rPr>
              <a:t>RQ3</a:t>
            </a:r>
            <a:r>
              <a:rPr lang="en-US" sz="1500" b="0" i="0" dirty="0">
                <a:solidFill>
                  <a:srgbClr val="1E293B"/>
                </a:solidFill>
                <a:latin typeface="Times New Roman"/>
                <a:cs typeface="Times New Roman"/>
              </a:rPr>
              <a:t> Most directions ≤ 0.005 or negative; weak baselines and a warm validation day create false positives.</a:t>
            </a:r>
          </a:p>
          <a:p>
            <a:pPr algn="l" marL="219456" indent="-182880">
              <a:spcBef>
                <a:spcPts val="300"/>
              </a:spcBef>
              <a:buFont typeface="Arial"/>
              <a:buChar char="•"/>
            </a:pPr>
            <a:r>
              <a:rPr lang="en-US" sz="1500" b="1" i="0" dirty="0">
                <a:solidFill>
                  <a:srgbClr val="1E293B"/>
                </a:solidFill>
                <a:latin typeface="Times New Roman"/>
                <a:cs typeface="Times New Roman"/>
              </a:rPr>
              <a:t>RQ4</a:t>
            </a:r>
            <a:r>
              <a:rPr lang="en-US" sz="1500" b="0" i="0" dirty="0">
                <a:solidFill>
                  <a:srgbClr val="1E293B"/>
                </a:solidFill>
                <a:latin typeface="Times New Roman"/>
                <a:cs typeface="Times New Roman"/>
              </a:rPr>
              <a:t> Linear fusion ≈ GBDT on content; GBDT adds value only via label-free exposure and saturates ≈ 0.45; time-block CV is needed.</a:t>
            </a:r>
          </a:p>
          <a:p>
            <a:pPr algn="l" marL="219456" indent="-182880">
              <a:spcBef>
                <a:spcPts val="300"/>
              </a:spcBef>
              <a:buFont typeface="Arial"/>
              <a:buChar char="•"/>
            </a:pPr>
            <a:r>
              <a:rPr lang="en-US" sz="1500" b="1" i="0" dirty="0">
                <a:solidFill>
                  <a:srgbClr val="1E293B"/>
                </a:solidFill>
                <a:latin typeface="Times New Roman"/>
                <a:cs typeface="Times New Roman"/>
              </a:rPr>
              <a:t>RQ5</a:t>
            </a:r>
            <a:r>
              <a:rPr lang="en-US" sz="1500" b="0" i="0" dirty="0">
                <a:solidFill>
                  <a:srgbClr val="1E293B"/>
                </a:solidFill>
                <a:latin typeface="Times New Roman"/>
                <a:cs typeface="Times New Roman"/>
              </a:rPr>
              <a:t> The ≈ 0.02 AUC gap to PLM-NR points to end-to-end fine-tuning → v17 (pending).</a:t>
            </a:r>
          </a:p>
        </p:txBody>
      </p:sp>
      <p:sp>
        <p:nvSpPr>
          <p:cNvPr id="5" name="TextBox 6"/>
          <p:cNvSpPr txBox="1"/>
          <p:nvPr/>
        </p:nvSpPr>
        <p:spPr>
          <a:xfrm>
            <a:off x="6245352" y="1627632"/>
            <a:ext cx="5120640" cy="4224528"/>
          </a:xfrm>
          <a:prstGeom prst="rect">
            <a:avLst/>
          </a:prstGeom>
          <a:noFill/>
        </p:spPr>
        <p:txBody>
          <a:bodyPr wrap="square">
            <a:spAutoFit/>
          </a:bodyPr>
          <a:lstStyle/>
          <a:p>
            <a:pPr algn="l">
              <a:spcBef>
                <a:spcPts val="0"/>
              </a:spcBef>
              <a:buNone/>
            </a:pPr>
            <a:r>
              <a:rPr lang="en-US" sz="1700" b="1" i="0" dirty="0">
                <a:solidFill>
                  <a:srgbClr val="0F1E42"/>
                </a:solidFill>
                <a:latin typeface="Times New Roman"/>
                <a:cs typeface="Times New Roman"/>
              </a:rPr>
              <a:t>Limitations / threats to validity</a:t>
            </a:r>
          </a:p>
          <a:p>
            <a:pPr algn="l" marL="219456" indent="-182880">
              <a:spcBef>
                <a:spcPts val="300"/>
              </a:spcBef>
              <a:buFont typeface="Arial"/>
              <a:buChar char="•"/>
            </a:pPr>
            <a:r>
              <a:rPr lang="en-US" sz="1500" b="0" i="0" dirty="0">
                <a:solidFill>
                  <a:srgbClr val="1E293B"/>
                </a:solidFill>
                <a:latin typeface="Times New Roman"/>
                <a:cs typeface="Times New Roman"/>
              </a:rPr>
              <a:t>One dataset family and one test day; dev instead of the leaderboard test; published numbers are secondary.</a:t>
            </a:r>
          </a:p>
          <a:p>
            <a:pPr algn="l" marL="219456" indent="-182880">
              <a:spcBef>
                <a:spcPts val="300"/>
              </a:spcBef>
              <a:buFont typeface="Arial"/>
              <a:buChar char="•"/>
            </a:pPr>
            <a:r>
              <a:rPr lang="en-US" sz="1500" b="0" i="0" dirty="0">
                <a:solidFill>
                  <a:srgbClr val="1E293B"/>
                </a:solidFill>
                <a:latin typeface="Times New Roman"/>
                <a:cs typeface="Times New Roman"/>
              </a:rPr>
              <a:t>Many rows single-seed; CIs exclude training noise (0.007–0.014).</a:t>
            </a:r>
          </a:p>
          <a:p>
            <a:pPr algn="l" marL="219456" indent="-182880">
              <a:spcBef>
                <a:spcPts val="300"/>
              </a:spcBef>
              <a:buFont typeface="Arial"/>
              <a:buChar char="•"/>
            </a:pPr>
            <a:r>
              <a:rPr lang="en-US" sz="1500" b="0" i="0" dirty="0">
                <a:solidFill>
                  <a:srgbClr val="1E293B"/>
                </a:solidFill>
                <a:latin typeface="Times New Roman"/>
                <a:cs typeface="Times New Roman"/>
              </a:rPr>
              <a:t>No tuning beyond the stated grids; GloVe-6B; Fastformer re-implemented.</a:t>
            </a:r>
          </a:p>
          <a:p>
            <a:pPr algn="l" marL="219456" indent="-182880">
              <a:spcBef>
                <a:spcPts val="300"/>
              </a:spcBef>
              <a:buFont typeface="Arial"/>
              <a:buChar char="•"/>
            </a:pPr>
            <a:r>
              <a:rPr lang="en-US" sz="1500" b="0" i="0" dirty="0">
                <a:solidFill>
                  <a:srgbClr val="1E293B"/>
                </a:solidFill>
                <a:latin typeface="Times New Roman"/>
                <a:cs typeface="Times New Roman"/>
              </a:rPr>
              <a:t>LLM generation / judging only at 1.7B; Qwen3-Embedding 4B / 8B not tested; subset runs (n = 2,000–30,000).</a:t>
            </a:r>
          </a:p>
          <a:p>
            <a:pPr algn="l" marL="219456" indent="-182880">
              <a:spcBef>
                <a:spcPts val="300"/>
              </a:spcBef>
              <a:buFont typeface="Arial"/>
              <a:buChar char="•"/>
            </a:pPr>
            <a:r>
              <a:rPr lang="en-US" sz="1500" b="0" i="0" dirty="0">
                <a:solidFill>
                  <a:srgbClr val="1E293B"/>
                </a:solidFill>
                <a:latin typeface="Times New Roman"/>
                <a:cs typeface="Times New Roman"/>
              </a:rPr>
              <a:t>The 80% cold target used knowledge of the test distribution (not labels).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12. Next Step: Gated Fine-tuning Experiment (v17)</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Design (PLM-NR recipe + SpeedyFeed-style caching)</a:t>
            </a:r>
          </a:p>
          <a:p>
            <a:pPr algn="l" marL="219456" indent="-182880">
              <a:spcBef>
                <a:spcPts val="300"/>
              </a:spcBef>
              <a:buFont typeface="Arial"/>
              <a:buChar char="•"/>
            </a:pPr>
            <a:r>
              <a:rPr lang="en-US" sz="1400" b="0" i="0" dirty="0">
                <a:solidFill>
                  <a:srgbClr val="1E293B"/>
                </a:solidFill>
                <a:latin typeface="Times New Roman"/>
                <a:cs typeface="Times New Roman"/>
              </a:rPr>
              <a:t>Cache layer-22 hidden states of BGE-large for 104,151 articles ([104,151 × 96 × 1,024] fp16 ≈ 20 GB on local disk); check cos ≥ 0.99 against the full encoder.</a:t>
            </a:r>
          </a:p>
          <a:p>
            <a:pPr algn="l" marL="219456" indent="-182880">
              <a:spcBef>
                <a:spcPts val="300"/>
              </a:spcBef>
              <a:buFont typeface="Arial"/>
              <a:buChar char="•"/>
            </a:pPr>
            <a:r>
              <a:rPr lang="en-US" sz="1400" b="0" i="0" dirty="0">
                <a:solidFill>
                  <a:srgbClr val="1E293B"/>
                </a:solidFill>
                <a:latin typeface="Times New Roman"/>
                <a:cs typeface="Times New Roman"/>
              </a:rPr>
              <a:t>Train the last 2 layers + reader (fp16 autocast); candidate-side gradients; history table refreshed every 600 steps.</a:t>
            </a:r>
          </a:p>
          <a:p>
            <a:pPr algn="l" marL="219456" indent="-182880">
              <a:spcBef>
                <a:spcPts val="300"/>
              </a:spcBef>
              <a:buFont typeface="Arial"/>
              <a:buChar char="•"/>
            </a:pPr>
            <a:r>
              <a:rPr lang="en-US" sz="1400" b="0" i="0" dirty="0">
                <a:solidFill>
                  <a:srgbClr val="1E293B"/>
                </a:solidFill>
                <a:latin typeface="Times New Roman"/>
                <a:cs typeface="Times New Roman"/>
              </a:rPr>
              <a:t>Two matched arms from the same start: unfrozen (ft_reader) vs frozen twin (ft_base) — same steps, samples and order.</a:t>
            </a:r>
          </a:p>
          <a:p>
            <a:pPr algn="l" marL="219456" indent="-182880">
              <a:spcBef>
                <a:spcPts val="300"/>
              </a:spcBef>
              <a:buFont typeface="Arial"/>
              <a:buChar char="•"/>
            </a:pPr>
            <a:r>
              <a:rPr lang="en-US" sz="1400" b="0" i="0" dirty="0">
                <a:solidFill>
                  <a:srgbClr val="1E293B"/>
                </a:solidFill>
                <a:latin typeface="Times New Roman"/>
                <a:cs typeface="Times New Roman"/>
              </a:rPr>
              <a:t>Why the twin: in a toy run, continued reader training alone gave +0.0215 vs +0.0040 for unfreezing.</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Gate and probabilities were written in the README before the run; only validation decides.</a:t>
            </a:r>
          </a:p>
        </p:txBody>
      </p:sp>
      <p:sp>
        <p:nvSpPr>
          <p:cNvPr id="5" name="TextBox 7"/>
          <p:cNvSpPr txBox="1"/>
          <p:nvPr/>
        </p:nvSpPr>
        <p:spPr>
          <a:xfrm>
            <a:off x="6245352" y="1627632"/>
            <a:ext cx="5120640" cy="4224528"/>
          </a:xfrm>
          <a:prstGeom prst="rect">
            <a:avLst/>
          </a:prstGeom>
          <a:noFill/>
        </p:spPr>
        <p:txBody>
          <a:bodyPr wrap="square">
            <a:spAutoFit/>
          </a:bodyPr>
          <a:lstStyle/>
          <a:p>
            <a:pPr algn="l">
              <a:spcBef>
                <a:spcPts val="0"/>
              </a:spcBef>
              <a:buNone/>
            </a:pPr>
            <a:r>
              <a:rPr lang="en-US" sz="1600" b="1" i="0" dirty="0">
                <a:solidFill>
                  <a:srgbClr val="0F1E42"/>
                </a:solidFill>
                <a:latin typeface="Times New Roman"/>
                <a:cs typeface="Times New Roman"/>
              </a:rPr>
              <a:t>Decision rule (cold-weighted validation)</a:t>
            </a:r>
          </a:p>
          <a:p>
            <a:pPr algn="l" marL="219456" indent="-182880">
              <a:spcBef>
                <a:spcPts val="300"/>
              </a:spcBef>
              <a:buFont typeface="Arial"/>
              <a:buChar char="•"/>
            </a:pPr>
            <a:r>
              <a:rPr lang="en-US" sz="1400" b="1" i="0" dirty="0">
                <a:solidFill>
                  <a:srgbClr val="1E293B"/>
                </a:solidFill>
                <a:latin typeface="Times New Roman"/>
                <a:cs typeface="Times New Roman"/>
              </a:rPr>
              <a:t>PASS</a:t>
            </a:r>
            <a:r>
              <a:rPr lang="en-US" sz="1400" b="0" i="0" dirty="0">
                <a:solidFill>
                  <a:srgbClr val="1E293B"/>
                </a:solidFill>
                <a:latin typeface="Times New Roman"/>
                <a:cs typeface="Times New Roman"/>
              </a:rPr>
              <a:t>: unfrozen − frozen ≥ +0.006 and raw mean not down &gt; 0.001 → scale up (more layers / steps, both sides).</a:t>
            </a:r>
          </a:p>
          <a:p>
            <a:pPr algn="l" marL="219456" indent="-182880">
              <a:spcBef>
                <a:spcPts val="300"/>
              </a:spcBef>
              <a:buFont typeface="Arial"/>
              <a:buChar char="•"/>
            </a:pPr>
            <a:r>
              <a:rPr lang="en-US" sz="1400" b="1" i="0" dirty="0">
                <a:solidFill>
                  <a:srgbClr val="1E293B"/>
                </a:solidFill>
                <a:latin typeface="Times New Roman"/>
                <a:cs typeface="Times New Roman"/>
              </a:rPr>
              <a:t>INCONCLUSIVE</a:t>
            </a:r>
            <a:r>
              <a:rPr lang="en-US" sz="1400" b="0" i="0" dirty="0">
                <a:solidFill>
                  <a:srgbClr val="1E293B"/>
                </a:solidFill>
                <a:latin typeface="Times New Roman"/>
                <a:cs typeface="Times New Roman"/>
              </a:rPr>
              <a:t>: ≥ +0.002 → add seeds first.</a:t>
            </a:r>
          </a:p>
          <a:p>
            <a:pPr algn="l" marL="219456" indent="-182880">
              <a:spcBef>
                <a:spcPts val="300"/>
              </a:spcBef>
              <a:buFont typeface="Arial"/>
              <a:buChar char="•"/>
            </a:pPr>
            <a:r>
              <a:rPr lang="en-US" sz="1400" b="1" i="0" dirty="0">
                <a:solidFill>
                  <a:srgbClr val="1E293B"/>
                </a:solidFill>
                <a:latin typeface="Times New Roman"/>
                <a:cs typeface="Times New Roman"/>
              </a:rPr>
              <a:t>FAIL</a:t>
            </a:r>
            <a:r>
              <a:rPr lang="en-US" sz="1400" b="0" i="0" dirty="0">
                <a:solidFill>
                  <a:srgbClr val="1E293B"/>
                </a:solidFill>
                <a:latin typeface="Times New Roman"/>
                <a:cs typeface="Times New Roman"/>
              </a:rPr>
              <a:t>: otherwise → keep frozen readers; write the thesis on v16b.</a:t>
            </a:r>
          </a:p>
          <a:p>
            <a:pPr algn="l" marL="219456" indent="-182880">
              <a:spcBef>
                <a:spcPts val="300"/>
              </a:spcBef>
              <a:buFont typeface="Arial"/>
              <a:buChar char="•"/>
            </a:pPr>
            <a:r>
              <a:rPr lang="en-US" sz="1400" b="0" i="0" dirty="0">
                <a:solidFill>
                  <a:srgbClr val="1E293B"/>
                </a:solidFill>
                <a:latin typeface="Times New Roman"/>
                <a:cs typeface="Times New Roman"/>
              </a:rPr>
              <a:t>If PASS (predicted): ft_reader 0.418–0.428 test nDCG@10 vs 0.4152 for the frozen BGE reader.</a:t>
            </a:r>
          </a:p>
        </p:txBody>
      </p:sp>
      <p:sp>
        <p:nvSpPr>
          <p:cNvPr id="7" name="Rounded Rectangle 6"/>
          <p:cNvSpPr/>
          <p:nvPr/>
        </p:nvSpPr>
        <p:spPr>
          <a:xfrm>
            <a:off x="822960" y="4526280"/>
            <a:ext cx="3355848" cy="11430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100" b="1" i="0" dirty="0">
                <a:solidFill>
                  <a:srgbClr val="2E7D8C"/>
                </a:solidFill>
                <a:latin typeface="Times New Roman"/>
                <a:cs typeface="Times New Roman"/>
              </a:rPr>
              <a:t>PASS · ~35%</a:t>
            </a:r>
          </a:p>
          <a:p>
            <a:pPr algn="ctr">
              <a:spcBef>
                <a:spcPts val="300"/>
              </a:spcBef>
              <a:buNone/>
            </a:pPr>
            <a:r>
              <a:rPr lang="en-US" sz="1250" b="0" i="0" dirty="0">
                <a:solidFill>
                  <a:srgbClr val="1E293B"/>
                </a:solidFill>
                <a:latin typeface="Times New Roman"/>
                <a:cs typeface="Times New Roman"/>
              </a:rPr>
              <a:t>≥ +0.006 → full fine-tuning run</a:t>
            </a:r>
          </a:p>
        </p:txBody>
      </p:sp>
      <p:sp>
        <p:nvSpPr>
          <p:cNvPr id="8" name="Rounded Rectangle 7"/>
          <p:cNvSpPr/>
          <p:nvPr/>
        </p:nvSpPr>
        <p:spPr>
          <a:xfrm>
            <a:off x="4389120" y="4526280"/>
            <a:ext cx="3355848" cy="11430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100" b="1" i="0" dirty="0">
                <a:solidFill>
                  <a:srgbClr val="B7791F"/>
                </a:solidFill>
                <a:latin typeface="Times New Roman"/>
                <a:cs typeface="Times New Roman"/>
              </a:rPr>
              <a:t>INCONCLUSIVE · ~25%</a:t>
            </a:r>
          </a:p>
          <a:p>
            <a:pPr algn="ctr">
              <a:spcBef>
                <a:spcPts val="300"/>
              </a:spcBef>
              <a:buNone/>
            </a:pPr>
            <a:r>
              <a:rPr lang="en-US" sz="1250" b="0" i="0" dirty="0">
                <a:solidFill>
                  <a:srgbClr val="1E293B"/>
                </a:solidFill>
                <a:latin typeface="Times New Roman"/>
                <a:cs typeface="Times New Roman"/>
              </a:rPr>
              <a:t>≥ +0.002 → more seeds before deciding</a:t>
            </a:r>
          </a:p>
        </p:txBody>
      </p:sp>
      <p:sp>
        <p:nvSpPr>
          <p:cNvPr id="9" name="Rounded Rectangle 8"/>
          <p:cNvSpPr/>
          <p:nvPr/>
        </p:nvSpPr>
        <p:spPr>
          <a:xfrm>
            <a:off x="7955280" y="4526280"/>
            <a:ext cx="3355848" cy="1143000"/>
          </a:xfrm>
          <a:prstGeom prst="roundRect">
            <a:avLst>
              <a:gd name="adj" fmla="val 8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spcBef>
                <a:spcPts val="0"/>
              </a:spcBef>
              <a:buNone/>
            </a:pPr>
            <a:r>
              <a:rPr lang="en-US" sz="2100" b="1" i="0" dirty="0">
                <a:solidFill>
                  <a:srgbClr val="B91C1C"/>
                </a:solidFill>
                <a:latin typeface="Times New Roman"/>
                <a:cs typeface="Times New Roman"/>
              </a:rPr>
              <a:t>FAIL · ~40%</a:t>
            </a:r>
          </a:p>
          <a:p>
            <a:pPr algn="ctr">
              <a:spcBef>
                <a:spcPts val="300"/>
              </a:spcBef>
              <a:buNone/>
            </a:pPr>
            <a:r>
              <a:rPr lang="en-US" sz="1250" b="0" i="0" dirty="0">
                <a:solidFill>
                  <a:srgbClr val="1E293B"/>
                </a:solidFill>
                <a:latin typeface="Times New Roman"/>
                <a:cs typeface="Times New Roman"/>
              </a:rPr>
              <a:t>keep frozen readers; thesis on v16b</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04672"/>
            <a:ext cx="10545775" cy="621792"/>
          </a:xfrm>
          <a:prstGeom prst="rect">
            <a:avLst/>
          </a:prstGeom>
          <a:noFill/>
        </p:spPr>
        <p:txBody>
          <a:bodyPr wrap="square" lIns="0" tIns="0" rIns="0" bIns="0">
            <a:spAutoFit/>
          </a:bodyPr>
          <a:lstStyle/>
          <a:p>
            <a:pPr algn="l">
              <a:spcBef>
                <a:spcPts val="0"/>
              </a:spcBef>
              <a:buNone/>
            </a:pPr>
            <a:r>
              <a:rPr lang="en-US" sz="2250" b="1" i="0" dirty="0">
                <a:solidFill>
                  <a:srgbClr val="0F1E42"/>
                </a:solidFill>
                <a:latin typeface="Times New Roman"/>
                <a:cs typeface="Times New Roman"/>
              </a:rPr>
              <a:t>References (selected)</a:t>
            </a:r>
          </a:p>
        </p:txBody>
      </p:sp>
      <p:sp>
        <p:nvSpPr>
          <p:cNvPr id="4" name="Rectangle 3"/>
          <p:cNvSpPr/>
          <p:nvPr/>
        </p:nvSpPr>
        <p:spPr>
          <a:xfrm>
            <a:off x="822960" y="1481328"/>
            <a:ext cx="10545775" cy="1371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27632"/>
            <a:ext cx="5120640" cy="4224528"/>
          </a:xfrm>
          <a:prstGeom prst="rect">
            <a:avLst/>
          </a:prstGeom>
          <a:noFill/>
        </p:spPr>
        <p:txBody>
          <a:bodyPr wrap="square">
            <a:spAutoFit/>
          </a:bodyPr>
          <a:lstStyle/>
          <a:p>
            <a:pPr algn="l">
              <a:spcBef>
                <a:spcPts val="0"/>
              </a:spcBef>
              <a:buNone/>
            </a:pPr>
            <a:r>
              <a:rPr lang="en-US" sz="1200" b="0" i="0" dirty="0">
                <a:solidFill>
                  <a:srgbClr val="1E293B"/>
                </a:solidFill>
                <a:latin typeface="Times New Roman"/>
                <a:cs typeface="Times New Roman"/>
              </a:rPr>
              <a:t>[1] Wu et al. MIND: A Large-scale Dataset for News Recommendation. ACL 2020.</a:t>
            </a:r>
          </a:p>
          <a:p>
            <a:pPr algn="l">
              <a:spcBef>
                <a:spcPts val="300"/>
              </a:spcBef>
              <a:buNone/>
            </a:pPr>
            <a:r>
              <a:rPr lang="en-US" sz="1200" b="0" i="0" dirty="0">
                <a:solidFill>
                  <a:srgbClr val="1E293B"/>
                </a:solidFill>
                <a:latin typeface="Times New Roman"/>
                <a:cs typeface="Times New Roman"/>
              </a:rPr>
              <a:t>[2] Wu et al. NRMS: Neural News Rec. with Multi-Head Self-Attention. EMNLP 2019.</a:t>
            </a:r>
          </a:p>
          <a:p>
            <a:pPr algn="l">
              <a:spcBef>
                <a:spcPts val="300"/>
              </a:spcBef>
              <a:buNone/>
            </a:pPr>
            <a:r>
              <a:rPr lang="en-US" sz="1200" b="0" i="0" dirty="0">
                <a:solidFill>
                  <a:srgbClr val="1E293B"/>
                </a:solidFill>
                <a:latin typeface="Times New Roman"/>
                <a:cs typeface="Times New Roman"/>
              </a:rPr>
              <a:t>[3] Wu et al. NAML: Attentive Multi-View Learning. IJCAI 2019.</a:t>
            </a:r>
          </a:p>
          <a:p>
            <a:pPr algn="l">
              <a:spcBef>
                <a:spcPts val="300"/>
              </a:spcBef>
              <a:buNone/>
            </a:pPr>
            <a:r>
              <a:rPr lang="en-US" sz="1200" b="0" i="0" dirty="0">
                <a:solidFill>
                  <a:srgbClr val="1E293B"/>
                </a:solidFill>
                <a:latin typeface="Times New Roman"/>
                <a:cs typeface="Times New Roman"/>
              </a:rPr>
              <a:t>[4] Wu et al. Fastformer: Additive Attention Can Be All You Need. arXiv 2021.</a:t>
            </a:r>
          </a:p>
          <a:p>
            <a:pPr algn="l">
              <a:spcBef>
                <a:spcPts val="300"/>
              </a:spcBef>
              <a:buNone/>
            </a:pPr>
            <a:r>
              <a:rPr lang="en-US" sz="1200" b="0" i="0" dirty="0">
                <a:solidFill>
                  <a:srgbClr val="1E293B"/>
                </a:solidFill>
                <a:latin typeface="Times New Roman"/>
                <a:cs typeface="Times New Roman"/>
              </a:rPr>
              <a:t>[5] Wu et al. PLM-NR: Empowering News Rec. with PLMs. SIGIR 2021.</a:t>
            </a:r>
          </a:p>
          <a:p>
            <a:pPr algn="l">
              <a:spcBef>
                <a:spcPts val="300"/>
              </a:spcBef>
              <a:buNone/>
            </a:pPr>
            <a:r>
              <a:rPr lang="en-US" sz="1200" b="0" i="0" dirty="0">
                <a:solidFill>
                  <a:srgbClr val="1E293B"/>
                </a:solidFill>
                <a:latin typeface="Times New Roman"/>
                <a:cs typeface="Times New Roman"/>
              </a:rPr>
              <a:t>[6] Zhang et al. UNBERT: User-News Matching BERT. IJCAI 2021.</a:t>
            </a:r>
          </a:p>
          <a:p>
            <a:pPr algn="l">
              <a:spcBef>
                <a:spcPts val="300"/>
              </a:spcBef>
              <a:buNone/>
            </a:pPr>
            <a:r>
              <a:rPr lang="en-US" sz="1200" b="0" i="0" dirty="0">
                <a:solidFill>
                  <a:srgbClr val="1E293B"/>
                </a:solidFill>
                <a:latin typeface="Times New Roman"/>
                <a:cs typeface="Times New Roman"/>
              </a:rPr>
              <a:t>[7] Iana, Glavaš, Paulheim. Simplifying Content-Based Neural News Rec. SIGIR 2023.</a:t>
            </a:r>
          </a:p>
          <a:p>
            <a:pPr algn="l">
              <a:spcBef>
                <a:spcPts val="300"/>
              </a:spcBef>
              <a:buNone/>
            </a:pPr>
            <a:r>
              <a:rPr lang="en-US" sz="1200" b="0" i="0" dirty="0">
                <a:solidFill>
                  <a:srgbClr val="1E293B"/>
                </a:solidFill>
                <a:latin typeface="Times New Roman"/>
                <a:cs typeface="Times New Roman"/>
              </a:rPr>
              <a:t>[8] Zhao, Huang, Vos, de Rijke. Revisiting LMs in Neural News Rec. ECIR 2025.</a:t>
            </a:r>
          </a:p>
          <a:p>
            <a:pPr algn="l">
              <a:spcBef>
                <a:spcPts val="300"/>
              </a:spcBef>
              <a:buNone/>
            </a:pPr>
            <a:r>
              <a:rPr lang="en-US" sz="1200" b="0" i="0" dirty="0">
                <a:solidFill>
                  <a:srgbClr val="1E293B"/>
                </a:solidFill>
                <a:latin typeface="Times New Roman"/>
                <a:cs typeface="Times New Roman"/>
              </a:rPr>
              <a:t>[9] Zhang et al. Qwen3 Embedding. arXiv 2025.  [10] BehnamGhader et al. LLM2Vec. COLM 2024.</a:t>
            </a:r>
          </a:p>
          <a:p>
            <a:pPr algn="l">
              <a:spcBef>
                <a:spcPts val="300"/>
              </a:spcBef>
              <a:buNone/>
            </a:pPr>
            <a:r>
              <a:rPr lang="en-US" sz="1200" b="0" i="0" dirty="0">
                <a:solidFill>
                  <a:srgbClr val="1E293B"/>
                </a:solidFill>
                <a:latin typeface="Times New Roman"/>
                <a:cs typeface="Times New Roman"/>
              </a:rPr>
              <a:t>[11] Liu et al. LLMEmb. AAAI 2025.  [12] He et al. LLM2Rec. KDD 2025.</a:t>
            </a:r>
          </a:p>
          <a:p>
            <a:pPr algn="l">
              <a:spcBef>
                <a:spcPts val="300"/>
              </a:spcBef>
              <a:buNone/>
            </a:pPr>
            <a:r>
              <a:rPr lang="en-US" sz="1200" b="0" i="0" dirty="0">
                <a:solidFill>
                  <a:srgbClr val="1E293B"/>
                </a:solidFill>
                <a:latin typeface="Times New Roman"/>
                <a:cs typeface="Times New Roman"/>
              </a:rPr>
              <a:t>[13] Jia et al. LEARN. AAAI 2025.  [14] Wang et al. PAD. SIGIR 2025.</a:t>
            </a:r>
          </a:p>
          <a:p>
            <a:pPr algn="l">
              <a:spcBef>
                <a:spcPts val="300"/>
              </a:spcBef>
              <a:buNone/>
            </a:pPr>
            <a:r>
              <a:rPr lang="en-US" sz="1200" b="0" i="0" dirty="0">
                <a:solidFill>
                  <a:srgbClr val="1E293B"/>
                </a:solidFill>
                <a:latin typeface="Times New Roman"/>
                <a:cs typeface="Times New Roman"/>
              </a:rPr>
              <a:t>[15] Xi et al. KAR. RecSys 2024.  [16] Liu et al. ONCE. WSDM 2024.</a:t>
            </a:r>
          </a:p>
          <a:p>
            <a:pPr algn="l">
              <a:spcBef>
                <a:spcPts val="300"/>
              </a:spcBef>
              <a:buNone/>
            </a:pPr>
            <a:r>
              <a:rPr lang="en-US" sz="1200" b="0" i="0" dirty="0">
                <a:solidFill>
                  <a:srgbClr val="1E293B"/>
                </a:solidFill>
                <a:latin typeface="Times New Roman"/>
                <a:cs typeface="Times New Roman"/>
              </a:rPr>
              <a:t>[17] Yada, Yamana. Category Description by an LLM. arXiv 2024.</a:t>
            </a:r>
          </a:p>
        </p:txBody>
      </p:sp>
      <p:sp>
        <p:nvSpPr>
          <p:cNvPr id="6" name="TextBox 5"/>
          <p:cNvSpPr txBox="1"/>
          <p:nvPr/>
        </p:nvSpPr>
        <p:spPr>
          <a:xfrm>
            <a:off x="822960" y="6016752"/>
            <a:ext cx="10545775" cy="256032"/>
          </a:xfrm>
          <a:prstGeom prst="rect">
            <a:avLst/>
          </a:prstGeom>
          <a:noFill/>
        </p:spPr>
        <p:txBody>
          <a:bodyPr wrap="none" lIns="0" tIns="0" rIns="0" bIns="0">
            <a:spAutoFit/>
          </a:bodyPr>
          <a:lstStyle/>
          <a:p>
            <a:pPr algn="l">
              <a:spcBef>
                <a:spcPts val="0"/>
              </a:spcBef>
              <a:buNone/>
            </a:pPr>
            <a:r>
              <a:rPr lang="en-US" sz="1100" b="0" i="1" dirty="0">
                <a:solidFill>
                  <a:srgbClr val="64748B"/>
                </a:solidFill>
                <a:latin typeface="Times New Roman"/>
                <a:cs typeface="Times New Roman"/>
              </a:rPr>
              <a:t>* The complete, verified list (62 entries) is in the accompanying report.</a:t>
            </a:r>
          </a:p>
        </p:txBody>
      </p:sp>
      <p:sp>
        <p:nvSpPr>
          <p:cNvPr id="5" name="TextBox 7"/>
          <p:cNvSpPr txBox="1"/>
          <p:nvPr/>
        </p:nvSpPr>
        <p:spPr>
          <a:xfrm>
            <a:off x="6245352" y="1627632"/>
            <a:ext cx="5120640" cy="4224528"/>
          </a:xfrm>
          <a:prstGeom prst="rect">
            <a:avLst/>
          </a:prstGeom>
          <a:noFill/>
        </p:spPr>
        <p:txBody>
          <a:bodyPr wrap="square">
            <a:spAutoFit/>
          </a:bodyPr>
          <a:lstStyle/>
          <a:p>
            <a:pPr algn="l">
              <a:spcBef>
                <a:spcPts val="0"/>
              </a:spcBef>
              <a:buNone/>
            </a:pPr>
            <a:r>
              <a:rPr lang="en-US" sz="1200" b="0" i="0" dirty="0">
                <a:solidFill>
                  <a:srgbClr val="1E293B"/>
                </a:solidFill>
                <a:latin typeface="Times New Roman"/>
                <a:cs typeface="Times New Roman"/>
              </a:rPr>
              <a:t>[18] Rajput et al. TIGER: Generative Retrieval. NeurIPS 2023.</a:t>
            </a:r>
          </a:p>
          <a:p>
            <a:pPr algn="l">
              <a:spcBef>
                <a:spcPts val="300"/>
              </a:spcBef>
              <a:buNone/>
            </a:pPr>
            <a:r>
              <a:rPr lang="en-US" sz="1200" b="0" i="0" dirty="0">
                <a:solidFill>
                  <a:srgbClr val="1E293B"/>
                </a:solidFill>
                <a:latin typeface="Times New Roman"/>
                <a:cs typeface="Times New Roman"/>
              </a:rPr>
              <a:t>[19] Wang et al. LETTER: Learnable Item Tokenization. CIKM 2024.</a:t>
            </a:r>
          </a:p>
          <a:p>
            <a:pPr algn="l">
              <a:spcBef>
                <a:spcPts val="300"/>
              </a:spcBef>
              <a:buNone/>
            </a:pPr>
            <a:r>
              <a:rPr lang="en-US" sz="1200" b="0" i="0" dirty="0">
                <a:solidFill>
                  <a:srgbClr val="1E293B"/>
                </a:solidFill>
                <a:latin typeface="Times New Roman"/>
                <a:cs typeface="Times New Roman"/>
              </a:rPr>
              <a:t>[20] Zhai et al. HSTU: Actions Speak Louder than Words. ICML 2024.</a:t>
            </a:r>
          </a:p>
          <a:p>
            <a:pPr algn="l">
              <a:spcBef>
                <a:spcPts val="300"/>
              </a:spcBef>
              <a:buNone/>
            </a:pPr>
            <a:r>
              <a:rPr lang="en-US" sz="1200" b="0" i="0" dirty="0">
                <a:solidFill>
                  <a:srgbClr val="1E293B"/>
                </a:solidFill>
                <a:latin typeface="Times New Roman"/>
                <a:cs typeface="Times New Roman"/>
              </a:rPr>
              <a:t>[21] Hou et al. ActionPiece. ICML 2025.  [22] Hou et al. RPG. KDD 2025.</a:t>
            </a:r>
          </a:p>
          <a:p>
            <a:pPr algn="l">
              <a:spcBef>
                <a:spcPts val="300"/>
              </a:spcBef>
              <a:buNone/>
            </a:pPr>
            <a:r>
              <a:rPr lang="en-US" sz="1200" b="0" i="0" dirty="0">
                <a:solidFill>
                  <a:srgbClr val="1E293B"/>
                </a:solidFill>
                <a:latin typeface="Times New Roman"/>
                <a:cs typeface="Times New Roman"/>
              </a:rPr>
              <a:t>[23] Deng et al. OneRec. arXiv 2025.  [24] Ju et al. GRID. CIKM 2025.</a:t>
            </a:r>
          </a:p>
          <a:p>
            <a:pPr algn="l">
              <a:spcBef>
                <a:spcPts val="300"/>
              </a:spcBef>
              <a:buNone/>
            </a:pPr>
            <a:r>
              <a:rPr lang="en-US" sz="1200" b="0" i="0" dirty="0">
                <a:solidFill>
                  <a:srgbClr val="1E293B"/>
                </a:solidFill>
                <a:latin typeface="Times New Roman"/>
                <a:cs typeface="Times New Roman"/>
              </a:rPr>
              <a:t>[25] Liu et al. OneRec-Think. ACL 2026.  [26] He et al. SIDReasoner. KDD 2026.</a:t>
            </a:r>
          </a:p>
          <a:p>
            <a:pPr algn="l">
              <a:spcBef>
                <a:spcPts val="300"/>
              </a:spcBef>
              <a:buNone/>
            </a:pPr>
            <a:r>
              <a:rPr lang="en-US" sz="1200" b="0" i="0" dirty="0">
                <a:solidFill>
                  <a:srgbClr val="1E293B"/>
                </a:solidFill>
                <a:latin typeface="Times New Roman"/>
                <a:cs typeface="Times New Roman"/>
              </a:rPr>
              <a:t>[27] Gao et al. Factorized Latent Reasoning. SIGIR 2026.  [28] Lin et al. VRec. SIGIR 2026.</a:t>
            </a:r>
          </a:p>
          <a:p>
            <a:pPr algn="l">
              <a:spcBef>
                <a:spcPts val="300"/>
              </a:spcBef>
              <a:buNone/>
            </a:pPr>
            <a:r>
              <a:rPr lang="en-US" sz="1200" b="0" i="0" dirty="0">
                <a:solidFill>
                  <a:srgbClr val="1E293B"/>
                </a:solidFill>
                <a:latin typeface="Times New Roman"/>
                <a:cs typeface="Times New Roman"/>
              </a:rPr>
              <a:t>[29] Wang et al. K-RagRec. ACL 2025.  [30] Edge et al. GraphRAG. arXiv 2024.</a:t>
            </a:r>
          </a:p>
          <a:p>
            <a:pPr algn="l">
              <a:spcBef>
                <a:spcPts val="300"/>
              </a:spcBef>
              <a:buNone/>
            </a:pPr>
            <a:r>
              <a:rPr lang="en-US" sz="1200" b="0" i="0" dirty="0">
                <a:solidFill>
                  <a:srgbClr val="1E293B"/>
                </a:solidFill>
                <a:latin typeface="Times New Roman"/>
                <a:cs typeface="Times New Roman"/>
              </a:rPr>
              <a:t>[31] Hou et al. LLMRank. ECIR 2024.  [32] Gao et al. LLM4Rerank. WWW 2025.</a:t>
            </a:r>
          </a:p>
          <a:p>
            <a:pPr algn="l">
              <a:spcBef>
                <a:spcPts val="300"/>
              </a:spcBef>
              <a:buNone/>
            </a:pPr>
            <a:r>
              <a:rPr lang="en-US" sz="1200" b="0" i="0" dirty="0">
                <a:solidFill>
                  <a:srgbClr val="1E293B"/>
                </a:solidFill>
                <a:latin typeface="Times New Roman"/>
                <a:cs typeface="Times New Roman"/>
              </a:rPr>
              <a:t>[33] Xiao et al. SpeedyFeed. KDD 2022.  [34] Yu et al. Tiny-NewsRec. EMNLP 2022.</a:t>
            </a:r>
          </a:p>
          <a:p>
            <a:pPr algn="l">
              <a:spcBef>
                <a:spcPts val="300"/>
              </a:spcBef>
              <a:buNone/>
            </a:pPr>
            <a:r>
              <a:rPr lang="en-US" sz="1200" b="0" i="0" dirty="0">
                <a:solidFill>
                  <a:srgbClr val="1E293B"/>
                </a:solidFill>
                <a:latin typeface="Times New Roman"/>
                <a:cs typeface="Times New Roman"/>
              </a:rPr>
              <a:t>[35] Ferrari Dacrema et al. Are We Really Making Much Progress? RecSys 2019.</a:t>
            </a:r>
          </a:p>
          <a:p>
            <a:pPr algn="l">
              <a:spcBef>
                <a:spcPts val="300"/>
              </a:spcBef>
              <a:buNone/>
            </a:pPr>
            <a:r>
              <a:rPr lang="en-US" sz="1200" b="0" i="0" dirty="0">
                <a:solidFill>
                  <a:srgbClr val="1E293B"/>
                </a:solidFill>
                <a:latin typeface="Times New Roman"/>
                <a:cs typeface="Times New Roman"/>
              </a:rPr>
              <a:t>[36] Fioretti et al. A Reproducibility Study of LLMRec. RecSys 2025.</a:t>
            </a:r>
          </a:p>
          <a:p>
            <a:pPr algn="l">
              <a:spcBef>
                <a:spcPts val="300"/>
              </a:spcBef>
              <a:buNone/>
            </a:pPr>
            <a:r>
              <a:rPr lang="en-US" sz="1200" b="0" i="0" dirty="0">
                <a:solidFill>
                  <a:srgbClr val="1E293B"/>
                </a:solidFill>
                <a:latin typeface="Times New Roman"/>
                <a:cs typeface="Times New Roman"/>
              </a:rPr>
              <a:t>[37] Kruse et al. EB-NeRD. RecSys Challenge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